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65" r:id="rId4"/>
    <p:sldId id="266" r:id="rId5"/>
    <p:sldId id="267" r:id="rId6"/>
    <p:sldId id="268" r:id="rId7"/>
    <p:sldId id="272" r:id="rId8"/>
    <p:sldId id="269" r:id="rId9"/>
    <p:sldId id="273" r:id="rId10"/>
    <p:sldId id="270" r:id="rId11"/>
    <p:sldId id="271" r:id="rId1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CD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DB33AD-5C05-4723-B389-E1E81ABFFAD3}" type="datetimeFigureOut">
              <a:rPr lang="ru-RU" smtClean="0"/>
              <a:t>05.04.2026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E90A88-05AC-4B7C-96D7-DFBC6C1323A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939372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E90A88-05AC-4B7C-96D7-DFBC6C1323A1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018968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78D5A8-5A5E-B7F2-0CC2-F1FF906168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E293E8DC-5EC8-19E9-4EFD-DCF7FEEB37D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55D00FC-C3BC-F943-FB28-75CB92FB77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7FD824-9642-443D-A094-80DC1BD911E3}" type="datetimeFigureOut">
              <a:rPr lang="ru-RU" smtClean="0"/>
              <a:t>05.04.2026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4FDF970-1F2D-B6FC-856F-C0A7E5E5FC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7352D20-263D-FEB0-4894-82536F4D33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DA8094-DA19-4DF8-AD0F-24E6F94908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516359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09CD28C-17FE-30E9-EF09-5515B0F4D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F0E2D19-21D7-137A-0B08-4DC5305180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E1195E4-8DC9-A7CF-6E2E-74BED30D84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7FD824-9642-443D-A094-80DC1BD911E3}" type="datetimeFigureOut">
              <a:rPr lang="ru-RU" smtClean="0"/>
              <a:t>05.04.2026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912ED85-2BFD-0461-9FDE-F404D8EDAF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B7BD5FA-0B47-B889-D89B-2C8DC0D888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DA8094-DA19-4DF8-AD0F-24E6F94908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30222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0531AA-88C6-D818-E226-61D0935774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46A6525-6DC2-C7E2-2E40-77429CE9FB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E43A3E6-9041-C150-0F46-121B6DF467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7FD824-9642-443D-A094-80DC1BD911E3}" type="datetimeFigureOut">
              <a:rPr lang="ru-RU" smtClean="0"/>
              <a:t>05.04.2026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FF8FDE2-A6B6-F045-3621-D7BA698548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3DBA12D-398F-FBBA-0684-005E5B19A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DA8094-DA19-4DF8-AD0F-24E6F94908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489469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42676B7-CCDD-655D-CCA8-47AF1F8E19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14E1D91-816D-7437-925A-83DD96A25F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9461734F-EADC-6D42-19AF-8299AAC8DF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708AEAE-170D-E7B7-DCD5-4B494EB26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7FD824-9642-443D-A094-80DC1BD911E3}" type="datetimeFigureOut">
              <a:rPr lang="ru-RU" smtClean="0"/>
              <a:t>05.04.2026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D08FA10-6FD5-333F-209A-68EF8597D1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57119F2-D9A7-567F-EDDD-F14AAECC82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DA8094-DA19-4DF8-AD0F-24E6F94908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014479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708D42C-F385-062E-AB3C-32466CB0AC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AA38866-BAB0-192F-AC99-EF002CF103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DE091CF2-8CF2-CBE9-108D-FAAB99995E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CD69B5CB-D0E0-783E-8F04-45203D5F90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E53C200B-FBEE-25D1-287C-D5176BAF34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6D9AB2E5-7584-593A-9363-10AA57E5E1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7FD824-9642-443D-A094-80DC1BD911E3}" type="datetimeFigureOut">
              <a:rPr lang="ru-RU" smtClean="0"/>
              <a:t>05.04.2026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D2D6709A-8ADA-54D8-C766-D33A1FA8B7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D7F01812-60F7-BF91-2DB2-39BB800DAC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DA8094-DA19-4DF8-AD0F-24E6F94908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996031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FE1D5D-EA10-54B4-65DA-00EDEC2ED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851D08A0-D5C8-3BC4-56D4-E83250770F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7FD824-9642-443D-A094-80DC1BD911E3}" type="datetimeFigureOut">
              <a:rPr lang="ru-RU" smtClean="0"/>
              <a:t>05.04.2026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FF80C9D1-7CE0-F095-20DA-ED9B50942D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82E03EF-463C-E376-F678-5EE4D593A8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DA8094-DA19-4DF8-AD0F-24E6F94908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590155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C0EC4D16-94C2-0DE8-8064-1B97BFE41C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7FD824-9642-443D-A094-80DC1BD911E3}" type="datetimeFigureOut">
              <a:rPr lang="ru-RU" smtClean="0"/>
              <a:t>05.04.2026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9BA2F62E-6B3A-8248-9D9F-2D65BB5224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75280EE-FBF3-B1BD-2AFA-7B0D50D2E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DA8094-DA19-4DF8-AD0F-24E6F94908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982433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660ED6-9003-BDC1-A830-03F4DDC13B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DEE6496-AFB6-6FB8-E8EA-BE811014F9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B170513-6EB8-8589-5519-A072678732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DEDE9EB-AE78-38D7-8E9B-7726A3221A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7FD824-9642-443D-A094-80DC1BD911E3}" type="datetimeFigureOut">
              <a:rPr lang="ru-RU" smtClean="0"/>
              <a:t>05.04.2026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813AB98-81D1-9A00-2366-E7F7AE194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636BE6E-40F5-A502-B62F-5ABB1C906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DA8094-DA19-4DF8-AD0F-24E6F94908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906724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AB94AE4-899A-C5A3-AC6B-1BBE4113D3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C0BACC8C-6167-5B4B-F36C-3890DBBB54F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1AF8B78-AE1B-4C03-04BE-49D1DB6E1B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44F9823-229C-E5D9-C0D1-FED3D04E23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7FD824-9642-443D-A094-80DC1BD911E3}" type="datetimeFigureOut">
              <a:rPr lang="ru-RU" smtClean="0"/>
              <a:t>05.04.2026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FD26F4A-6245-B8D0-599D-1118C8D0E8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B5328CA-D258-67D6-F93A-9299E53BC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DA8094-DA19-4DF8-AD0F-24E6F94908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59192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15FD03D-D31C-4A57-D737-BBA34FF8FA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5F240A29-2E35-3166-356E-8B9A4535B6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8EA6888-7C3A-DC0C-7029-1DA0D19ACE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7FD824-9642-443D-A094-80DC1BD911E3}" type="datetimeFigureOut">
              <a:rPr lang="ru-RU" smtClean="0"/>
              <a:t>05.04.2026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D412D4A-34B1-EFEC-1ADE-6745777F6C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E6DCA7D-1B2B-92BA-3AED-68D5E70716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DA8094-DA19-4DF8-AD0F-24E6F94908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285566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B059D23D-9212-E134-6341-F1000AB1C80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44DD4A6-D7F5-C74B-DEA2-697FC8F0D4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1E150D-00D4-A59A-9E73-57F862E6C3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7FD824-9642-443D-A094-80DC1BD911E3}" type="datetimeFigureOut">
              <a:rPr lang="ru-RU" smtClean="0"/>
              <a:t>05.04.2026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ACB979A-49F6-7C65-2BEF-87883B0CDE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E2FB343-BB55-89EF-477E-A45DBEF27D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DA8094-DA19-4DF8-AD0F-24E6F94908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507487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62553ED-C1F0-2581-473E-6F5123BA7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8FC0718-E683-117B-85FF-4E2B623836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44F3A7F-F80E-A17B-79CC-187177C32B9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E7FD824-9642-443D-A094-80DC1BD911E3}" type="datetimeFigureOut">
              <a:rPr lang="ru-RU" smtClean="0"/>
              <a:t>05.04.2026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F952512-886D-5571-EFD4-2F3373ECD5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7F6A8C8-CB50-37E2-DF8E-C76F9F0014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DA8094-DA19-4DF8-AD0F-24E6F94908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456492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3.xml"/><Relationship Id="rId4" Type="http://schemas.microsoft.com/office/2007/relationships/hdphoto" Target="../media/hdphoto1.wdp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6C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Picture background">
            <a:extLst>
              <a:ext uri="{FF2B5EF4-FFF2-40B4-BE49-F238E27FC236}">
                <a16:creationId xmlns:a16="http://schemas.microsoft.com/office/drawing/2014/main" id="{9F6316DE-5913-F010-5C74-D93A53F90E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lum bright="70000" contrast="-70000"/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64287" y="2369136"/>
            <a:ext cx="5246913" cy="5246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1C71D6F-A707-35C6-A7CF-7ADFE25484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63432" y="1458686"/>
            <a:ext cx="9241971" cy="1820901"/>
          </a:xfrm>
        </p:spPr>
        <p:txBody>
          <a:bodyPr>
            <a:noAutofit/>
          </a:bodyPr>
          <a:lstStyle/>
          <a:p>
            <a:pPr algn="l"/>
            <a:r>
              <a:rPr lang="ru-RU" b="1" dirty="0">
                <a:solidFill>
                  <a:schemeClr val="bg1"/>
                </a:solidFill>
              </a:rPr>
              <a:t>ТЕХНОЛОГИИ МОНТАЖА ПЕЧАТНЫХ ПЛАТ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9E15FFFE-7007-97B9-6B09-E2D1D1E3705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3432" y="4212771"/>
            <a:ext cx="5795853" cy="968829"/>
          </a:xfrm>
        </p:spPr>
        <p:txBody>
          <a:bodyPr>
            <a:normAutofit/>
          </a:bodyPr>
          <a:lstStyle/>
          <a:p>
            <a:pPr algn="l"/>
            <a:r>
              <a:rPr lang="ru-RU" sz="2000" dirty="0">
                <a:solidFill>
                  <a:schemeClr val="bg1"/>
                </a:solidFill>
              </a:rPr>
              <a:t>Выполнил:</a:t>
            </a:r>
          </a:p>
          <a:p>
            <a:pPr algn="l"/>
            <a:r>
              <a:rPr lang="ru-RU" sz="2000" dirty="0">
                <a:solidFill>
                  <a:schemeClr val="bg1"/>
                </a:solidFill>
              </a:rPr>
              <a:t>Студент группы СМ10-81Б	Джабаев И.Ю.</a:t>
            </a: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E711824C-C6CE-1418-B292-32C10505F96B}"/>
              </a:ext>
            </a:extLst>
          </p:cNvPr>
          <p:cNvSpPr txBox="1">
            <a:spLocks/>
          </p:cNvSpPr>
          <p:nvPr/>
        </p:nvSpPr>
        <p:spPr>
          <a:xfrm>
            <a:off x="463433" y="378750"/>
            <a:ext cx="11211339" cy="653240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000" dirty="0">
                <a:solidFill>
                  <a:schemeClr val="bg1"/>
                </a:solidFill>
                <a:latin typeface="ALS Sector Regular" pitchFamily="2" charset="0"/>
                <a:cs typeface="ALS Sector Regular" pitchFamily="2" charset="0"/>
              </a:rPr>
              <a:t>Московский государственный технический университет им. Н.Э. Баумана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F1B8B8C-C18A-204A-EEA8-5524728BA4D3}"/>
              </a:ext>
            </a:extLst>
          </p:cNvPr>
          <p:cNvSpPr/>
          <p:nvPr/>
        </p:nvSpPr>
        <p:spPr>
          <a:xfrm>
            <a:off x="463436" y="6079140"/>
            <a:ext cx="5316372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Clr>
                <a:srgbClr val="176DEA"/>
              </a:buClr>
            </a:pPr>
            <a:r>
              <a:rPr lang="ru-RU" sz="2000" dirty="0">
                <a:solidFill>
                  <a:schemeClr val="bg1">
                    <a:alpha val="50000"/>
                  </a:schemeClr>
                </a:solidFill>
                <a:latin typeface="ALS Sector Regular" pitchFamily="2" charset="0"/>
                <a:cs typeface="ALS Sector Regular" pitchFamily="2" charset="0"/>
              </a:rPr>
              <a:t>Москва 2026</a:t>
            </a:r>
          </a:p>
        </p:txBody>
      </p:sp>
    </p:spTree>
    <p:extLst>
      <p:ext uri="{BB962C8B-B14F-4D97-AF65-F5344CB8AC3E}">
        <p14:creationId xmlns:p14="http://schemas.microsoft.com/office/powerpoint/2010/main" val="17926600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56C37A99-8E1F-67E2-F9D9-C769B11DAE93}"/>
              </a:ext>
            </a:extLst>
          </p:cNvPr>
          <p:cNvSpPr/>
          <p:nvPr/>
        </p:nvSpPr>
        <p:spPr>
          <a:xfrm>
            <a:off x="0" y="1"/>
            <a:ext cx="12191999" cy="1500188"/>
          </a:xfrm>
          <a:prstGeom prst="rect">
            <a:avLst/>
          </a:prstGeom>
          <a:solidFill>
            <a:srgbClr val="006CD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6A9FDA1D-7754-CABD-48DF-CA4CA605D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050" y="587887"/>
            <a:ext cx="10515600" cy="1824604"/>
          </a:xfrm>
        </p:spPr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Типы компонентов</a:t>
            </a:r>
            <a:br>
              <a:rPr lang="ru-RU" dirty="0">
                <a:solidFill>
                  <a:schemeClr val="bg1"/>
                </a:solidFill>
              </a:rPr>
            </a:br>
            <a:r>
              <a:rPr lang="ru-RU" dirty="0"/>
              <a:t>на печатных платах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D69979F-BD7F-F1D1-519C-EE49B38C6C7F}"/>
              </a:ext>
            </a:extLst>
          </p:cNvPr>
          <p:cNvSpPr txBox="1"/>
          <p:nvPr/>
        </p:nvSpPr>
        <p:spPr>
          <a:xfrm>
            <a:off x="527050" y="2615265"/>
            <a:ext cx="45909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THT (Through-Hole Technology)</a:t>
            </a:r>
            <a:endParaRPr lang="ru-RU" sz="2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0075CE3-86FC-C489-C897-508FE0081C80}"/>
              </a:ext>
            </a:extLst>
          </p:cNvPr>
          <p:cNvSpPr txBox="1"/>
          <p:nvPr/>
        </p:nvSpPr>
        <p:spPr>
          <a:xfrm>
            <a:off x="6853683" y="2615264"/>
            <a:ext cx="41889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SMD (Surface-Mount Device)</a:t>
            </a:r>
            <a:endParaRPr lang="ru-RU" sz="2400" dirty="0"/>
          </a:p>
        </p:txBody>
      </p:sp>
      <p:pic>
        <p:nvPicPr>
          <p:cNvPr id="2052" name="Picture 4" descr="Picture background">
            <a:extLst>
              <a:ext uri="{FF2B5EF4-FFF2-40B4-BE49-F238E27FC236}">
                <a16:creationId xmlns:a16="http://schemas.microsoft.com/office/drawing/2014/main" id="{A4B67F7D-8588-EAD4-A646-FDBF56789C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304" y="3408194"/>
            <a:ext cx="4198428" cy="30689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Picture background">
            <a:extLst>
              <a:ext uri="{FF2B5EF4-FFF2-40B4-BE49-F238E27FC236}">
                <a16:creationId xmlns:a16="http://schemas.microsoft.com/office/drawing/2014/main" id="{F0829D3B-2EA3-BB57-C37F-3C6598FD6B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02707" y="3581401"/>
            <a:ext cx="4426934" cy="28000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521329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8D77BD-75CF-85F5-516E-3A08A5356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44D854C4-5BBF-8067-6C08-F9EE88F96A5A}"/>
              </a:ext>
            </a:extLst>
          </p:cNvPr>
          <p:cNvSpPr/>
          <p:nvPr/>
        </p:nvSpPr>
        <p:spPr>
          <a:xfrm>
            <a:off x="0" y="1"/>
            <a:ext cx="12192000" cy="1500188"/>
          </a:xfrm>
          <a:prstGeom prst="rect">
            <a:avLst/>
          </a:prstGeom>
          <a:solidFill>
            <a:srgbClr val="006CD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BCB1E1FC-2A92-355F-C919-733D01BEE5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050" y="587887"/>
            <a:ext cx="10515600" cy="1824604"/>
          </a:xfrm>
        </p:spPr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Технологический процесс </a:t>
            </a:r>
            <a:r>
              <a:rPr lang="ru-RU" dirty="0"/>
              <a:t>монтажа печатных плат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41C77C-E28C-DDD4-8E34-1A03A72DD2DC}"/>
              </a:ext>
            </a:extLst>
          </p:cNvPr>
          <p:cNvSpPr txBox="1"/>
          <p:nvPr/>
        </p:nvSpPr>
        <p:spPr>
          <a:xfrm>
            <a:off x="527050" y="3000377"/>
            <a:ext cx="11426846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/>
              <a:t>Состоит из технологических этапов: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ru-RU" sz="2400" dirty="0"/>
              <a:t>Нанесение припоя на площадки (для </a:t>
            </a:r>
            <a:r>
              <a:rPr lang="en-US" sz="2400" dirty="0"/>
              <a:t>SMD</a:t>
            </a:r>
            <a:r>
              <a:rPr lang="ru-RU" sz="2400" dirty="0"/>
              <a:t>)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ru-RU" sz="2400" dirty="0"/>
              <a:t>Установка компонентов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ru-RU" sz="2400" dirty="0"/>
              <a:t>Сплавление соединения</a:t>
            </a:r>
          </a:p>
          <a:p>
            <a:endParaRPr lang="ru-RU" sz="2400" dirty="0"/>
          </a:p>
          <a:p>
            <a:r>
              <a:rPr lang="ru-RU" sz="2400" dirty="0"/>
              <a:t>От уровня автоматизации и типа компонентов различают технологии монтажа</a:t>
            </a:r>
          </a:p>
        </p:txBody>
      </p:sp>
    </p:spTree>
    <p:extLst>
      <p:ext uri="{BB962C8B-B14F-4D97-AF65-F5344CB8AC3E}">
        <p14:creationId xmlns:p14="http://schemas.microsoft.com/office/powerpoint/2010/main" val="39252516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D9B52-C373-D7EC-AB6C-03CF7011B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6095651B-BC42-FEB7-AB7B-2193E0DA297F}"/>
              </a:ext>
            </a:extLst>
          </p:cNvPr>
          <p:cNvSpPr/>
          <p:nvPr/>
        </p:nvSpPr>
        <p:spPr>
          <a:xfrm>
            <a:off x="0" y="1"/>
            <a:ext cx="12191999" cy="1500188"/>
          </a:xfrm>
          <a:prstGeom prst="rect">
            <a:avLst/>
          </a:prstGeom>
          <a:solidFill>
            <a:srgbClr val="006CD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0753712C-204C-CFE7-4E78-DBBA65CE9C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050" y="587887"/>
            <a:ext cx="10515600" cy="912302"/>
          </a:xfrm>
        </p:spPr>
        <p:txBody>
          <a:bodyPr>
            <a:no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Ручной монтаж</a:t>
            </a:r>
            <a:endParaRPr lang="ru-RU" dirty="0">
              <a:latin typeface="+mn-lt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980A7A0-3844-9E0B-6704-ADEF186D2FE7}"/>
              </a:ext>
            </a:extLst>
          </p:cNvPr>
          <p:cNvSpPr txBox="1"/>
          <p:nvPr/>
        </p:nvSpPr>
        <p:spPr>
          <a:xfrm>
            <a:off x="527050" y="2088075"/>
            <a:ext cx="10861500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lnSpc>
                <a:spcPct val="150000"/>
              </a:lnSpc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</a:pPr>
            <a:r>
              <a:rPr lang="ru-RU" sz="2400" dirty="0"/>
              <a:t>Установка компонентов</a:t>
            </a:r>
            <a:r>
              <a:rPr lang="en-US" sz="2400" dirty="0"/>
              <a:t> </a:t>
            </a:r>
            <a:r>
              <a:rPr lang="ru-RU" sz="2400" dirty="0"/>
              <a:t>(вручную)</a:t>
            </a:r>
          </a:p>
          <a:p>
            <a:pPr marL="342900" indent="-342900">
              <a:lnSpc>
                <a:spcPct val="150000"/>
              </a:lnSpc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</a:pPr>
            <a:r>
              <a:rPr lang="ru-RU" sz="2400" dirty="0"/>
              <a:t>Сплавление соединения (вручную)</a:t>
            </a:r>
          </a:p>
          <a:p>
            <a:endParaRPr lang="ru-RU" sz="2400" dirty="0"/>
          </a:p>
          <a:p>
            <a:r>
              <a:rPr lang="ru-RU" sz="2400" dirty="0"/>
              <a:t>Минимальный набор инструментов:</a:t>
            </a:r>
            <a:br>
              <a:rPr lang="ru-RU" sz="2400" dirty="0"/>
            </a:br>
            <a:r>
              <a:rPr lang="ru-RU" sz="2400" dirty="0"/>
              <a:t>паяльная станция, припой, флюс</a:t>
            </a:r>
          </a:p>
          <a:p>
            <a:endParaRPr lang="ru-RU" sz="2400" dirty="0"/>
          </a:p>
          <a:p>
            <a:r>
              <a:rPr lang="ru-RU" sz="2400" dirty="0"/>
              <a:t>Время работы высокое</a:t>
            </a:r>
          </a:p>
          <a:p>
            <a:r>
              <a:rPr lang="ru-RU" sz="2400" dirty="0"/>
              <a:t>Качество относительно низкое</a:t>
            </a:r>
          </a:p>
          <a:p>
            <a:endParaRPr lang="ru-RU" sz="2400" dirty="0"/>
          </a:p>
          <a:p>
            <a:r>
              <a:rPr lang="ru-RU" sz="2400" dirty="0"/>
              <a:t>Применение: изготовление опытных устройств или ремонт существующих</a:t>
            </a:r>
          </a:p>
        </p:txBody>
      </p:sp>
      <p:pic>
        <p:nvPicPr>
          <p:cNvPr id="3074" name="Picture 2" descr="Picture background">
            <a:extLst>
              <a:ext uri="{FF2B5EF4-FFF2-40B4-BE49-F238E27FC236}">
                <a16:creationId xmlns:a16="http://schemas.microsoft.com/office/drawing/2014/main" id="{02EAECF7-B6D1-85F9-5EE1-DB203CF25D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9968" b="93462" l="536" r="99464">
                        <a14:foregroundMark x1="9562" y1="58521" x2="6792" y2="56806"/>
                        <a14:foregroundMark x1="70420" y1="88960" x2="68633" y2="93462"/>
                        <a14:foregroundMark x1="89723" y1="60343" x2="91153" y2="60343"/>
                        <a14:foregroundMark x1="85433" y1="70632" x2="96962" y2="73312"/>
                        <a14:foregroundMark x1="78374" y1="73848" x2="98660" y2="79314"/>
                        <a14:foregroundMark x1="81680" y1="66345" x2="99464" y2="69989"/>
                        <a14:foregroundMark x1="15282" y1="29153" x2="16243" y2="32553"/>
                        <a14:foregroundMark x1="18588" y1="44480" x2="17738" y2="42540"/>
                        <a14:foregroundMark x1="536" y1="93140" x2="34584" y2="77492"/>
                        <a14:foregroundMark x1="67113" y1="47481" x2="68186" y2="39979"/>
                        <a14:foregroundMark x1="56836" y1="43837" x2="56122" y2="34834"/>
                        <a14:foregroundMark x1="47632" y1="27653" x2="47632" y2="40514"/>
                        <a14:foregroundMark x1="42091" y1="30654" x2="40572" y2="37513"/>
                        <a14:foregroundMark x1="28329" y1="21972" x2="29848" y2="31511"/>
                        <a14:foregroundMark x1="25022" y1="21329" x2="23592" y2="36013"/>
                        <a14:foregroundMark x1="17277" y1="35763" x2="18052" y2="44802"/>
                        <a14:foregroundMark x1="81680" y1="75134" x2="85702" y2="75991"/>
                        <a14:foregroundMark x1="78374" y1="77170" x2="86953" y2="76313"/>
                        <a14:foregroundMark x1="15818" y1="32476" x2="16533" y2="36334"/>
                        <a14:backgroundMark x1="14835" y1="37835" x2="14835" y2="41158"/>
                        <a14:backgroundMark x1="15366" y1="40198" x2="15282" y2="42337"/>
                        <a14:backgroundMark x1="15013" y1="36977" x2="15550" y2="4383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6554"/>
          <a:stretch>
            <a:fillRect/>
          </a:stretch>
        </p:blipFill>
        <p:spPr bwMode="auto">
          <a:xfrm>
            <a:off x="6757910" y="1500189"/>
            <a:ext cx="5434090" cy="37809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647964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81F3CF-A6B6-8734-29B3-EED9C256C9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8D8F582C-DF9E-1AC4-FD81-1DB6A59A664C}"/>
              </a:ext>
            </a:extLst>
          </p:cNvPr>
          <p:cNvSpPr/>
          <p:nvPr/>
        </p:nvSpPr>
        <p:spPr>
          <a:xfrm>
            <a:off x="0" y="1"/>
            <a:ext cx="12192000" cy="1500188"/>
          </a:xfrm>
          <a:prstGeom prst="rect">
            <a:avLst/>
          </a:prstGeom>
          <a:solidFill>
            <a:srgbClr val="006CD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2E7A5E8-F173-7C38-7879-957038A07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050" y="587887"/>
            <a:ext cx="11512550" cy="912302"/>
          </a:xfrm>
        </p:spPr>
        <p:txBody>
          <a:bodyPr>
            <a:noAutofit/>
          </a:bodyPr>
          <a:lstStyle/>
          <a:p>
            <a:br>
              <a:rPr lang="ru-RU" dirty="0">
                <a:solidFill>
                  <a:schemeClr val="bg1"/>
                </a:solidFill>
              </a:rPr>
            </a:br>
            <a:br>
              <a:rPr lang="ru-RU" dirty="0">
                <a:solidFill>
                  <a:schemeClr val="accent5">
                    <a:lumMod val="20000"/>
                    <a:lumOff val="80000"/>
                  </a:schemeClr>
                </a:solidFill>
              </a:rPr>
            </a:br>
            <a:r>
              <a:rPr lang="ru-RU" dirty="0">
                <a:solidFill>
                  <a:schemeClr val="bg1"/>
                </a:solidFill>
              </a:rPr>
              <a:t>Монтаж с трафаретом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ru-RU" dirty="0">
                <a:solidFill>
                  <a:schemeClr val="bg1"/>
                </a:solidFill>
                <a:latin typeface="+mn-lt"/>
              </a:rPr>
              <a:t>(для </a:t>
            </a:r>
            <a:r>
              <a:rPr lang="en-US" dirty="0">
                <a:solidFill>
                  <a:schemeClr val="bg1"/>
                </a:solidFill>
                <a:latin typeface="+mn-lt"/>
              </a:rPr>
              <a:t>SMD</a:t>
            </a:r>
            <a:r>
              <a:rPr lang="ru-RU" dirty="0">
                <a:solidFill>
                  <a:schemeClr val="bg1"/>
                </a:solidFill>
                <a:latin typeface="+mn-lt"/>
              </a:rPr>
              <a:t>)</a:t>
            </a:r>
            <a:endParaRPr lang="ru-RU" dirty="0">
              <a:latin typeface="+mn-lt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F63A1E-6EB5-C1B6-67EC-B32F7CDAF93A}"/>
              </a:ext>
            </a:extLst>
          </p:cNvPr>
          <p:cNvSpPr txBox="1"/>
          <p:nvPr/>
        </p:nvSpPr>
        <p:spPr>
          <a:xfrm>
            <a:off x="527050" y="1931303"/>
            <a:ext cx="8668592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lnSpc>
                <a:spcPct val="150000"/>
              </a:lnSpc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</a:pPr>
            <a:r>
              <a:rPr lang="ru-RU" sz="2400" dirty="0"/>
              <a:t>Нанесение припоя (по трафарету) </a:t>
            </a:r>
          </a:p>
          <a:p>
            <a:pPr marL="342900" indent="-342900">
              <a:lnSpc>
                <a:spcPct val="150000"/>
              </a:lnSpc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</a:pPr>
            <a:r>
              <a:rPr lang="ru-RU" sz="2400" dirty="0"/>
              <a:t>Сплавление соединения (в печи)</a:t>
            </a:r>
          </a:p>
          <a:p>
            <a:endParaRPr lang="ru-RU" sz="2400" dirty="0"/>
          </a:p>
          <a:p>
            <a:endParaRPr lang="ru-RU" sz="2400" dirty="0"/>
          </a:p>
          <a:p>
            <a:r>
              <a:rPr lang="ru-RU" sz="2400" dirty="0"/>
              <a:t>Набор инструментов:</a:t>
            </a:r>
          </a:p>
          <a:p>
            <a:r>
              <a:rPr lang="ru-RU" sz="2400" dirty="0"/>
              <a:t>трафарет, паяльная станция, паяльная паста</a:t>
            </a:r>
          </a:p>
          <a:p>
            <a:endParaRPr lang="ru-RU" sz="2400" dirty="0"/>
          </a:p>
          <a:p>
            <a:r>
              <a:rPr lang="ru-RU" sz="2400" dirty="0"/>
              <a:t>Время работы заметно ниже, чем при ручной пайке</a:t>
            </a:r>
          </a:p>
          <a:p>
            <a:r>
              <a:rPr lang="ru-RU" sz="2400" dirty="0"/>
              <a:t>Качество уже приемлемое для мелкого производства</a:t>
            </a:r>
          </a:p>
          <a:p>
            <a:endParaRPr lang="ru-RU" sz="2400" dirty="0"/>
          </a:p>
          <a:p>
            <a:r>
              <a:rPr lang="ru-RU" sz="2400" dirty="0"/>
              <a:t>Применение: от мелкого до крупносерийного производства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FB31573-D9E6-0846-85E7-F313D108F2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4429" y="2088075"/>
            <a:ext cx="3892550" cy="2605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60641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C1E24F-8F9A-6614-6A0C-9E359C5B3A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6529F356-8709-8A75-3088-3F17725DE172}"/>
              </a:ext>
            </a:extLst>
          </p:cNvPr>
          <p:cNvSpPr/>
          <p:nvPr/>
        </p:nvSpPr>
        <p:spPr>
          <a:xfrm>
            <a:off x="0" y="1"/>
            <a:ext cx="12191999" cy="1500188"/>
          </a:xfrm>
          <a:prstGeom prst="rect">
            <a:avLst/>
          </a:prstGeom>
          <a:solidFill>
            <a:srgbClr val="006CD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52CF35E0-B117-B14C-DF19-AAC4077428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050" y="587887"/>
            <a:ext cx="10515600" cy="912302"/>
          </a:xfrm>
        </p:spPr>
        <p:txBody>
          <a:bodyPr>
            <a:no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Волновая пайка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ru-RU" dirty="0">
                <a:solidFill>
                  <a:schemeClr val="bg1"/>
                </a:solidFill>
                <a:latin typeface="+mn-lt"/>
              </a:rPr>
              <a:t>(для </a:t>
            </a:r>
            <a:r>
              <a:rPr lang="en-US" dirty="0">
                <a:solidFill>
                  <a:schemeClr val="bg1"/>
                </a:solidFill>
                <a:latin typeface="+mn-lt"/>
              </a:rPr>
              <a:t>THT</a:t>
            </a:r>
            <a:r>
              <a:rPr lang="ru-RU" dirty="0">
                <a:solidFill>
                  <a:schemeClr val="bg1"/>
                </a:solidFill>
                <a:latin typeface="+mn-lt"/>
              </a:rPr>
              <a:t>)</a:t>
            </a:r>
            <a:endParaRPr lang="ru-RU" dirty="0">
              <a:latin typeface="+mn-lt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F09AE00-2714-7314-1557-D9DA8D3EB5BE}"/>
              </a:ext>
            </a:extLst>
          </p:cNvPr>
          <p:cNvSpPr txBox="1"/>
          <p:nvPr/>
        </p:nvSpPr>
        <p:spPr>
          <a:xfrm>
            <a:off x="527050" y="2088075"/>
            <a:ext cx="8668592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lnSpc>
                <a:spcPct val="150000"/>
              </a:lnSpc>
              <a:buBlip>
                <a:blip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</a:pPr>
            <a:r>
              <a:rPr lang="ru-RU" sz="2400" dirty="0"/>
              <a:t>Сплавление соединения (в ванне)</a:t>
            </a:r>
          </a:p>
          <a:p>
            <a:endParaRPr lang="ru-RU" sz="2400" dirty="0"/>
          </a:p>
          <a:p>
            <a:r>
              <a:rPr lang="ru-RU" sz="2400" dirty="0"/>
              <a:t>Набор инструментов:</a:t>
            </a:r>
          </a:p>
          <a:p>
            <a:r>
              <a:rPr lang="ru-RU" sz="2400" dirty="0"/>
              <a:t>паяльная ванна, припой, флюс</a:t>
            </a:r>
          </a:p>
          <a:p>
            <a:endParaRPr lang="ru-RU" sz="2400" dirty="0"/>
          </a:p>
          <a:p>
            <a:r>
              <a:rPr lang="ru-RU" sz="2400" dirty="0"/>
              <a:t>Время работы низкое</a:t>
            </a:r>
          </a:p>
          <a:p>
            <a:r>
              <a:rPr lang="ru-RU" sz="2400" dirty="0"/>
              <a:t>Качество стабильно высокое</a:t>
            </a:r>
          </a:p>
          <a:p>
            <a:endParaRPr lang="ru-RU" sz="2400" dirty="0"/>
          </a:p>
          <a:p>
            <a:endParaRPr lang="ru-RU" sz="2400" dirty="0"/>
          </a:p>
          <a:p>
            <a:r>
              <a:rPr lang="ru-RU" sz="2400" dirty="0"/>
              <a:t>Применение: от мелкого до крупносерийного производства</a:t>
            </a:r>
          </a:p>
        </p:txBody>
      </p:sp>
      <p:pic>
        <p:nvPicPr>
          <p:cNvPr id="5122" name="Picture 2" descr="Picture background">
            <a:extLst>
              <a:ext uri="{FF2B5EF4-FFF2-40B4-BE49-F238E27FC236}">
                <a16:creationId xmlns:a16="http://schemas.microsoft.com/office/drawing/2014/main" id="{1504BBB7-60F0-6003-F925-29939AD7727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82" t="11153" r="10990" b="11193"/>
          <a:stretch>
            <a:fillRect/>
          </a:stretch>
        </p:blipFill>
        <p:spPr bwMode="auto">
          <a:xfrm>
            <a:off x="6634812" y="1972353"/>
            <a:ext cx="5121660" cy="32419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411430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037F4C-32C0-5D76-9FC1-5825A527C1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559BC5F6-CFB5-1C1D-8A49-03D32486F587}"/>
              </a:ext>
            </a:extLst>
          </p:cNvPr>
          <p:cNvSpPr/>
          <p:nvPr/>
        </p:nvSpPr>
        <p:spPr>
          <a:xfrm>
            <a:off x="0" y="1"/>
            <a:ext cx="12191999" cy="1500188"/>
          </a:xfrm>
          <a:prstGeom prst="rect">
            <a:avLst/>
          </a:prstGeom>
          <a:solidFill>
            <a:srgbClr val="006CD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0E8197C9-9249-7C3B-90D2-4912A9EE35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050" y="587887"/>
            <a:ext cx="10515600" cy="912302"/>
          </a:xfrm>
        </p:spPr>
        <p:txBody>
          <a:bodyPr>
            <a:no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Селективная пайка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ru-RU" dirty="0">
                <a:solidFill>
                  <a:schemeClr val="bg1"/>
                </a:solidFill>
                <a:latin typeface="+mn-lt"/>
              </a:rPr>
              <a:t>(</a:t>
            </a:r>
            <a:r>
              <a:rPr lang="en-US" dirty="0">
                <a:solidFill>
                  <a:schemeClr val="bg1"/>
                </a:solidFill>
                <a:latin typeface="+mn-lt"/>
              </a:rPr>
              <a:t>THT</a:t>
            </a:r>
            <a:r>
              <a:rPr lang="ru-RU" dirty="0">
                <a:solidFill>
                  <a:schemeClr val="bg1"/>
                </a:solidFill>
                <a:latin typeface="+mn-lt"/>
              </a:rPr>
              <a:t>/</a:t>
            </a:r>
            <a:r>
              <a:rPr lang="en-US" dirty="0">
                <a:solidFill>
                  <a:schemeClr val="bg1"/>
                </a:solidFill>
                <a:latin typeface="+mn-lt"/>
              </a:rPr>
              <a:t>SMD</a:t>
            </a:r>
            <a:r>
              <a:rPr lang="ru-RU" dirty="0">
                <a:solidFill>
                  <a:schemeClr val="bg1"/>
                </a:solidFill>
                <a:latin typeface="+mn-lt"/>
              </a:rPr>
              <a:t>)</a:t>
            </a:r>
            <a:endParaRPr lang="ru-RU" dirty="0">
              <a:latin typeface="+mn-lt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4D86AA3-897B-099E-D5AB-86E122DF02C9}"/>
              </a:ext>
            </a:extLst>
          </p:cNvPr>
          <p:cNvSpPr txBox="1"/>
          <p:nvPr/>
        </p:nvSpPr>
        <p:spPr>
          <a:xfrm>
            <a:off x="527050" y="1979218"/>
            <a:ext cx="6262292" cy="44558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lnSpc>
                <a:spcPct val="150000"/>
              </a:lnSpc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</a:pPr>
            <a:r>
              <a:rPr lang="ru-RU" sz="2400" dirty="0"/>
              <a:t>Сплавление соединения (в мини ванне)</a:t>
            </a:r>
          </a:p>
          <a:p>
            <a:pPr>
              <a:lnSpc>
                <a:spcPct val="150000"/>
              </a:lnSpc>
            </a:pPr>
            <a:endParaRPr lang="ru-RU" sz="2400" dirty="0"/>
          </a:p>
          <a:p>
            <a:pPr>
              <a:lnSpc>
                <a:spcPct val="150000"/>
              </a:lnSpc>
            </a:pPr>
            <a:r>
              <a:rPr lang="ru-RU" sz="2400" dirty="0"/>
              <a:t>Применяется при нежелательности</a:t>
            </a:r>
          </a:p>
          <a:p>
            <a:pPr>
              <a:lnSpc>
                <a:spcPct val="150000"/>
              </a:lnSpc>
            </a:pPr>
            <a:r>
              <a:rPr lang="ru-RU" sz="2400" dirty="0"/>
              <a:t>погружения платы</a:t>
            </a:r>
          </a:p>
          <a:p>
            <a:pPr>
              <a:lnSpc>
                <a:spcPct val="150000"/>
              </a:lnSpc>
            </a:pPr>
            <a:r>
              <a:rPr lang="ru-RU" sz="2400" dirty="0"/>
              <a:t>в паяльную ванну целиком</a:t>
            </a:r>
          </a:p>
          <a:p>
            <a:pPr>
              <a:lnSpc>
                <a:spcPct val="150000"/>
              </a:lnSpc>
            </a:pPr>
            <a:endParaRPr lang="ru-RU" sz="2400" dirty="0"/>
          </a:p>
          <a:p>
            <a:pPr>
              <a:lnSpc>
                <a:spcPct val="150000"/>
              </a:lnSpc>
            </a:pPr>
            <a:r>
              <a:rPr lang="ru-RU" sz="2400" dirty="0"/>
              <a:t>Например, при наличии</a:t>
            </a:r>
          </a:p>
          <a:p>
            <a:pPr>
              <a:lnSpc>
                <a:spcPct val="150000"/>
              </a:lnSpc>
            </a:pPr>
            <a:r>
              <a:rPr lang="ru-RU" sz="2400" dirty="0"/>
              <a:t>на плате </a:t>
            </a:r>
            <a:r>
              <a:rPr lang="en-US" sz="2400" dirty="0"/>
              <a:t>SMD</a:t>
            </a:r>
            <a:r>
              <a:rPr lang="ru-RU" sz="2400" dirty="0"/>
              <a:t>-компонентов</a:t>
            </a:r>
          </a:p>
        </p:txBody>
      </p:sp>
      <p:pic>
        <p:nvPicPr>
          <p:cNvPr id="7170" name="Picture 2" descr="Picture background">
            <a:extLst>
              <a:ext uri="{FF2B5EF4-FFF2-40B4-BE49-F238E27FC236}">
                <a16:creationId xmlns:a16="http://schemas.microsoft.com/office/drawing/2014/main" id="{ADFB9E91-1B76-938C-0E99-28076D4147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88377" y="3012333"/>
            <a:ext cx="5481864" cy="30862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299915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15F50E-DA64-0F95-A59B-970E0E23A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BC8EBB15-D735-FA6D-0941-08E6AFADB126}"/>
              </a:ext>
            </a:extLst>
          </p:cNvPr>
          <p:cNvSpPr/>
          <p:nvPr/>
        </p:nvSpPr>
        <p:spPr>
          <a:xfrm>
            <a:off x="0" y="1"/>
            <a:ext cx="12191999" cy="1500188"/>
          </a:xfrm>
          <a:prstGeom prst="rect">
            <a:avLst/>
          </a:prstGeom>
          <a:solidFill>
            <a:srgbClr val="006CD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C7A77925-252C-E11C-BE9F-238DCE9270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050" y="587887"/>
            <a:ext cx="10515600" cy="912302"/>
          </a:xfrm>
        </p:spPr>
        <p:txBody>
          <a:bodyPr>
            <a:no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Автоматический монтаж</a:t>
            </a:r>
            <a:endParaRPr lang="ru-R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0600C2-97D6-1A4A-C085-E1E08F59118B}"/>
              </a:ext>
            </a:extLst>
          </p:cNvPr>
          <p:cNvSpPr txBox="1"/>
          <p:nvPr/>
        </p:nvSpPr>
        <p:spPr>
          <a:xfrm>
            <a:off x="527050" y="1794161"/>
            <a:ext cx="8765092" cy="4708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lnSpc>
                <a:spcPct val="150000"/>
              </a:lnSpc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</a:pPr>
            <a:r>
              <a:rPr lang="ru-RU" sz="2400" dirty="0"/>
              <a:t>Нанесение припоя (по трафарету)</a:t>
            </a:r>
          </a:p>
          <a:p>
            <a:pPr marL="342900" indent="-342900">
              <a:lnSpc>
                <a:spcPct val="150000"/>
              </a:lnSpc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</a:pPr>
            <a:r>
              <a:rPr lang="ru-RU" sz="2400" dirty="0"/>
              <a:t>Установка компонентов</a:t>
            </a:r>
            <a:r>
              <a:rPr lang="en-US" sz="2400" dirty="0"/>
              <a:t> </a:t>
            </a:r>
            <a:r>
              <a:rPr lang="ru-RU" sz="2400" dirty="0"/>
              <a:t>(робот)</a:t>
            </a:r>
          </a:p>
          <a:p>
            <a:pPr marL="342900" indent="-342900">
              <a:lnSpc>
                <a:spcPct val="150000"/>
              </a:lnSpc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</a:pPr>
            <a:r>
              <a:rPr lang="ru-RU" sz="2400" dirty="0"/>
              <a:t>Сплавление соединения (в печи)</a:t>
            </a:r>
          </a:p>
          <a:p>
            <a:endParaRPr lang="ru-RU" sz="2400" dirty="0"/>
          </a:p>
          <a:p>
            <a:r>
              <a:rPr lang="ru-RU" sz="2400" dirty="0"/>
              <a:t>Инструменты:</a:t>
            </a:r>
          </a:p>
          <a:p>
            <a:r>
              <a:rPr lang="ru-RU" sz="2400" dirty="0"/>
              <a:t>Вплоть до целого предприятия. Это настоящий конвейер</a:t>
            </a:r>
          </a:p>
          <a:p>
            <a:endParaRPr lang="ru-RU" sz="2400" dirty="0"/>
          </a:p>
          <a:p>
            <a:r>
              <a:rPr lang="ru-RU" sz="2400" dirty="0"/>
              <a:t>Время работы самое низкое</a:t>
            </a:r>
          </a:p>
          <a:p>
            <a:r>
              <a:rPr lang="ru-RU" sz="2400" dirty="0"/>
              <a:t>Качество стабильно высокое</a:t>
            </a:r>
          </a:p>
          <a:p>
            <a:endParaRPr lang="ru-RU" sz="2400" dirty="0"/>
          </a:p>
          <a:p>
            <a:r>
              <a:rPr lang="ru-RU" sz="2400" dirty="0"/>
              <a:t>Применение: от среднего до крупносерийного производства</a:t>
            </a:r>
          </a:p>
        </p:txBody>
      </p:sp>
    </p:spTree>
    <p:extLst>
      <p:ext uri="{BB962C8B-B14F-4D97-AF65-F5344CB8AC3E}">
        <p14:creationId xmlns:p14="http://schemas.microsoft.com/office/powerpoint/2010/main" val="22721325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AD5A47-8C8A-5250-19BB-8530336FCF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6A733D79-4EF8-0C9F-6F37-083C58ACED43}"/>
              </a:ext>
            </a:extLst>
          </p:cNvPr>
          <p:cNvSpPr/>
          <p:nvPr/>
        </p:nvSpPr>
        <p:spPr>
          <a:xfrm>
            <a:off x="0" y="1"/>
            <a:ext cx="12191999" cy="1500188"/>
          </a:xfrm>
          <a:prstGeom prst="rect">
            <a:avLst/>
          </a:prstGeom>
          <a:solidFill>
            <a:srgbClr val="006CD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5CCF58B3-FDA2-7BC7-78F2-CA1235850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050" y="478972"/>
            <a:ext cx="10515600" cy="1824662"/>
          </a:xfrm>
        </p:spPr>
        <p:txBody>
          <a:bodyPr>
            <a:no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Автоматический монтаж</a:t>
            </a:r>
            <a:br>
              <a:rPr lang="ru-RU" dirty="0">
                <a:solidFill>
                  <a:schemeClr val="bg1"/>
                </a:solidFill>
              </a:rPr>
            </a:br>
            <a:r>
              <a:rPr lang="ru-RU" dirty="0"/>
              <a:t>робот-установщик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A0F0D5-A523-FEB7-E371-E68B3D6A7706}"/>
              </a:ext>
            </a:extLst>
          </p:cNvPr>
          <p:cNvSpPr txBox="1"/>
          <p:nvPr/>
        </p:nvSpPr>
        <p:spPr>
          <a:xfrm>
            <a:off x="527050" y="2477191"/>
            <a:ext cx="7578806" cy="39018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/>
              <a:t>В робот загружаются кассеты с компонентами.</a:t>
            </a:r>
          </a:p>
          <a:p>
            <a:pPr>
              <a:lnSpc>
                <a:spcPct val="150000"/>
              </a:lnSpc>
            </a:pPr>
            <a:r>
              <a:rPr lang="ru-RU" sz="2400" dirty="0"/>
              <a:t>Установка происходит по программе,</a:t>
            </a:r>
          </a:p>
          <a:p>
            <a:pPr>
              <a:lnSpc>
                <a:spcPct val="150000"/>
              </a:lnSpc>
            </a:pPr>
            <a:r>
              <a:rPr lang="ru-RU" sz="2400" dirty="0"/>
              <a:t>настроенной перед запуском</a:t>
            </a:r>
          </a:p>
          <a:p>
            <a:pPr>
              <a:lnSpc>
                <a:spcPct val="150000"/>
              </a:lnSpc>
            </a:pPr>
            <a:endParaRPr lang="ru-RU" sz="2400" dirty="0"/>
          </a:p>
          <a:p>
            <a:pPr>
              <a:lnSpc>
                <a:spcPct val="150000"/>
              </a:lnSpc>
            </a:pPr>
            <a:r>
              <a:rPr lang="ru-RU" sz="2400" dirty="0"/>
              <a:t>Захват осуществляется вакуумной присоской.</a:t>
            </a:r>
          </a:p>
          <a:p>
            <a:pPr>
              <a:lnSpc>
                <a:spcPct val="150000"/>
              </a:lnSpc>
            </a:pPr>
            <a:r>
              <a:rPr lang="ru-RU" sz="2400" dirty="0"/>
              <a:t>Наиболее распространены </a:t>
            </a:r>
            <a:r>
              <a:rPr lang="en-US" sz="2400" dirty="0"/>
              <a:t>SMD-</a:t>
            </a:r>
            <a:r>
              <a:rPr lang="ru-RU" sz="2400" dirty="0"/>
              <a:t>установщики</a:t>
            </a:r>
            <a:br>
              <a:rPr lang="ru-RU" sz="2400" dirty="0"/>
            </a:br>
            <a:r>
              <a:rPr lang="ru-RU" sz="2400" dirty="0"/>
              <a:t>(</a:t>
            </a:r>
            <a:r>
              <a:rPr lang="en-US" sz="2400" dirty="0"/>
              <a:t>THT</a:t>
            </a:r>
            <a:r>
              <a:rPr lang="ru-RU" sz="2400" dirty="0"/>
              <a:t>-компоненты слишком тяжелые для присосок)</a:t>
            </a:r>
          </a:p>
        </p:txBody>
      </p:sp>
      <p:pic>
        <p:nvPicPr>
          <p:cNvPr id="9218" name="Picture 2" descr="Picture background">
            <a:extLst>
              <a:ext uri="{FF2B5EF4-FFF2-40B4-BE49-F238E27FC236}">
                <a16:creationId xmlns:a16="http://schemas.microsoft.com/office/drawing/2014/main" id="{DE53B4EF-4A22-A040-0B26-C6E5053685D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973" t="5666" r="13327" b="18959"/>
          <a:stretch>
            <a:fillRect/>
          </a:stretch>
        </p:blipFill>
        <p:spPr bwMode="auto">
          <a:xfrm>
            <a:off x="7761514" y="2939143"/>
            <a:ext cx="4005431" cy="23685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986305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D7BEBA-CB27-D129-62A4-0E2B8A4C00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6695B1A5-320A-F857-734E-C141E36D43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6483" y="319424"/>
            <a:ext cx="10399032" cy="1030404"/>
          </a:xfrm>
        </p:spPr>
        <p:txBody>
          <a:bodyPr>
            <a:noAutofit/>
          </a:bodyPr>
          <a:lstStyle/>
          <a:p>
            <a:r>
              <a:rPr lang="ru-RU" sz="3000" dirty="0">
                <a:latin typeface="+mn-lt"/>
              </a:rPr>
              <a:t>Пример линии автоматического монтажа</a:t>
            </a:r>
            <a:br>
              <a:rPr lang="ru-RU" sz="3000" dirty="0">
                <a:latin typeface="+mn-lt"/>
              </a:rPr>
            </a:br>
            <a:r>
              <a:rPr lang="en-US" sz="3000" dirty="0">
                <a:latin typeface="+mn-lt"/>
              </a:rPr>
              <a:t>SMT – Surface-Mount Technology</a:t>
            </a:r>
            <a:endParaRPr lang="ru-RU" sz="3000" dirty="0">
              <a:latin typeface="+mn-lt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3FE1600-BF78-F455-E81B-553328F07E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483" y="1527737"/>
            <a:ext cx="9945488" cy="4934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05892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281840-E213-3E86-E054-A5D8D0EDE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25856331-C837-B3BE-411D-AC81FBB981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4326174"/>
              </p:ext>
            </p:extLst>
          </p:nvPr>
        </p:nvGraphicFramePr>
        <p:xfrm>
          <a:off x="366938" y="2088075"/>
          <a:ext cx="11458122" cy="415532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6628">
                  <a:extLst>
                    <a:ext uri="{9D8B030D-6E8A-4147-A177-3AD203B41FA5}">
                      <a16:colId xmlns:a16="http://schemas.microsoft.com/office/drawing/2014/main" val="3992901743"/>
                    </a:ext>
                  </a:extLst>
                </a:gridCol>
                <a:gridCol w="2253343">
                  <a:extLst>
                    <a:ext uri="{9D8B030D-6E8A-4147-A177-3AD203B41FA5}">
                      <a16:colId xmlns:a16="http://schemas.microsoft.com/office/drawing/2014/main" val="2121142170"/>
                    </a:ext>
                  </a:extLst>
                </a:gridCol>
                <a:gridCol w="1959429">
                  <a:extLst>
                    <a:ext uri="{9D8B030D-6E8A-4147-A177-3AD203B41FA5}">
                      <a16:colId xmlns:a16="http://schemas.microsoft.com/office/drawing/2014/main" val="532106785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1489420291"/>
                    </a:ext>
                  </a:extLst>
                </a:gridCol>
                <a:gridCol w="2771322">
                  <a:extLst>
                    <a:ext uri="{9D8B030D-6E8A-4147-A177-3AD203B41FA5}">
                      <a16:colId xmlns:a16="http://schemas.microsoft.com/office/drawing/2014/main" val="1612559850"/>
                    </a:ext>
                  </a:extLst>
                </a:gridCol>
              </a:tblGrid>
              <a:tr h="1132115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Технологии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Стоимость оборудования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Время на один экземпляр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Качество продукции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Применение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6889049"/>
                  </a:ext>
                </a:extLst>
              </a:tr>
              <a:tr h="75580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Ручной монтаж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Очень низкая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Долго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Низкое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Прототипирование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48258795"/>
                  </a:ext>
                </a:extLst>
              </a:tr>
              <a:tr h="75580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+ Трафарет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Низкая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Средне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Среднее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Мелкое производство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9093758"/>
                  </a:ext>
                </a:extLst>
              </a:tr>
              <a:tr h="75580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+ Печь/Ванна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Средняя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Средне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Высокое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Среднее производство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5541728"/>
                  </a:ext>
                </a:extLst>
              </a:tr>
              <a:tr h="75580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+ Робот-установщик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Высокая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Быстро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Очень высокое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Массовое производство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82446120"/>
                  </a:ext>
                </a:extLst>
              </a:tr>
            </a:tbl>
          </a:graphicData>
        </a:graphic>
      </p:graphicFrame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7C75F240-27A4-A27E-2F6B-AA3C155B4DA6}"/>
              </a:ext>
            </a:extLst>
          </p:cNvPr>
          <p:cNvSpPr/>
          <p:nvPr/>
        </p:nvSpPr>
        <p:spPr>
          <a:xfrm>
            <a:off x="0" y="1"/>
            <a:ext cx="12191999" cy="1500188"/>
          </a:xfrm>
          <a:prstGeom prst="rect">
            <a:avLst/>
          </a:prstGeom>
          <a:solidFill>
            <a:srgbClr val="006CD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68FE16F8-641B-42A0-3F78-8F94210CA3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049" y="587887"/>
            <a:ext cx="11458122" cy="912302"/>
          </a:xfrm>
        </p:spPr>
        <p:txBody>
          <a:bodyPr>
            <a:noAutofit/>
          </a:bodyPr>
          <a:lstStyle/>
          <a:p>
            <a:r>
              <a:rPr lang="ru-RU" dirty="0">
                <a:solidFill>
                  <a:schemeClr val="bg1"/>
                </a:solidFill>
                <a:latin typeface="+mn-lt"/>
              </a:rPr>
              <a:t>Сравнение технологий</a:t>
            </a:r>
          </a:p>
        </p:txBody>
      </p:sp>
    </p:spTree>
    <p:extLst>
      <p:ext uri="{BB962C8B-B14F-4D97-AF65-F5344CB8AC3E}">
        <p14:creationId xmlns:p14="http://schemas.microsoft.com/office/powerpoint/2010/main" val="69573360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Gothic">
      <a:majorFont>
        <a:latin typeface="Arial Rounded MT Bold"/>
        <a:ea typeface=""/>
        <a:cs typeface=""/>
      </a:majorFont>
      <a:minorFont>
        <a:latin typeface="Arial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315</TotalTime>
  <Words>363</Words>
  <Application>Microsoft Office PowerPoint</Application>
  <PresentationFormat>Широкоэкранный</PresentationFormat>
  <Paragraphs>104</Paragraphs>
  <Slides>11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7" baseType="lpstr">
      <vt:lpstr>ALS Sector Regular</vt:lpstr>
      <vt:lpstr>Arial</vt:lpstr>
      <vt:lpstr>Arial Rounded MT Bold</vt:lpstr>
      <vt:lpstr>Calibri</vt:lpstr>
      <vt:lpstr>Wingdings</vt:lpstr>
      <vt:lpstr>Тема Office</vt:lpstr>
      <vt:lpstr>ТЕХНОЛОГИИ МОНТАЖА ПЕЧАТНЫХ ПЛАТ</vt:lpstr>
      <vt:lpstr>Типы компонентов на печатных платах</vt:lpstr>
      <vt:lpstr>Технологический процесс монтажа печатных плат</vt:lpstr>
      <vt:lpstr>Ручной монтаж</vt:lpstr>
      <vt:lpstr>  Монтаж с трафаретом (для SMD)</vt:lpstr>
      <vt:lpstr>Волновая пайка (для THT)</vt:lpstr>
      <vt:lpstr>Селективная пайка (THT/SMD)</vt:lpstr>
      <vt:lpstr>Автоматический монтаж</vt:lpstr>
      <vt:lpstr>Автоматический монтаж робот-установщик</vt:lpstr>
      <vt:lpstr>Пример линии автоматического монтажа SMT – Surface-Mount Technology</vt:lpstr>
      <vt:lpstr>Сравнение технологий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Tamashny Sag</dc:creator>
  <cp:lastModifiedBy>Tamashny Sag</cp:lastModifiedBy>
  <cp:revision>17</cp:revision>
  <dcterms:created xsi:type="dcterms:W3CDTF">2026-04-05T13:29:33Z</dcterms:created>
  <dcterms:modified xsi:type="dcterms:W3CDTF">2026-04-05T18:54:19Z</dcterms:modified>
</cp:coreProperties>
</file>