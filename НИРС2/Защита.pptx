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70" r:id="rId6"/>
    <p:sldId id="262" r:id="rId7"/>
    <p:sldId id="271" r:id="rId8"/>
    <p:sldId id="263" r:id="rId9"/>
    <p:sldId id="264" r:id="rId10"/>
    <p:sldId id="265" r:id="rId11"/>
    <p:sldId id="276" r:id="rId12"/>
    <p:sldId id="279" r:id="rId13"/>
    <p:sldId id="278" r:id="rId14"/>
    <p:sldId id="280" r:id="rId15"/>
    <p:sldId id="268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CD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81" autoAdjust="0"/>
    <p:restoredTop sz="94660"/>
  </p:normalViewPr>
  <p:slideViewPr>
    <p:cSldViewPr snapToGrid="0">
      <p:cViewPr varScale="1">
        <p:scale>
          <a:sx n="59" d="100"/>
          <a:sy n="59" d="100"/>
        </p:scale>
        <p:origin x="9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DB33AD-5C05-4723-B389-E1E81ABFFAD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90A88-05AC-4B7C-96D7-DFBC6C1323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3937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90A88-05AC-4B7C-96D7-DFBC6C1323A1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40451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2F18-B5EB-41B7-BADA-E0287647C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500D50D-CB88-0F77-73D0-659E2240A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C93BCA8-9C64-3385-5B0E-32E64C51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C925223-390C-A71A-D40F-DC39564A6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90A88-05AC-4B7C-96D7-DFBC6C1323A1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78774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78D5A8-5A5E-B7F2-0CC2-F1FF90616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93E8DC-5EC8-19E9-4EFD-DCF7FEEB37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5D00FC-C3BC-F943-FB28-75CB92FB7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FDF970-1F2D-B6FC-856F-C0A7E5E5F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352D20-263D-FEB0-4894-82536F4D3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16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9CD28C-17FE-30E9-EF09-5515B0F4D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0E2D19-21D7-137A-0B08-4DC530518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E1195E4-8DC9-A7CF-6E2E-74BED30D8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912ED85-2BFD-0461-9FDE-F404D8EDA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7BD5FA-0B47-B889-D89B-2C8DC0D88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3022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0531AA-88C6-D818-E226-61D093577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6A6525-6DC2-C7E2-2E40-77429CE9FB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43A3E6-9041-C150-0F46-121B6DF46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F8FDE2-A6B6-F045-3621-D7BA69854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DBA12D-398F-FBBA-0684-005E5B19A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8946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76B7-CCDD-655D-CCA8-47AF1F8E1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4E1D91-816D-7437-925A-83DD96A25F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461734F-EADC-6D42-19AF-8299AAC8DF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708AEAE-170D-E7B7-DCD5-4B494EB2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D08FA10-6FD5-333F-209A-68EF8597D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57119F2-D9A7-567F-EDDD-F14AAECC8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1447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08D42C-F385-062E-AB3C-32466CB0A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A38866-BAB0-192F-AC99-EF002CF10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E091CF2-8CF2-CBE9-108D-FAAB99995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D69B5CB-D0E0-783E-8F04-45203D5F90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3C200B-FBEE-25D1-287C-D5176BAF34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D9AB2E5-7584-593A-9363-10AA57E5E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2D6709A-8ADA-54D8-C766-D33A1FA8B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7F01812-60F7-BF91-2DB2-39BB800DA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9603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FE1D5D-EA10-54B4-65DA-00EDEC2ED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51D08A0-D5C8-3BC4-56D4-E83250770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F80C9D1-7CE0-F095-20DA-ED9B50942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82E03EF-463C-E376-F678-5EE4D593A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9015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0EC4D16-94C2-0DE8-8064-1B97BFE41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BA2F62E-6B3A-8248-9D9F-2D65BB522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75280EE-FBF3-B1BD-2AFA-7B0D50D2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8243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660ED6-9003-BDC1-A830-03F4DDC13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EE6496-AFB6-6FB8-E8EA-BE811014F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B170513-6EB8-8589-5519-A072678732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DEDE9EB-AE78-38D7-8E9B-7726A3221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813AB98-81D1-9A00-2366-E7F7AE194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36BE6E-40F5-A502-B62F-5ABB1C906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0672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B94AE4-899A-C5A3-AC6B-1BBE4113D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BACC8C-6167-5B4B-F36C-3890DBBB54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1AF8B78-AE1B-4C03-04BE-49D1DB6E1B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4F9823-229C-E5D9-C0D1-FED3D04E2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D26F4A-6245-B8D0-599D-1118C8D0E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B5328CA-D258-67D6-F93A-9299E53BC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192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5FD03D-D31C-4A57-D737-BBA34FF8F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F240A29-2E35-3166-356E-8B9A4535B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EA6888-7C3A-DC0C-7029-1DA0D19AC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412D4A-34B1-EFEC-1ADE-6745777F6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6DCA7D-1B2B-92BA-3AED-68D5E7071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8556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059D23D-9212-E134-6341-F1000AB1C8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44DD4A6-D7F5-C74B-DEA2-697FC8F0D4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1E150D-00D4-A59A-9E73-57F862E6C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ACB979A-49F6-7C65-2BEF-87883B0CD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E2FB343-BB55-89EF-477E-A45DBEF27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0748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2553ED-C1F0-2581-473E-6F5123BA7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8FC0718-E683-117B-85FF-4E2B623836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4F3A7F-F80E-A17B-79CC-187177C32B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7FD824-9642-443D-A094-80DC1BD911E3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952512-886D-5571-EFD4-2F3373ECD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F6A8C8-CB50-37E2-DF8E-C76F9F001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5649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9F6316DE-5913-F010-5C74-D93A53F90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4287" y="2369136"/>
            <a:ext cx="5246913" cy="52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C71D6F-A707-35C6-A7CF-7ADFE25484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3432" y="1676400"/>
            <a:ext cx="9241971" cy="2226431"/>
          </a:xfrm>
        </p:spPr>
        <p:txBody>
          <a:bodyPr>
            <a:noAutofit/>
          </a:bodyPr>
          <a:lstStyle/>
          <a:p>
            <a:pPr algn="l"/>
            <a:r>
              <a:rPr lang="ru-RU" sz="5000" b="1" dirty="0">
                <a:solidFill>
                  <a:schemeClr val="bg1"/>
                </a:solidFill>
              </a:rPr>
              <a:t>АНАЛИЗ ЭНЕРГОЭФФЕКТИВНОСТИ АВТОМОБИЛЯ ПРИ ДВИЖЕНИИ В РАЗЛИЧНЫХ УСЛОВИЯХ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E15FFFE-7007-97B9-6B09-E2D1D1E370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32" y="4212771"/>
            <a:ext cx="5795853" cy="968829"/>
          </a:xfrm>
        </p:spPr>
        <p:txBody>
          <a:bodyPr>
            <a:normAutofit/>
          </a:bodyPr>
          <a:lstStyle/>
          <a:p>
            <a:pPr algn="l"/>
            <a:r>
              <a:rPr lang="ru-RU" sz="2000" dirty="0">
                <a:solidFill>
                  <a:schemeClr val="bg1"/>
                </a:solidFill>
              </a:rPr>
              <a:t>Выполнил:</a:t>
            </a:r>
          </a:p>
          <a:p>
            <a:pPr algn="l"/>
            <a:r>
              <a:rPr lang="ru-RU" sz="2000" dirty="0">
                <a:solidFill>
                  <a:schemeClr val="bg1"/>
                </a:solidFill>
              </a:rPr>
              <a:t>Студент группы СМ10-81Б	Джабаев И.Ю.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711824C-C6CE-1418-B292-32C10505F96B}"/>
              </a:ext>
            </a:extLst>
          </p:cNvPr>
          <p:cNvSpPr txBox="1">
            <a:spLocks/>
          </p:cNvSpPr>
          <p:nvPr/>
        </p:nvSpPr>
        <p:spPr>
          <a:xfrm>
            <a:off x="463433" y="378750"/>
            <a:ext cx="11211339" cy="65324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>
                <a:solidFill>
                  <a:schemeClr val="bg1"/>
                </a:solidFill>
                <a:latin typeface="ALS Sector Regular" pitchFamily="2" charset="0"/>
                <a:cs typeface="ALS Sector Regular" pitchFamily="2" charset="0"/>
              </a:rPr>
              <a:t>Московский государственный технический университет им. Н.Э. Баумана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F1B8B8C-C18A-204A-EEA8-5524728BA4D3}"/>
              </a:ext>
            </a:extLst>
          </p:cNvPr>
          <p:cNvSpPr/>
          <p:nvPr/>
        </p:nvSpPr>
        <p:spPr>
          <a:xfrm>
            <a:off x="463436" y="6079140"/>
            <a:ext cx="531637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rgbClr val="176DEA"/>
              </a:buClr>
            </a:pPr>
            <a:r>
              <a:rPr lang="ru-RU" sz="2000" dirty="0">
                <a:solidFill>
                  <a:schemeClr val="bg1">
                    <a:alpha val="50000"/>
                  </a:schemeClr>
                </a:solidFill>
                <a:latin typeface="ALS Sector Regular" pitchFamily="2" charset="0"/>
                <a:cs typeface="ALS Sector Regular" pitchFamily="2" charset="0"/>
              </a:rPr>
              <a:t>Москва 2026</a:t>
            </a:r>
          </a:p>
        </p:txBody>
      </p:sp>
    </p:spTree>
    <p:extLst>
      <p:ext uri="{BB962C8B-B14F-4D97-AF65-F5344CB8AC3E}">
        <p14:creationId xmlns:p14="http://schemas.microsoft.com/office/powerpoint/2010/main" val="179266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0DA9DD9-A5D6-097A-5E8E-F09EF29B4AC5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6A9FDA1D-7754-CABD-48DF-CA4CA605D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7" y="380263"/>
            <a:ext cx="1051560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Исследуемая схема автомобиля</a:t>
            </a:r>
            <a:endParaRPr lang="ru-RU" sz="5000" dirty="0">
              <a:solidFill>
                <a:srgbClr val="006CDC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69979F-BD7F-F1D1-519C-EE49B38C6C7F}"/>
              </a:ext>
            </a:extLst>
          </p:cNvPr>
          <p:cNvSpPr txBox="1"/>
          <p:nvPr/>
        </p:nvSpPr>
        <p:spPr>
          <a:xfrm>
            <a:off x="2444992" y="5719370"/>
            <a:ext cx="745441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500" dirty="0"/>
              <a:t>Переднеприводный мягкий гибрид с вариатором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1B442B3-2F15-0EB7-0885-E2C0BF93E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044" y="2185221"/>
            <a:ext cx="7800311" cy="331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13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196A4-1C37-68E7-C17A-46E8D4694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D3E1DE1-8ABE-C684-630B-5C09DC3076B8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07CAA73-2E3E-9C12-81AE-98EFEBCBF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7" y="380263"/>
            <a:ext cx="1051560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ДВС </a:t>
            </a:r>
            <a:r>
              <a:rPr lang="ru-RU" sz="5000" dirty="0">
                <a:solidFill>
                  <a:schemeClr val="bg1"/>
                </a:solidFill>
                <a:latin typeface="+mn-lt"/>
              </a:rPr>
              <a:t>2</a:t>
            </a:r>
            <a:r>
              <a:rPr lang="en-US" sz="5000" dirty="0">
                <a:solidFill>
                  <a:schemeClr val="bg1"/>
                </a:solidFill>
                <a:latin typeface="+mn-lt"/>
              </a:rPr>
              <a:t>ZR-FZE</a:t>
            </a:r>
            <a:endParaRPr lang="ru-RU" sz="5000" dirty="0">
              <a:solidFill>
                <a:srgbClr val="006CDC"/>
              </a:solidFill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513D5E-9046-55DB-0FE5-1FC8D904CF04}"/>
              </a:ext>
            </a:extLst>
          </p:cNvPr>
          <p:cNvSpPr txBox="1"/>
          <p:nvPr/>
        </p:nvSpPr>
        <p:spPr>
          <a:xfrm>
            <a:off x="73237" y="5541518"/>
            <a:ext cx="571246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500" dirty="0"/>
              <a:t>Внешняя скоростная характеристика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2DC70F-3D13-2D8A-D5D4-F1E269CC6D16}"/>
              </a:ext>
            </a:extLst>
          </p:cNvPr>
          <p:cNvSpPr txBox="1"/>
          <p:nvPr/>
        </p:nvSpPr>
        <p:spPr>
          <a:xfrm>
            <a:off x="7837715" y="5541518"/>
            <a:ext cx="364974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500" dirty="0"/>
              <a:t>Карта расход топлива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37A5F34-BF66-2863-AB64-4B54CC0F4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86" y="2356107"/>
            <a:ext cx="6022763" cy="300012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DC8E2A4-3D50-82A3-5DDD-AD8BE810A3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6252" y="1804959"/>
            <a:ext cx="5712462" cy="3718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458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3217A-D594-F8C8-02C0-128BCE2C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4ABFABF-F0E8-15AF-5A73-D55E406E4087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236B36E-2B49-F2A3-DE64-BCA02E3B9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7" y="380263"/>
            <a:ext cx="1051560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  <a:latin typeface="+mn-lt"/>
              </a:rPr>
              <a:t>Вариатор </a:t>
            </a:r>
            <a:r>
              <a:rPr lang="en-US" sz="5000" dirty="0">
                <a:solidFill>
                  <a:schemeClr val="bg1"/>
                </a:solidFill>
                <a:latin typeface="+mn-lt"/>
              </a:rPr>
              <a:t>JF009e</a:t>
            </a:r>
            <a:endParaRPr lang="ru-RU" sz="5000" dirty="0">
              <a:solidFill>
                <a:srgbClr val="006CDC"/>
              </a:solidFill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A31097-2F75-FC40-6E82-548CCA510B54}"/>
              </a:ext>
            </a:extLst>
          </p:cNvPr>
          <p:cNvSpPr txBox="1"/>
          <p:nvPr/>
        </p:nvSpPr>
        <p:spPr>
          <a:xfrm>
            <a:off x="6096000" y="5937359"/>
            <a:ext cx="527102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500" dirty="0"/>
              <a:t>Карта эффективности вариатора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ABAE0CA-187A-30A6-A706-C22DC64D2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60" y="1503110"/>
            <a:ext cx="4683108" cy="4974627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BF2F37A-2CD3-CAD0-A1BF-7131387C8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500" y="2368250"/>
            <a:ext cx="6738255" cy="3244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45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3117B-03B7-D683-9EC1-DA69655A4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E5EDA69-DD03-1820-B4DF-DD75B6096BB7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70B8331-3BCF-5286-7243-CE29D10F3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7" y="380263"/>
            <a:ext cx="1051560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Электродвигатель </a:t>
            </a:r>
            <a:r>
              <a:rPr lang="ru-RU" sz="5000" dirty="0">
                <a:solidFill>
                  <a:schemeClr val="bg1"/>
                </a:solidFill>
                <a:latin typeface="+mn-lt"/>
              </a:rPr>
              <a:t>HVM-PM1-18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D2C7C7-7436-C055-335F-0D618F1DEA6C}"/>
              </a:ext>
            </a:extLst>
          </p:cNvPr>
          <p:cNvSpPr txBox="1"/>
          <p:nvPr/>
        </p:nvSpPr>
        <p:spPr>
          <a:xfrm>
            <a:off x="86739" y="5630822"/>
            <a:ext cx="571246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500" dirty="0"/>
              <a:t>Внешняя скоростная характеристика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4FCC43-6130-7503-0548-9654D05BD0F3}"/>
              </a:ext>
            </a:extLst>
          </p:cNvPr>
          <p:cNvSpPr txBox="1"/>
          <p:nvPr/>
        </p:nvSpPr>
        <p:spPr>
          <a:xfrm>
            <a:off x="7207057" y="1498302"/>
            <a:ext cx="364974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500" dirty="0"/>
              <a:t>Карта эффективности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B2C2BA4-805F-A6C4-2BEC-3C42BE6E4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39" y="1240971"/>
            <a:ext cx="6600841" cy="409313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FE5EDEB-2CB8-0CEB-F90A-CD10384BD4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8454" y="2101679"/>
            <a:ext cx="6186807" cy="319063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B56E7DE-B41A-1E28-89AA-F64D34C0A7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9508" y="5450530"/>
            <a:ext cx="5170863" cy="74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022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DB3D-3BE3-4E7F-9ACF-FE6257CE1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3E21A3E-8917-AB01-6965-6C882CE75F95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EF7F770-BD59-513B-F6E8-98F24E95D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7" y="380263"/>
            <a:ext cx="1051560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Выбор ездовых циклов</a:t>
            </a:r>
            <a:endParaRPr lang="ru-RU" sz="5000" dirty="0">
              <a:solidFill>
                <a:srgbClr val="006CDC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53C055-17B0-0E0E-926C-602262E1FEEB}"/>
              </a:ext>
            </a:extLst>
          </p:cNvPr>
          <p:cNvSpPr txBox="1"/>
          <p:nvPr/>
        </p:nvSpPr>
        <p:spPr>
          <a:xfrm>
            <a:off x="7023545" y="2035852"/>
            <a:ext cx="174464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500" dirty="0"/>
              <a:t>Город</a:t>
            </a:r>
            <a:br>
              <a:rPr lang="ru-RU" sz="2500" dirty="0"/>
            </a:br>
            <a:r>
              <a:rPr lang="en-US" sz="2500" dirty="0"/>
              <a:t>WLTC Low</a:t>
            </a:r>
            <a:endParaRPr lang="ru-RU" sz="25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4773927-ABC2-0EA9-EC8E-890BE3343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62" y="1297410"/>
            <a:ext cx="6927983" cy="269288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5EE1197-38E2-22AC-B3E6-4327C7B8B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62" y="4084528"/>
            <a:ext cx="6927983" cy="256979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7CD3337-7882-E256-7D98-DDE3D24C312E}"/>
              </a:ext>
            </a:extLst>
          </p:cNvPr>
          <p:cNvSpPr txBox="1"/>
          <p:nvPr/>
        </p:nvSpPr>
        <p:spPr>
          <a:xfrm>
            <a:off x="6911749" y="4775016"/>
            <a:ext cx="518468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500" dirty="0"/>
              <a:t>Трасса</a:t>
            </a:r>
            <a:br>
              <a:rPr lang="ru-RU" sz="2500" dirty="0"/>
            </a:br>
            <a:r>
              <a:rPr lang="en-US" sz="2500" dirty="0"/>
              <a:t>WLTC Medium +</a:t>
            </a:r>
            <a:r>
              <a:rPr lang="ru-RU" sz="2500" dirty="0"/>
              <a:t> </a:t>
            </a:r>
            <a:r>
              <a:rPr lang="en-US" sz="2500" dirty="0"/>
              <a:t>High + Extra High</a:t>
            </a:r>
            <a:endParaRPr lang="ru-RU" sz="2500" dirty="0"/>
          </a:p>
        </p:txBody>
      </p:sp>
    </p:spTree>
    <p:extLst>
      <p:ext uri="{BB962C8B-B14F-4D97-AF65-F5344CB8AC3E}">
        <p14:creationId xmlns:p14="http://schemas.microsoft.com/office/powerpoint/2010/main" val="2395982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AAEDB-EFD3-7E67-8016-CDA006FCF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58DE865-BCD1-6619-9281-1249C3CB1C7D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4FE9510-1AF0-F99B-864F-761632DB9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591" y="117127"/>
            <a:ext cx="1051560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Поиск оптимальной точки</a:t>
            </a:r>
            <a:endParaRPr lang="ru-RU" sz="5000" dirty="0">
              <a:solidFill>
                <a:srgbClr val="006CDC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D85938D-96FC-0EA5-FE84-04072370F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91" y="1541823"/>
            <a:ext cx="6165022" cy="72529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EA20EC68-BB0E-74A3-49BB-1356E63F3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751" y="2519762"/>
            <a:ext cx="3613640" cy="419766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A4E8843-B8C6-E5CB-78FB-9A26FAE17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796" y="1449354"/>
            <a:ext cx="3429395" cy="540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194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70A3A-0C29-2D69-8B7A-56337484A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0A02C2D-2151-2E0A-B1D3-87C6E4622043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F1D9DA3-E650-EA96-70F3-D80BF1E8A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7" y="380263"/>
            <a:ext cx="1051560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Топливный эквивалент </a:t>
            </a:r>
            <a:r>
              <a:rPr lang="en-US" sz="5000" dirty="0">
                <a:solidFill>
                  <a:schemeClr val="bg1"/>
                </a:solidFill>
              </a:rPr>
              <a:t>s</a:t>
            </a:r>
            <a:endParaRPr lang="ru-RU" sz="5000" dirty="0">
              <a:solidFill>
                <a:srgbClr val="006CDC"/>
              </a:solidFill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A739B8F-A44B-6B90-7DB1-20B555419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4484" y="2055830"/>
            <a:ext cx="7086535" cy="27463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81CEBAF-233C-B5B8-CD2D-54577467CD0E}"/>
              </a:ext>
            </a:extLst>
          </p:cNvPr>
          <p:cNvSpPr txBox="1"/>
          <p:nvPr/>
        </p:nvSpPr>
        <p:spPr>
          <a:xfrm>
            <a:off x="4840080" y="4965455"/>
            <a:ext cx="614360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500" dirty="0"/>
              <a:t>Зависимость эквивалентного фактора </a:t>
            </a:r>
            <a:r>
              <a:rPr lang="en-US" sz="2500" dirty="0"/>
              <a:t>s</a:t>
            </a:r>
            <a:endParaRPr lang="ru-RU" sz="2500" dirty="0"/>
          </a:p>
          <a:p>
            <a:pPr algn="ctr"/>
            <a:r>
              <a:rPr lang="ru-RU" sz="2500" dirty="0"/>
              <a:t>от </a:t>
            </a:r>
            <a:r>
              <a:rPr lang="en-US" sz="2500" dirty="0"/>
              <a:t>SOC</a:t>
            </a:r>
            <a:endParaRPr lang="ru-RU" sz="2500" dirty="0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491DAAA9-86DB-66CE-3A41-942332261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372" y="3072932"/>
            <a:ext cx="2122713" cy="71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1734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6C089-87C7-4D94-105A-406615DFC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1C6FA25-5D16-88B2-776E-547A78802176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D5291C6-E08B-20DD-F3C3-654DA885D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6" y="380263"/>
            <a:ext cx="9070837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Алгоритм управления гибридом</a:t>
            </a:r>
            <a:endParaRPr lang="ru-RU" sz="5000" dirty="0">
              <a:solidFill>
                <a:srgbClr val="006CDC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6CDC37-F2B9-4FB1-947A-AC906C968E1E}"/>
              </a:ext>
            </a:extLst>
          </p:cNvPr>
          <p:cNvSpPr txBox="1"/>
          <p:nvPr/>
        </p:nvSpPr>
        <p:spPr>
          <a:xfrm>
            <a:off x="4974093" y="1797784"/>
            <a:ext cx="7242047" cy="2785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500" dirty="0"/>
              <a:t>Рекуперация или помощь при низких нагрузках</a:t>
            </a:r>
          </a:p>
          <a:p>
            <a:r>
              <a:rPr lang="ru-RU" sz="2500" dirty="0"/>
              <a:t>Только помощь при высоких нагрузках</a:t>
            </a:r>
          </a:p>
          <a:p>
            <a:endParaRPr lang="ru-RU" sz="2500" dirty="0"/>
          </a:p>
          <a:p>
            <a:r>
              <a:rPr lang="ru-RU" sz="2500" dirty="0"/>
              <a:t>При торможении подача топлива отключается</a:t>
            </a:r>
          </a:p>
          <a:p>
            <a:r>
              <a:rPr lang="ru-RU" sz="2500" dirty="0"/>
              <a:t>Глушение ДВС только при стоянке</a:t>
            </a:r>
          </a:p>
          <a:p>
            <a:endParaRPr lang="ru-RU" sz="2500" dirty="0"/>
          </a:p>
          <a:p>
            <a:endParaRPr lang="ru-RU" sz="25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1BD09B9-33DF-8372-0A11-47781786B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689" y="4010190"/>
            <a:ext cx="6089783" cy="236707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7D11E60-38D5-98A1-D997-E2EDF655C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23706"/>
            <a:ext cx="4974093" cy="397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6724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7BCD2-6685-F997-7372-46C5F275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FDB5DF-8668-1262-2634-6E40DA19EBC8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61381B34-302F-4070-C2A9-A8D6B327B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7" y="380263"/>
            <a:ext cx="1109558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Допущения модели</a:t>
            </a:r>
            <a:endParaRPr lang="ru-RU" sz="5000" dirty="0">
              <a:solidFill>
                <a:srgbClr val="006CDC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9C6E91D-747E-95DC-9AAC-BB8D27CAD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77" y="2658267"/>
            <a:ext cx="9478208" cy="279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43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82884-4BD0-74EE-0195-CC34E9163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E450050-9091-0B1B-0F5E-11D6512A328B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29716CB-1902-6DDC-22A4-85140939C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7" y="380263"/>
            <a:ext cx="1109558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Результаты</a:t>
            </a:r>
            <a:endParaRPr lang="ru-RU" sz="5000" dirty="0">
              <a:solidFill>
                <a:srgbClr val="006CDC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4EBAB4D-B93F-5C29-8ED8-47A4FE496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27" y="1804959"/>
            <a:ext cx="4475648" cy="238670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58DB680-6406-84FF-C00A-621EDC29E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31" y="4586608"/>
            <a:ext cx="4366853" cy="221766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2FCAB2-A2BE-5CCA-F62B-FF2DAB80E578}"/>
              </a:ext>
            </a:extLst>
          </p:cNvPr>
          <p:cNvSpPr txBox="1"/>
          <p:nvPr/>
        </p:nvSpPr>
        <p:spPr>
          <a:xfrm>
            <a:off x="1994955" y="1358493"/>
            <a:ext cx="251280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500" dirty="0"/>
              <a:t>Город вариатор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120F98-8DA4-6000-C1B2-300B0A524FAD}"/>
              </a:ext>
            </a:extLst>
          </p:cNvPr>
          <p:cNvSpPr txBox="1"/>
          <p:nvPr/>
        </p:nvSpPr>
        <p:spPr>
          <a:xfrm>
            <a:off x="1812178" y="4109554"/>
            <a:ext cx="267874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500" dirty="0"/>
              <a:t>Трасса вариатор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2454FFE-45CD-8FEB-A76B-6547FDE0A0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3390" y="4607462"/>
            <a:ext cx="4544651" cy="219680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4A9B759-1730-83C7-E559-242D36384963}"/>
              </a:ext>
            </a:extLst>
          </p:cNvPr>
          <p:cNvSpPr txBox="1"/>
          <p:nvPr/>
        </p:nvSpPr>
        <p:spPr>
          <a:xfrm>
            <a:off x="7863390" y="4130408"/>
            <a:ext cx="2332306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500" dirty="0"/>
              <a:t>Трасса гибрид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2F4F4D1-3700-F7E5-5929-B81EF24612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7737" y="1907187"/>
            <a:ext cx="4943612" cy="23254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EB039BA-2C32-2230-584D-807F20394760}"/>
              </a:ext>
            </a:extLst>
          </p:cNvPr>
          <p:cNvSpPr txBox="1"/>
          <p:nvPr/>
        </p:nvSpPr>
        <p:spPr>
          <a:xfrm>
            <a:off x="7946362" y="1430133"/>
            <a:ext cx="216636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500" dirty="0"/>
              <a:t>Город гибрид</a:t>
            </a:r>
          </a:p>
        </p:txBody>
      </p:sp>
    </p:spTree>
    <p:extLst>
      <p:ext uri="{BB962C8B-B14F-4D97-AF65-F5344CB8AC3E}">
        <p14:creationId xmlns:p14="http://schemas.microsoft.com/office/powerpoint/2010/main" val="5213740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4A879-C299-D738-B1AC-0BEF839C2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CE83732-746E-6D07-2100-D682404CD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345" y="3736788"/>
            <a:ext cx="4740569" cy="296171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3CFC37D-D58D-802D-9B42-0807CA94D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345" y="798711"/>
            <a:ext cx="4746169" cy="297384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9D609D2-4C3D-B1BF-6B59-C6F558E7B6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086" y="3718897"/>
            <a:ext cx="4740571" cy="297894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A1C4635-31F1-FA95-B70D-147174CA79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486" y="798710"/>
            <a:ext cx="4746171" cy="2960934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23C1860-D48C-6B5E-9500-8D0D132B6DA1}"/>
              </a:ext>
            </a:extLst>
          </p:cNvPr>
          <p:cNvSpPr/>
          <p:nvPr/>
        </p:nvSpPr>
        <p:spPr>
          <a:xfrm>
            <a:off x="0" y="1"/>
            <a:ext cx="12192000" cy="696685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952BC75C-C141-EBD5-48E0-A7256F72D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4" y="-102023"/>
            <a:ext cx="1109558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Результаты</a:t>
            </a:r>
            <a:endParaRPr lang="ru-RU" sz="5000" dirty="0">
              <a:solidFill>
                <a:srgbClr val="006CDC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E4D2D0-F4E8-C699-87E2-647206306C2F}"/>
              </a:ext>
            </a:extLst>
          </p:cNvPr>
          <p:cNvSpPr txBox="1"/>
          <p:nvPr/>
        </p:nvSpPr>
        <p:spPr>
          <a:xfrm>
            <a:off x="3966331" y="939422"/>
            <a:ext cx="155702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500" dirty="0"/>
              <a:t>Город</a:t>
            </a:r>
          </a:p>
          <a:p>
            <a:pPr algn="ctr"/>
            <a:r>
              <a:rPr lang="ru-RU" sz="2500" dirty="0"/>
              <a:t>вариатор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C98575-8CCA-56CC-713E-91B78E253BB4}"/>
              </a:ext>
            </a:extLst>
          </p:cNvPr>
          <p:cNvSpPr txBox="1"/>
          <p:nvPr/>
        </p:nvSpPr>
        <p:spPr>
          <a:xfrm>
            <a:off x="4336791" y="4176575"/>
            <a:ext cx="155702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500" dirty="0"/>
              <a:t>Трасса</a:t>
            </a:r>
          </a:p>
          <a:p>
            <a:pPr algn="ctr"/>
            <a:r>
              <a:rPr lang="ru-RU" sz="2500" dirty="0"/>
              <a:t>вариатор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423C23-E9E4-8ADF-1199-90ED0D01F66A}"/>
              </a:ext>
            </a:extLst>
          </p:cNvPr>
          <p:cNvSpPr txBox="1"/>
          <p:nvPr/>
        </p:nvSpPr>
        <p:spPr>
          <a:xfrm>
            <a:off x="9817934" y="4104888"/>
            <a:ext cx="121661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500" dirty="0"/>
              <a:t>Трасса</a:t>
            </a:r>
          </a:p>
          <a:p>
            <a:pPr algn="ctr"/>
            <a:r>
              <a:rPr lang="ru-RU" sz="2500" dirty="0"/>
              <a:t>гибрид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B05208-FD75-0A1D-CC58-D855FFCEDB46}"/>
              </a:ext>
            </a:extLst>
          </p:cNvPr>
          <p:cNvSpPr txBox="1"/>
          <p:nvPr/>
        </p:nvSpPr>
        <p:spPr>
          <a:xfrm>
            <a:off x="9722976" y="1131048"/>
            <a:ext cx="121058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500" dirty="0"/>
              <a:t>Город</a:t>
            </a:r>
          </a:p>
          <a:p>
            <a:pPr algn="ctr"/>
            <a:r>
              <a:rPr lang="ru-RU" sz="2500" dirty="0"/>
              <a:t>гибрид</a:t>
            </a:r>
          </a:p>
        </p:txBody>
      </p:sp>
    </p:spTree>
    <p:extLst>
      <p:ext uri="{BB962C8B-B14F-4D97-AF65-F5344CB8AC3E}">
        <p14:creationId xmlns:p14="http://schemas.microsoft.com/office/powerpoint/2010/main" val="6324985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6995F-B4DB-3412-303D-B2EF782B7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2E4EC6C-CB12-7280-8292-2F854F7BC760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C07143-5570-CA49-A584-057CA14EB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7" y="380263"/>
            <a:ext cx="1109558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400" dirty="0">
                <a:solidFill>
                  <a:schemeClr val="bg1"/>
                </a:solidFill>
              </a:rPr>
              <a:t>Изменение уровня заряда </a:t>
            </a:r>
            <a:r>
              <a:rPr lang="ru-RU" sz="5400" dirty="0"/>
              <a:t>аккумулятора</a:t>
            </a:r>
            <a:endParaRPr lang="ru-RU" sz="5000" dirty="0">
              <a:solidFill>
                <a:srgbClr val="006CDC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37938CC-2D80-A898-CA18-8E6B8F3CD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392" y="3362010"/>
            <a:ext cx="5939790" cy="22098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9E52EAA-188F-B9AD-ED1B-4A8ADC23B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32" y="3429000"/>
            <a:ext cx="5796327" cy="21180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BCBACBC-CCD6-0175-896D-26B3B7F6BAB6}"/>
              </a:ext>
            </a:extLst>
          </p:cNvPr>
          <p:cNvSpPr txBox="1"/>
          <p:nvPr/>
        </p:nvSpPr>
        <p:spPr>
          <a:xfrm>
            <a:off x="2326505" y="2865012"/>
            <a:ext cx="173386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500" dirty="0"/>
              <a:t>В городе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F03BAC-33CC-3167-67FA-A55ED1E48678}"/>
              </a:ext>
            </a:extLst>
          </p:cNvPr>
          <p:cNvSpPr txBox="1"/>
          <p:nvPr/>
        </p:nvSpPr>
        <p:spPr>
          <a:xfrm>
            <a:off x="8260354" y="2887385"/>
            <a:ext cx="173386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500" dirty="0"/>
              <a:t>На трассе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8A2BBD-1E10-8AEE-B735-838A9E257FAA}"/>
              </a:ext>
            </a:extLst>
          </p:cNvPr>
          <p:cNvSpPr txBox="1"/>
          <p:nvPr/>
        </p:nvSpPr>
        <p:spPr>
          <a:xfrm>
            <a:off x="2184990" y="5872317"/>
            <a:ext cx="238700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500" dirty="0"/>
              <a:t>Разряд на 2%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DEE34-8669-CCED-073A-B6F2558B4620}"/>
              </a:ext>
            </a:extLst>
          </p:cNvPr>
          <p:cNvSpPr txBox="1"/>
          <p:nvPr/>
        </p:nvSpPr>
        <p:spPr>
          <a:xfrm>
            <a:off x="7933782" y="5807908"/>
            <a:ext cx="238700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500" dirty="0"/>
              <a:t>Заряд на 7%</a:t>
            </a:r>
          </a:p>
        </p:txBody>
      </p:sp>
    </p:spTree>
    <p:extLst>
      <p:ext uri="{BB962C8B-B14F-4D97-AF65-F5344CB8AC3E}">
        <p14:creationId xmlns:p14="http://schemas.microsoft.com/office/powerpoint/2010/main" val="953793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CA9CF-B106-5093-25AC-9FCF3BA3A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8064F0-E7D7-0C25-7C7C-6BE4B6283CC3}"/>
              </a:ext>
            </a:extLst>
          </p:cNvPr>
          <p:cNvSpPr/>
          <p:nvPr/>
        </p:nvSpPr>
        <p:spPr>
          <a:xfrm>
            <a:off x="0" y="1"/>
            <a:ext cx="12192000" cy="1240970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37BA5238-1409-63C7-554A-D7824D0B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477" y="380263"/>
            <a:ext cx="11095580" cy="1424696"/>
          </a:xfrm>
        </p:spPr>
        <p:txBody>
          <a:bodyPr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5000" dirty="0">
                <a:solidFill>
                  <a:schemeClr val="bg1"/>
                </a:solidFill>
              </a:rPr>
              <a:t>Анализ результатов</a:t>
            </a:r>
            <a:endParaRPr lang="ru-RU" sz="5000" dirty="0">
              <a:solidFill>
                <a:srgbClr val="006CDC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E0994EC-5BDA-E215-D3A8-1A6CA9DE0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113" y="2396987"/>
            <a:ext cx="10344999" cy="20640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C85BCC-5EEE-F98B-E6C5-1181C5117E60}"/>
              </a:ext>
            </a:extLst>
          </p:cNvPr>
          <p:cNvSpPr txBox="1"/>
          <p:nvPr/>
        </p:nvSpPr>
        <p:spPr>
          <a:xfrm>
            <a:off x="4035563" y="4863860"/>
            <a:ext cx="17338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500" dirty="0"/>
              <a:t> Выигрыш 30%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E69CEF-87D7-1736-C932-4B1378509A0E}"/>
              </a:ext>
            </a:extLst>
          </p:cNvPr>
          <p:cNvSpPr txBox="1"/>
          <p:nvPr/>
        </p:nvSpPr>
        <p:spPr>
          <a:xfrm>
            <a:off x="9358677" y="4863860"/>
            <a:ext cx="17338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500" dirty="0"/>
              <a:t> Выигрыш 4%</a:t>
            </a:r>
          </a:p>
        </p:txBody>
      </p:sp>
    </p:spTree>
    <p:extLst>
      <p:ext uri="{BB962C8B-B14F-4D97-AF65-F5344CB8AC3E}">
        <p14:creationId xmlns:p14="http://schemas.microsoft.com/office/powerpoint/2010/main" val="131637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CD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63C3A7-8952-8DBA-B83B-0FD9927F6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92EBC7C7-B43F-20BD-0D92-463D1164F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4287" y="2369136"/>
            <a:ext cx="5246913" cy="52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7886D9-893B-FB6F-63E9-F4CC04C527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3432" y="1404257"/>
            <a:ext cx="9241971" cy="2226431"/>
          </a:xfrm>
        </p:spPr>
        <p:txBody>
          <a:bodyPr>
            <a:noAutofit/>
          </a:bodyPr>
          <a:lstStyle/>
          <a:p>
            <a:pPr algn="l"/>
            <a:r>
              <a:rPr lang="ru-RU" sz="5000" b="1" dirty="0">
                <a:solidFill>
                  <a:schemeClr val="bg1"/>
                </a:solidFill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99043616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thic">
      <a:majorFont>
        <a:latin typeface="Arial Rounded MT Bold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1067</TotalTime>
  <Words>165</Words>
  <Application>Microsoft Office PowerPoint</Application>
  <PresentationFormat>Широкоэкранный</PresentationFormat>
  <Paragraphs>54</Paragraphs>
  <Slides>15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ALS Sector Regular</vt:lpstr>
      <vt:lpstr>Arial</vt:lpstr>
      <vt:lpstr>Arial Rounded MT Bold</vt:lpstr>
      <vt:lpstr>Calibri</vt:lpstr>
      <vt:lpstr>Тема Office</vt:lpstr>
      <vt:lpstr>АНАЛИЗ ЭНЕРГОЭФФЕКТИВНОСТИ АВТОМОБИЛЯ ПРИ ДВИЖЕНИИ В РАЗЛИЧНЫХ УСЛОВИЯХ</vt:lpstr>
      <vt:lpstr>Исследуемая схема автомобиля</vt:lpstr>
      <vt:lpstr>ДВС 2ZR-FZE</vt:lpstr>
      <vt:lpstr>Вариатор JF009e</vt:lpstr>
      <vt:lpstr>Электродвигатель HVM-PM1-18</vt:lpstr>
      <vt:lpstr>Выбор ездовых циклов</vt:lpstr>
      <vt:lpstr>Поиск оптимальной точки</vt:lpstr>
      <vt:lpstr>Топливный эквивалент s</vt:lpstr>
      <vt:lpstr>Алгоритм управления гибридом</vt:lpstr>
      <vt:lpstr>Допущения модели</vt:lpstr>
      <vt:lpstr>Результаты</vt:lpstr>
      <vt:lpstr>Результаты</vt:lpstr>
      <vt:lpstr>Изменение уровня заряда аккумулятора</vt:lpstr>
      <vt:lpstr>Анализ результатов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Tamashny Sag</dc:creator>
  <cp:lastModifiedBy>Tamashny Sag</cp:lastModifiedBy>
  <cp:revision>40</cp:revision>
  <dcterms:created xsi:type="dcterms:W3CDTF">2026-04-05T13:29:33Z</dcterms:created>
  <dcterms:modified xsi:type="dcterms:W3CDTF">2026-05-25T13:07:29Z</dcterms:modified>
</cp:coreProperties>
</file>