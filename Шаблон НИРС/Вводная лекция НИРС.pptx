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26"/>
  </p:notesMasterIdLst>
  <p:sldIdLst>
    <p:sldId id="257" r:id="rId2"/>
    <p:sldId id="264" r:id="rId3"/>
    <p:sldId id="261" r:id="rId4"/>
    <p:sldId id="265" r:id="rId5"/>
    <p:sldId id="263" r:id="rId6"/>
    <p:sldId id="267" r:id="rId7"/>
    <p:sldId id="266" r:id="rId8"/>
    <p:sldId id="268" r:id="rId9"/>
    <p:sldId id="269" r:id="rId10"/>
    <p:sldId id="270" r:id="rId11"/>
    <p:sldId id="271" r:id="rId12"/>
    <p:sldId id="272" r:id="rId13"/>
    <p:sldId id="273" r:id="rId14"/>
    <p:sldId id="274" r:id="rId15"/>
    <p:sldId id="275" r:id="rId16"/>
    <p:sldId id="276" r:id="rId17"/>
    <p:sldId id="277" r:id="rId18"/>
    <p:sldId id="278" r:id="rId19"/>
    <p:sldId id="279" r:id="rId20"/>
    <p:sldId id="280" r:id="rId21"/>
    <p:sldId id="281" r:id="rId22"/>
    <p:sldId id="282" r:id="rId23"/>
    <p:sldId id="283" r:id="rId24"/>
    <p:sldId id="284" r:id="rId25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Средний стиль 2 — акцент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BDBED569-4797-4DF1-A0F4-6AAB3CD982D8}" styleName="Светлый стиль 3 — акцент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81" autoAdjust="0"/>
    <p:restoredTop sz="94660"/>
  </p:normalViewPr>
  <p:slideViewPr>
    <p:cSldViewPr snapToGrid="0">
      <p:cViewPr varScale="1">
        <p:scale>
          <a:sx n="163" d="100"/>
          <a:sy n="163" d="100"/>
        </p:scale>
        <p:origin x="1632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2EA45C-91F6-4981-849D-A9920BBEC22C}" type="datetimeFigureOut">
              <a:rPr lang="ru-RU" smtClean="0"/>
              <a:t>27.04.2024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ECC38A-66A4-4AC9-8B3D-B614837AB6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27406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ECC38A-66A4-4AC9-8B3D-B614837AB6CD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923203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204651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6032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1737832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73756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6153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25250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01503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29127785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0933976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73702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22809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 dirty="0"/>
          </a:p>
        </p:txBody>
      </p:sp>
      <p:pic>
        <p:nvPicPr>
          <p:cNvPr id="7" name="Picture 6"/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0" y="0"/>
            <a:ext cx="955623" cy="9551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4A25C489-E7F9-4078-96E7-AC0A81A21294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8257017" y="79349"/>
            <a:ext cx="796949" cy="800974"/>
          </a:xfrm>
          <a:prstGeom prst="rect">
            <a:avLst/>
          </a:prstGeom>
        </p:spPr>
      </p:pic>
      <p:sp>
        <p:nvSpPr>
          <p:cNvPr id="10" name="Прямоугольник 9"/>
          <p:cNvSpPr/>
          <p:nvPr userDrawn="1"/>
        </p:nvSpPr>
        <p:spPr>
          <a:xfrm>
            <a:off x="8686824" y="6488668"/>
            <a:ext cx="45717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C8DC7FF7-A9B4-4F2D-9A00-659A0D360BC6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52157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microsoft.com/office/2007/relationships/hdphoto" Target="../media/hdphoto2.wdp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microsoft.com/office/2007/relationships/hdphoto" Target="../media/hdphoto4.wdp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microsoft.com/office/2007/relationships/hdphoto" Target="../media/hdphoto6.wdp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7.wdp"/><Relationship Id="rId7" Type="http://schemas.microsoft.com/office/2007/relationships/hdphoto" Target="../media/hdphoto9.wdp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microsoft.com/office/2007/relationships/hdphoto" Target="../media/hdphoto8.wdp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10.wdp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microsoft.com/office/2007/relationships/hdphoto" Target="../media/hdphoto11.wdp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07/relationships/hdphoto" Target="../media/hdphoto12.wdp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microsoft.com/office/2007/relationships/hdphoto" Target="../media/hdphoto13.wdp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microsoft.com/office/2007/relationships/hdphoto" Target="../media/hdphoto14.wdp"/><Relationship Id="rId7" Type="http://schemas.microsoft.com/office/2007/relationships/hdphoto" Target="../media/hdphoto16.wdp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microsoft.com/office/2007/relationships/hdphoto" Target="../media/hdphoto15.wdp"/><Relationship Id="rId4" Type="http://schemas.openxmlformats.org/officeDocument/2006/relationships/image" Target="../media/image19.png"/><Relationship Id="rId9" Type="http://schemas.microsoft.com/office/2007/relationships/hdphoto" Target="../media/hdphoto17.wdp"/></Relationships>
</file>

<file path=ppt/slides/_rels/slide15.xml.rels><?xml version="1.0" encoding="UTF-8" standalone="yes"?>
<Relationships xmlns="http://schemas.openxmlformats.org/package/2006/relationships"><Relationship Id="rId3" Type="http://schemas.microsoft.com/office/2007/relationships/hdphoto" Target="../media/hdphoto18.wdp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5" Type="http://schemas.microsoft.com/office/2007/relationships/hdphoto" Target="../media/hdphoto19.wdp"/><Relationship Id="rId4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3" Type="http://schemas.microsoft.com/office/2007/relationships/hdphoto" Target="../media/hdphoto20.wdp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5" Type="http://schemas.microsoft.com/office/2007/relationships/hdphoto" Target="../media/hdphoto21.wdp"/><Relationship Id="rId4" Type="http://schemas.openxmlformats.org/officeDocument/2006/relationships/image" Target="../media/image25.png"/></Relationships>
</file>

<file path=ppt/slides/_rels/slide17.xml.rels><?xml version="1.0" encoding="UTF-8" standalone="yes"?>
<Relationships xmlns="http://schemas.openxmlformats.org/package/2006/relationships"><Relationship Id="rId3" Type="http://schemas.microsoft.com/office/2007/relationships/hdphoto" Target="../media/hdphoto22.wdp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5" Type="http://schemas.microsoft.com/office/2007/relationships/hdphoto" Target="../media/hdphoto23.wdp"/><Relationship Id="rId4" Type="http://schemas.openxmlformats.org/officeDocument/2006/relationships/image" Target="../media/image27.png"/></Relationships>
</file>

<file path=ppt/slides/_rels/slide18.xml.rels><?xml version="1.0" encoding="UTF-8" standalone="yes"?>
<Relationships xmlns="http://schemas.openxmlformats.org/package/2006/relationships"><Relationship Id="rId3" Type="http://schemas.microsoft.com/office/2007/relationships/hdphoto" Target="../media/hdphoto24.wdp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5" Type="http://schemas.microsoft.com/office/2007/relationships/hdphoto" Target="../media/hdphoto25.wdp"/><Relationship Id="rId4" Type="http://schemas.openxmlformats.org/officeDocument/2006/relationships/image" Target="../media/image29.png"/></Relationships>
</file>

<file path=ppt/slides/_rels/slide19.xml.rels><?xml version="1.0" encoding="UTF-8" standalone="yes"?>
<Relationships xmlns="http://schemas.openxmlformats.org/package/2006/relationships"><Relationship Id="rId3" Type="http://schemas.microsoft.com/office/2007/relationships/hdphoto" Target="../media/hdphoto26.wdp"/><Relationship Id="rId7" Type="http://schemas.microsoft.com/office/2007/relationships/hdphoto" Target="../media/hdphoto28.wdp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microsoft.com/office/2007/relationships/hdphoto" Target="../media/hdphoto27.wdp"/><Relationship Id="rId4" Type="http://schemas.openxmlformats.org/officeDocument/2006/relationships/image" Target="../media/image31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microsoft.com/office/2007/relationships/hdphoto" Target="../media/hdphoto29.wdp"/><Relationship Id="rId7" Type="http://schemas.microsoft.com/office/2007/relationships/hdphoto" Target="../media/hdphoto31.wdp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5" Type="http://schemas.microsoft.com/office/2007/relationships/hdphoto" Target="../media/hdphoto30.wdp"/><Relationship Id="rId4" Type="http://schemas.openxmlformats.org/officeDocument/2006/relationships/image" Target="../media/image34.png"/><Relationship Id="rId9" Type="http://schemas.microsoft.com/office/2007/relationships/hdphoto" Target="../media/hdphoto32.wdp"/></Relationships>
</file>

<file path=ppt/slides/_rels/slide21.xml.rels><?xml version="1.0" encoding="UTF-8" standalone="yes"?>
<Relationships xmlns="http://schemas.openxmlformats.org/package/2006/relationships"><Relationship Id="rId3" Type="http://schemas.microsoft.com/office/2007/relationships/hdphoto" Target="../media/hdphoto33.wdp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5" Type="http://schemas.microsoft.com/office/2007/relationships/hdphoto" Target="../media/hdphoto34.wdp"/><Relationship Id="rId4" Type="http://schemas.openxmlformats.org/officeDocument/2006/relationships/image" Target="../media/image38.png"/></Relationships>
</file>

<file path=ppt/slides/_rels/slide22.xml.rels><?xml version="1.0" encoding="UTF-8" standalone="yes"?>
<Relationships xmlns="http://schemas.openxmlformats.org/package/2006/relationships"><Relationship Id="rId3" Type="http://schemas.microsoft.com/office/2007/relationships/hdphoto" Target="../media/hdphoto35.wdp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373589" y="2696491"/>
            <a:ext cx="82969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b="1" dirty="0"/>
              <a:t>Научно-исследовательская работа студента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2391" y="147539"/>
            <a:ext cx="72793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dirty="0"/>
              <a:t>«Московский государственный технический университет им. Н.Э. Баумана»</a:t>
            </a:r>
          </a:p>
          <a:p>
            <a:pPr algn="ctr"/>
            <a:r>
              <a:rPr lang="ru-RU" sz="1600" dirty="0"/>
              <a:t>(МГТУ им. Н.Э. Баумана)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5846" y="6414994"/>
            <a:ext cx="60315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Kositsyn_b@bmstu.ru</a:t>
            </a:r>
            <a:endParaRPr lang="ru-RU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243598" y="4137306"/>
            <a:ext cx="46771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/>
              <a:t>На кафедре СМ-10 «Колесные машины»</a:t>
            </a:r>
          </a:p>
        </p:txBody>
      </p:sp>
    </p:spTree>
    <p:extLst>
      <p:ext uri="{BB962C8B-B14F-4D97-AF65-F5344CB8AC3E}">
        <p14:creationId xmlns:p14="http://schemas.microsoft.com/office/powerpoint/2010/main" val="23203660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43609"/>
            <a:ext cx="7886700" cy="806262"/>
          </a:xfrm>
        </p:spPr>
        <p:txBody>
          <a:bodyPr>
            <a:normAutofit/>
          </a:bodyPr>
          <a:lstStyle/>
          <a:p>
            <a:pPr algn="ctr"/>
            <a:r>
              <a:rPr lang="ru-RU" sz="2800" b="1" dirty="0">
                <a:latin typeface="+mn-lt"/>
                <a:ea typeface="+mn-ea"/>
                <a:cs typeface="+mn-cs"/>
              </a:rPr>
              <a:t>Состав отчета о</a:t>
            </a:r>
            <a:r>
              <a:rPr lang="ru-RU" sz="2800" b="1" dirty="0">
                <a:latin typeface="+mn-lt"/>
              </a:rPr>
              <a:t> НИРС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43803" y="849871"/>
            <a:ext cx="7886700" cy="4511268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ru-RU" dirty="0"/>
              <a:t>Отчет о НИРС должен содержать следующие разделы:</a:t>
            </a:r>
          </a:p>
          <a:p>
            <a:r>
              <a:rPr lang="ru-RU" dirty="0"/>
              <a:t>титульный лист;</a:t>
            </a:r>
          </a:p>
          <a:p>
            <a:r>
              <a:rPr lang="ru-RU" dirty="0"/>
              <a:t>задание на НИРС;</a:t>
            </a:r>
          </a:p>
          <a:p>
            <a:r>
              <a:rPr lang="ru-RU" dirty="0"/>
              <a:t>реферат;</a:t>
            </a:r>
          </a:p>
          <a:p>
            <a:r>
              <a:rPr lang="ru-RU" dirty="0"/>
              <a:t>содержание;</a:t>
            </a:r>
          </a:p>
          <a:p>
            <a:r>
              <a:rPr lang="ru-RU" dirty="0"/>
              <a:t>перечень сокращений и обозначений (при необходимости);</a:t>
            </a:r>
          </a:p>
          <a:p>
            <a:r>
              <a:rPr lang="ru-RU" dirty="0"/>
              <a:t>введение;</a:t>
            </a:r>
          </a:p>
          <a:p>
            <a:r>
              <a:rPr lang="ru-RU" dirty="0"/>
              <a:t>основная часть отчета о НИРС;</a:t>
            </a:r>
          </a:p>
          <a:p>
            <a:r>
              <a:rPr lang="ru-RU" dirty="0"/>
              <a:t>заключение;</a:t>
            </a:r>
          </a:p>
          <a:p>
            <a:r>
              <a:rPr lang="ru-RU" dirty="0"/>
              <a:t>список использованных источников;</a:t>
            </a:r>
          </a:p>
          <a:p>
            <a:r>
              <a:rPr lang="ru-RU" dirty="0"/>
              <a:t>приложения (при необходимости);</a:t>
            </a:r>
          </a:p>
          <a:p>
            <a:endParaRPr lang="ru-RU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1754939" y="5393989"/>
            <a:ext cx="532934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Объем отчета о НИРС определяется руководителем.</a:t>
            </a:r>
          </a:p>
          <a:p>
            <a:pPr algn="ctr"/>
            <a:r>
              <a:rPr lang="ru-RU" dirty="0"/>
              <a:t>Рекомендуемый объем отчета 25-30 стр.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0" y="6073170"/>
            <a:ext cx="9144000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ru-RU" dirty="0">
                <a:solidFill>
                  <a:srgbClr val="FF0000"/>
                </a:solidFill>
              </a:rPr>
              <a:t>Оформление отчетов по НИРС должны соответствовать требованиями к научно-исследовательским отчетам (ГОСТ 7.32</a:t>
            </a:r>
            <a:r>
              <a:rPr lang="en-US" dirty="0">
                <a:solidFill>
                  <a:srgbClr val="FF0000"/>
                </a:solidFill>
              </a:rPr>
              <a:t>-2017</a:t>
            </a:r>
            <a:r>
              <a:rPr lang="ru-RU" dirty="0">
                <a:solidFill>
                  <a:srgbClr val="FF0000"/>
                </a:solidFill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38829694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1167378" y="417490"/>
            <a:ext cx="68092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b="1" dirty="0"/>
              <a:t>Требования к содержанию НИРС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-1" y="1395133"/>
            <a:ext cx="9144000" cy="45322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25000"/>
              </a:lnSpc>
              <a:buAutoNum type="arabicPeriod"/>
            </a:pPr>
            <a:r>
              <a:rPr lang="ru-RU" dirty="0"/>
              <a:t>В рамках обзорного НИРС (допускается только для 4 курса и первого семестра первого курса маги</a:t>
            </a:r>
            <a:r>
              <a:rPr lang="en-US" dirty="0"/>
              <a:t>c</a:t>
            </a:r>
            <a:r>
              <a:rPr lang="ru-RU" dirty="0" err="1"/>
              <a:t>тратуры</a:t>
            </a:r>
            <a:r>
              <a:rPr lang="ru-RU" dirty="0"/>
              <a:t>) обязательно должен присутствовать обзор научных статей и патентов по рассматриваемому вопросу со ссылками и кратким содержанием. Результатом должен является выбор одного из проанализированных решений для применения в КП (обзор патентов выполняется по ГОСТ);</a:t>
            </a:r>
          </a:p>
          <a:p>
            <a:pPr marL="342900" indent="-342900" algn="just">
              <a:lnSpc>
                <a:spcPct val="125000"/>
              </a:lnSpc>
              <a:buAutoNum type="arabicPeriod"/>
            </a:pPr>
            <a:r>
              <a:rPr lang="ru-RU" dirty="0"/>
              <a:t>Основные положения НИРС должны отличаться новизной</a:t>
            </a:r>
            <a:r>
              <a:rPr lang="en-US" dirty="0"/>
              <a:t> (</a:t>
            </a:r>
            <a:r>
              <a:rPr lang="ru-RU" dirty="0"/>
              <a:t>разработана новая математическая модель или ее часть, разработан новый закон управления, проведена оптимизация конструкции, проведены экспериментальные исследования и т.д.</a:t>
            </a:r>
            <a:r>
              <a:rPr lang="en-US" dirty="0"/>
              <a:t>)</a:t>
            </a:r>
            <a:r>
              <a:rPr lang="ru-RU" dirty="0"/>
              <a:t>;</a:t>
            </a:r>
          </a:p>
          <a:p>
            <a:pPr marL="342900" indent="-342900" algn="just">
              <a:lnSpc>
                <a:spcPct val="125000"/>
              </a:lnSpc>
              <a:buAutoNum type="arabicPeriod"/>
            </a:pPr>
            <a:r>
              <a:rPr lang="ru-RU" dirty="0"/>
              <a:t>НИРС должен содержать научные исследования, а не инженерные расчеты (проведена оптимизация, выбраны рациональные параметры системы, разработан закон управления и т.д.);</a:t>
            </a:r>
          </a:p>
          <a:p>
            <a:pPr marL="342900" indent="-342900" algn="just">
              <a:lnSpc>
                <a:spcPct val="125000"/>
              </a:lnSpc>
              <a:buAutoNum type="arabicPeriod"/>
            </a:pPr>
            <a:r>
              <a:rPr lang="ru-RU" dirty="0"/>
              <a:t>НИРС должен иметь связь с курсовым проектом.</a:t>
            </a:r>
          </a:p>
          <a:p>
            <a:pPr marL="342900" indent="-342900" algn="just">
              <a:lnSpc>
                <a:spcPct val="125000"/>
              </a:lnSpc>
              <a:buAutoNum type="arabicPeriod"/>
            </a:pPr>
            <a:endParaRPr lang="ru-RU" sz="1600" dirty="0"/>
          </a:p>
        </p:txBody>
      </p:sp>
    </p:spTree>
    <p:extLst>
      <p:ext uri="{BB962C8B-B14F-4D97-AF65-F5344CB8AC3E}">
        <p14:creationId xmlns:p14="http://schemas.microsoft.com/office/powerpoint/2010/main" val="9531662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49356" y="203761"/>
            <a:ext cx="7886700" cy="716615"/>
          </a:xfrm>
        </p:spPr>
        <p:txBody>
          <a:bodyPr>
            <a:normAutofit/>
          </a:bodyPr>
          <a:lstStyle/>
          <a:p>
            <a:pPr algn="ctr"/>
            <a:r>
              <a:rPr lang="ru-RU" sz="2800" b="1" dirty="0">
                <a:latin typeface="+mn-lt"/>
              </a:rPr>
              <a:t>Порядок регистрации задания на НИРС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0" y="5878630"/>
            <a:ext cx="914400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dirty="0">
                <a:solidFill>
                  <a:srgbClr val="FF0000"/>
                </a:solidFill>
              </a:rPr>
              <a:t>Студент обязан получить задание на НИРС и зарегистрировать его у ответственного до 3-й недели семестра. В противном случае студенту будет объявлен выговор!!!</a:t>
            </a:r>
          </a:p>
        </p:txBody>
      </p:sp>
      <p:sp>
        <p:nvSpPr>
          <p:cNvPr id="6" name="Объект 2"/>
          <p:cNvSpPr txBox="1">
            <a:spLocks/>
          </p:cNvSpPr>
          <p:nvPr/>
        </p:nvSpPr>
        <p:spPr>
          <a:xfrm>
            <a:off x="1" y="1260145"/>
            <a:ext cx="9144000" cy="42680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 algn="just">
              <a:lnSpc>
                <a:spcPct val="100000"/>
              </a:lnSpc>
              <a:buFont typeface="+mj-lt"/>
              <a:buAutoNum type="arabicPeriod"/>
            </a:pPr>
            <a:r>
              <a:rPr lang="ru-RU" sz="2000"/>
              <a:t>Студент записывается к преподавателю на НИРС;</a:t>
            </a:r>
          </a:p>
          <a:p>
            <a:pPr marL="514350" indent="-514350" algn="just">
              <a:lnSpc>
                <a:spcPct val="100000"/>
              </a:lnSpc>
              <a:buFont typeface="+mj-lt"/>
              <a:buAutoNum type="arabicPeriod"/>
            </a:pPr>
            <a:r>
              <a:rPr lang="ru-RU" sz="2000"/>
              <a:t>Студент согласовывает задание на НИРС с преподавателем;</a:t>
            </a:r>
          </a:p>
          <a:p>
            <a:pPr marL="514350" indent="-514350" algn="just">
              <a:lnSpc>
                <a:spcPct val="100000"/>
              </a:lnSpc>
              <a:buFont typeface="+mj-lt"/>
              <a:buAutoNum type="arabicPeriod"/>
            </a:pPr>
            <a:r>
              <a:rPr lang="ru-RU" sz="2000"/>
              <a:t>Преподаватель заполняет задание на НИРС и выдает его студенту;</a:t>
            </a:r>
          </a:p>
          <a:p>
            <a:pPr marL="514350" indent="-514350" algn="just">
              <a:lnSpc>
                <a:spcPct val="100000"/>
              </a:lnSpc>
              <a:buFont typeface="+mj-lt"/>
              <a:buAutoNum type="arabicPeriod"/>
            </a:pPr>
            <a:r>
              <a:rPr lang="ru-RU" sz="2000"/>
              <a:t>После выдачи задание визируется у ответственного за НИРС (Косицын Б.Б.). Ответственный за НИРС проверяет задание на соответствие установленным требованиям;</a:t>
            </a:r>
          </a:p>
          <a:p>
            <a:pPr marL="514350" indent="-514350" algn="just">
              <a:lnSpc>
                <a:spcPct val="100000"/>
              </a:lnSpc>
              <a:buFont typeface="+mj-lt"/>
              <a:buAutoNum type="arabicPeriod"/>
            </a:pPr>
            <a:r>
              <a:rPr lang="ru-RU" sz="2000"/>
              <a:t>Преподаватель передает ответственному за НИРС электронную версию задания (</a:t>
            </a:r>
            <a:r>
              <a:rPr lang="en-US" sz="2000"/>
              <a:t>email</a:t>
            </a:r>
            <a:r>
              <a:rPr lang="ru-RU" sz="2000"/>
              <a:t>: </a:t>
            </a:r>
            <a:r>
              <a:rPr lang="en-US" sz="2000"/>
              <a:t>kositsyn_b@bmstu.ru</a:t>
            </a:r>
            <a:r>
              <a:rPr lang="ru-RU" sz="2000"/>
              <a:t>)</a:t>
            </a:r>
          </a:p>
          <a:p>
            <a:pPr marL="514350" indent="-514350" algn="just">
              <a:lnSpc>
                <a:spcPct val="100000"/>
              </a:lnSpc>
              <a:buFont typeface="+mj-lt"/>
              <a:buAutoNum type="arabicPeriod"/>
            </a:pPr>
            <a:r>
              <a:rPr lang="ru-RU" sz="2000"/>
              <a:t>Ответственный за НИРС вносит задание в базу данных, после чего студент считается приступившим к НИРС.</a:t>
            </a:r>
          </a:p>
          <a:p>
            <a:pPr marL="0" indent="0" algn="just">
              <a:buFont typeface="Arial" panose="020B0604020202020204" pitchFamily="34" charset="0"/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290911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1128460" y="43961"/>
            <a:ext cx="680924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b="1" dirty="0"/>
              <a:t>Пример технического задания на НИРС 201</a:t>
            </a:r>
            <a:r>
              <a:rPr lang="en-US" sz="2800" b="1" dirty="0"/>
              <a:t>9</a:t>
            </a:r>
            <a:r>
              <a:rPr lang="ru-RU" sz="2800" b="1" dirty="0"/>
              <a:t>/20</a:t>
            </a:r>
            <a:r>
              <a:rPr lang="en-US" sz="2800" b="1" dirty="0"/>
              <a:t>20</a:t>
            </a:r>
            <a:r>
              <a:rPr lang="ru-RU" sz="2800" b="1" dirty="0"/>
              <a:t> уч. год</a:t>
            </a: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3887207" y="1957473"/>
            <a:ext cx="5863014" cy="3807590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-184647" y="1846077"/>
            <a:ext cx="5859320" cy="4026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21573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>
            <a:spLocks noGrp="1"/>
          </p:cNvSpPr>
          <p:nvPr>
            <p:ph type="title"/>
          </p:nvPr>
        </p:nvSpPr>
        <p:spPr>
          <a:xfrm>
            <a:off x="449356" y="203761"/>
            <a:ext cx="7886700" cy="716615"/>
          </a:xfrm>
        </p:spPr>
        <p:txBody>
          <a:bodyPr>
            <a:normAutofit/>
          </a:bodyPr>
          <a:lstStyle/>
          <a:p>
            <a:pPr algn="ctr"/>
            <a:r>
              <a:rPr lang="ru-RU" sz="2800" b="1" dirty="0">
                <a:latin typeface="+mn-lt"/>
              </a:rPr>
              <a:t>Работа над НИРС в течении семестра</a:t>
            </a:r>
          </a:p>
        </p:txBody>
      </p:sp>
      <p:sp>
        <p:nvSpPr>
          <p:cNvPr id="7" name="Объект 2"/>
          <p:cNvSpPr txBox="1">
            <a:spLocks/>
          </p:cNvSpPr>
          <p:nvPr/>
        </p:nvSpPr>
        <p:spPr>
          <a:xfrm>
            <a:off x="0" y="906094"/>
            <a:ext cx="9144000" cy="595190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 algn="just">
              <a:lnSpc>
                <a:spcPct val="100000"/>
              </a:lnSpc>
              <a:buFont typeface="+mj-lt"/>
              <a:buAutoNum type="arabicPeriod"/>
            </a:pPr>
            <a:r>
              <a:rPr lang="ru-RU" sz="1300" dirty="0"/>
              <a:t>После получения задания студент начинает выполнение НИРС;</a:t>
            </a:r>
          </a:p>
          <a:p>
            <a:pPr marL="514350" indent="-514350" algn="just">
              <a:lnSpc>
                <a:spcPct val="100000"/>
              </a:lnSpc>
              <a:buFont typeface="+mj-lt"/>
              <a:buAutoNum type="arabicPeriod"/>
            </a:pPr>
            <a:r>
              <a:rPr lang="ru-RU" sz="1300" dirty="0"/>
              <a:t>К первому модулю студент должен выполнить все задачи, указанные в соответствующем разделе задания и продемонстрировать результаты работы комиссии. При защите модуля студент должен представить подписанное (студентом, руководителем и ответственным за НИРС) задание. По результатам модуля студенту выставляются баллы (18/30). В случае получения менее 18 баллов модуль считается несданным. Период проведения модуля ориентировочно 8-неделя, в случае если модуль считается несданным повторная сдача допускается только на следующей неделе в установленный день;</a:t>
            </a:r>
          </a:p>
          <a:p>
            <a:pPr marL="514350" indent="-514350" algn="just">
              <a:lnSpc>
                <a:spcPct val="100000"/>
              </a:lnSpc>
              <a:buFont typeface="+mj-lt"/>
              <a:buAutoNum type="arabicPeriod"/>
            </a:pPr>
            <a:r>
              <a:rPr lang="ru-RU" sz="1300" dirty="0"/>
              <a:t>Ко второму модулю студент должен выполнить все задачи, указанные к обоим модулям и продемонстрировать результаты работы комиссии. При защите модуля студент также должен представить подписанное (студентом, руководителем и ответственным за НИРС) задание. По результатам модуля студенту выставляются баллы (18/30). В случае получения менее 18 баллов модуль считается несданным. Период проведения модуля ориентировочно 14-неделя, в случае если модуль считается несданным повторная сдача допускается только на следующей неделе в установленный день;</a:t>
            </a:r>
          </a:p>
          <a:p>
            <a:pPr marL="514350" indent="-514350" algn="just">
              <a:lnSpc>
                <a:spcPct val="100000"/>
              </a:lnSpc>
              <a:buFont typeface="+mj-lt"/>
              <a:buAutoNum type="arabicPeriod"/>
            </a:pPr>
            <a:r>
              <a:rPr lang="ru-RU" sz="1300" dirty="0"/>
              <a:t>По завершению НИРС студент должен получить на титульном листе подпись руководителя, которая является подтверждением того, что  НИРС выполнен;</a:t>
            </a:r>
          </a:p>
          <a:p>
            <a:pPr marL="514350" indent="-514350" algn="just">
              <a:lnSpc>
                <a:spcPct val="100000"/>
              </a:lnSpc>
              <a:buFont typeface="+mj-lt"/>
              <a:buAutoNum type="arabicPeriod"/>
            </a:pPr>
            <a:r>
              <a:rPr lang="ru-RU" sz="1300" dirty="0"/>
              <a:t>Подписанный руководителем НИРС (в бумажном виде) студент относит на контроль ответственному за НИРС. Ответственный проверяет правильность оформления работы и соответствие заданию, после чего ставит свою подпись на титульном листе и отмечает количество набранных баллов по результатам модулей. В случае не выполнения требований к НИРС студент отправляется на доработку; </a:t>
            </a:r>
          </a:p>
          <a:p>
            <a:pPr marL="514350" indent="-514350" algn="just">
              <a:lnSpc>
                <a:spcPct val="100000"/>
              </a:lnSpc>
              <a:buFont typeface="+mj-lt"/>
              <a:buAutoNum type="arabicPeriod"/>
            </a:pPr>
            <a:r>
              <a:rPr lang="ru-RU" sz="1300" dirty="0"/>
              <a:t>Для получения подписи ответственного по НИРС студент должен передать ему окончательную версию отчета по НИРС в электронном виде (в формате </a:t>
            </a:r>
            <a:r>
              <a:rPr lang="en-US" sz="1300" dirty="0"/>
              <a:t>*.pdf</a:t>
            </a:r>
            <a:r>
              <a:rPr lang="ru-RU" sz="1300" dirty="0"/>
              <a:t>);</a:t>
            </a:r>
          </a:p>
          <a:p>
            <a:pPr marL="514350" indent="-514350" algn="just">
              <a:lnSpc>
                <a:spcPct val="100000"/>
              </a:lnSpc>
              <a:buFont typeface="+mj-lt"/>
              <a:buAutoNum type="arabicPeriod"/>
            </a:pPr>
            <a:r>
              <a:rPr lang="ru-RU" sz="1300" dirty="0"/>
              <a:t>После получения подписи руководителя и ответственного по НИРС студент считается допущенным к защите. В процессе защиты комиссия выставляет студенту баллы (24/40). В случае получения менее 24 баллов НИРС считается не защищенным и студент отправляется на доработку. По результатам набранных баллов (по результатам модулей и защиты) студент получает окончательную оценку (85-100 отлично; 71-84 хорошо; 60-70 удовлетворительно; 0-59 неудовлетворительно).</a:t>
            </a:r>
          </a:p>
        </p:txBody>
      </p:sp>
    </p:spTree>
    <p:extLst>
      <p:ext uri="{BB962C8B-B14F-4D97-AF65-F5344CB8AC3E}">
        <p14:creationId xmlns:p14="http://schemas.microsoft.com/office/powerpoint/2010/main" val="3152019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03860" y="410398"/>
            <a:ext cx="7886700" cy="537321"/>
          </a:xfrm>
        </p:spPr>
        <p:txBody>
          <a:bodyPr>
            <a:normAutofit/>
          </a:bodyPr>
          <a:lstStyle/>
          <a:p>
            <a:pPr algn="ctr"/>
            <a:r>
              <a:rPr lang="ru-RU" sz="2800" b="1" dirty="0">
                <a:latin typeface="+mn-lt"/>
              </a:rPr>
              <a:t>Зачет  научной статьи за НИРС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3860" y="1544844"/>
            <a:ext cx="818388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25000"/>
              </a:lnSpc>
              <a:buAutoNum type="arabicPeriod"/>
            </a:pPr>
            <a:r>
              <a:rPr lang="ru-RU" dirty="0"/>
              <a:t>Статья будет засчитана за НИРС при условии ее публикации в журналах, входящих в перечень баз: РИНЦ, ВАК, </a:t>
            </a:r>
            <a:r>
              <a:rPr lang="en-US" dirty="0"/>
              <a:t>Scopus</a:t>
            </a:r>
            <a:r>
              <a:rPr lang="ru-RU" dirty="0"/>
              <a:t>, </a:t>
            </a:r>
            <a:r>
              <a:rPr lang="en-US" dirty="0" err="1"/>
              <a:t>WoS</a:t>
            </a:r>
            <a:r>
              <a:rPr lang="ru-RU" dirty="0"/>
              <a:t> и при наличии в соавторах руководителя. НИРС засчитывается в случае подачи статьи в редакцию, для этого студент предоставляет ответственному по НИРС распечатку статьи заверенную подписью руководителя. К распечатке статьи прикладывается титульный лист по НИРС с подписями студента и руководителя;</a:t>
            </a:r>
          </a:p>
          <a:p>
            <a:pPr marL="342900" indent="-342900" algn="just">
              <a:lnSpc>
                <a:spcPct val="125000"/>
              </a:lnSpc>
              <a:buAutoNum type="arabicPeriod"/>
            </a:pPr>
            <a:endParaRPr lang="ru-RU" dirty="0"/>
          </a:p>
          <a:p>
            <a:pPr marL="342900" indent="-342900" algn="just">
              <a:lnSpc>
                <a:spcPct val="125000"/>
              </a:lnSpc>
              <a:buAutoNum type="arabicPeriod"/>
            </a:pPr>
            <a:r>
              <a:rPr lang="ru-RU" dirty="0"/>
              <a:t>Выступление на студенческой весне будет засчитано за НИРС по результатам общего решения комиссии. Для этого ответственному за НИРС необходимо предоставить распечатку слайдов презентации и приложить к ней титульный лист по НИРС с подписями студента, руководителя, а также ответственного за проведение студенческой весны с подтверждением о решении комиссии.</a:t>
            </a:r>
          </a:p>
        </p:txBody>
      </p:sp>
    </p:spTree>
    <p:extLst>
      <p:ext uri="{BB962C8B-B14F-4D97-AF65-F5344CB8AC3E}">
        <p14:creationId xmlns:p14="http://schemas.microsoft.com/office/powerpoint/2010/main" val="37189421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79102" y="335060"/>
            <a:ext cx="6859868" cy="537321"/>
          </a:xfrm>
        </p:spPr>
        <p:txBody>
          <a:bodyPr>
            <a:normAutofit fontScale="90000"/>
          </a:bodyPr>
          <a:lstStyle/>
          <a:p>
            <a:pPr algn="ctr"/>
            <a:r>
              <a:rPr lang="ru-RU" sz="2800" b="1" dirty="0">
                <a:latin typeface="+mn-lt"/>
              </a:rPr>
              <a:t>Требования к структурным элементам НИРС (ГОСТ 7.32-2017)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68697" y="1144308"/>
            <a:ext cx="7595161" cy="611933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36270" y="2712326"/>
            <a:ext cx="7216894" cy="3721847"/>
          </a:xfrm>
          <a:prstGeom prst="rect">
            <a:avLst/>
          </a:prstGeom>
        </p:spPr>
      </p:pic>
      <p:sp>
        <p:nvSpPr>
          <p:cNvPr id="6" name="Заголовок 1"/>
          <p:cNvSpPr txBox="1">
            <a:spLocks/>
          </p:cNvSpPr>
          <p:nvPr/>
        </p:nvSpPr>
        <p:spPr>
          <a:xfrm>
            <a:off x="365686" y="2028168"/>
            <a:ext cx="7886700" cy="537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2800" b="1" dirty="0">
                <a:latin typeface="+mn-lt"/>
              </a:rPr>
              <a:t>Реферат</a:t>
            </a:r>
          </a:p>
        </p:txBody>
      </p:sp>
    </p:spTree>
    <p:extLst>
      <p:ext uri="{BB962C8B-B14F-4D97-AF65-F5344CB8AC3E}">
        <p14:creationId xmlns:p14="http://schemas.microsoft.com/office/powerpoint/2010/main" val="13390747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85269"/>
            <a:ext cx="7886700" cy="537321"/>
          </a:xfrm>
        </p:spPr>
        <p:txBody>
          <a:bodyPr>
            <a:normAutofit/>
          </a:bodyPr>
          <a:lstStyle/>
          <a:p>
            <a:pPr algn="ctr"/>
            <a:r>
              <a:rPr lang="ru-RU" sz="2800" b="1" dirty="0">
                <a:latin typeface="+mn-lt"/>
              </a:rPr>
              <a:t>Содержание</a:t>
            </a:r>
          </a:p>
        </p:txBody>
      </p:sp>
      <p:sp>
        <p:nvSpPr>
          <p:cNvPr id="7" name="Заголовок 1"/>
          <p:cNvSpPr txBox="1">
            <a:spLocks/>
          </p:cNvSpPr>
          <p:nvPr/>
        </p:nvSpPr>
        <p:spPr>
          <a:xfrm>
            <a:off x="628650" y="3789644"/>
            <a:ext cx="7886700" cy="537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2800" b="1" dirty="0">
                <a:latin typeface="+mn-lt"/>
              </a:rPr>
              <a:t>Перечень сокращений и обозначений</a:t>
            </a: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44979" y="4326965"/>
            <a:ext cx="7695374" cy="2129303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44979" y="991251"/>
            <a:ext cx="7695374" cy="2650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68297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1"/>
          <p:cNvSpPr txBox="1">
            <a:spLocks/>
          </p:cNvSpPr>
          <p:nvPr/>
        </p:nvSpPr>
        <p:spPr>
          <a:xfrm>
            <a:off x="467285" y="305362"/>
            <a:ext cx="7886700" cy="537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2800" b="1" dirty="0">
                <a:latin typeface="+mn-lt"/>
              </a:rPr>
              <a:t>Введение</a:t>
            </a: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28755" y="952873"/>
            <a:ext cx="7363759" cy="926408"/>
          </a:xfrm>
          <a:prstGeom prst="rect">
            <a:avLst/>
          </a:prstGeom>
        </p:spPr>
      </p:pic>
      <p:sp>
        <p:nvSpPr>
          <p:cNvPr id="9" name="Заголовок 1"/>
          <p:cNvSpPr txBox="1">
            <a:spLocks/>
          </p:cNvSpPr>
          <p:nvPr/>
        </p:nvSpPr>
        <p:spPr>
          <a:xfrm>
            <a:off x="419472" y="2118340"/>
            <a:ext cx="7886700" cy="537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2800" b="1" dirty="0">
                <a:latin typeface="+mn-lt"/>
              </a:rPr>
              <a:t>Основная часть отчета о НИР</a:t>
            </a:r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50207" y="2948508"/>
            <a:ext cx="7673042" cy="3054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67139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1"/>
          <p:cNvSpPr txBox="1">
            <a:spLocks/>
          </p:cNvSpPr>
          <p:nvPr/>
        </p:nvSpPr>
        <p:spPr>
          <a:xfrm>
            <a:off x="467285" y="305362"/>
            <a:ext cx="7886700" cy="537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2800" b="1" dirty="0">
                <a:latin typeface="+mn-lt"/>
              </a:rPr>
              <a:t>Заключение</a:t>
            </a:r>
          </a:p>
        </p:txBody>
      </p:sp>
      <p:sp>
        <p:nvSpPr>
          <p:cNvPr id="9" name="Заголовок 1"/>
          <p:cNvSpPr txBox="1">
            <a:spLocks/>
          </p:cNvSpPr>
          <p:nvPr/>
        </p:nvSpPr>
        <p:spPr>
          <a:xfrm>
            <a:off x="419472" y="2118340"/>
            <a:ext cx="7886700" cy="537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2800" b="1" dirty="0">
                <a:latin typeface="+mn-lt"/>
              </a:rPr>
              <a:t>Список использованных источников</a:t>
            </a: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22792" y="852340"/>
            <a:ext cx="7287280" cy="1299830"/>
          </a:xfrm>
          <a:prstGeom prst="rect">
            <a:avLst/>
          </a:prstGeom>
        </p:spPr>
      </p:pic>
      <p:sp>
        <p:nvSpPr>
          <p:cNvPr id="8" name="Заголовок 1"/>
          <p:cNvSpPr txBox="1">
            <a:spLocks/>
          </p:cNvSpPr>
          <p:nvPr/>
        </p:nvSpPr>
        <p:spPr>
          <a:xfrm>
            <a:off x="317872" y="3179281"/>
            <a:ext cx="7886700" cy="537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2800" b="1" dirty="0">
                <a:latin typeface="+mn-lt"/>
              </a:rPr>
              <a:t>Приложения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67284" y="3716602"/>
            <a:ext cx="7857017" cy="3079951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22792" y="2655661"/>
            <a:ext cx="7531193" cy="560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01273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90550" y="410847"/>
            <a:ext cx="7886700" cy="417792"/>
          </a:xfrm>
        </p:spPr>
        <p:txBody>
          <a:bodyPr>
            <a:normAutofit fontScale="90000"/>
          </a:bodyPr>
          <a:lstStyle/>
          <a:p>
            <a:pPr algn="ctr"/>
            <a:r>
              <a:rPr lang="ru-RU" sz="2800" b="1" dirty="0">
                <a:latin typeface="+mn-lt"/>
              </a:rPr>
              <a:t>Правила оформления отчета (ГОСТ 7.32-2017)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99584" y="1254220"/>
            <a:ext cx="7859900" cy="1393780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99584" y="2648000"/>
            <a:ext cx="7859900" cy="2668446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1028578" y="5526898"/>
            <a:ext cx="6716647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ru-RU" sz="2400" dirty="0">
                <a:solidFill>
                  <a:srgbClr val="FF0000"/>
                </a:solidFill>
              </a:rPr>
              <a:t>Размер шрифта в НИРС должен быть 14 пт. !!!</a:t>
            </a:r>
          </a:p>
          <a:p>
            <a:pPr algn="ctr"/>
            <a:r>
              <a:rPr lang="ru-RU" sz="2400" dirty="0">
                <a:solidFill>
                  <a:srgbClr val="FF0000"/>
                </a:solidFill>
              </a:rPr>
              <a:t>Текст отчета должен быть выровнен по ширине!!!</a:t>
            </a:r>
          </a:p>
        </p:txBody>
      </p:sp>
    </p:spTree>
    <p:extLst>
      <p:ext uri="{BB962C8B-B14F-4D97-AF65-F5344CB8AC3E}">
        <p14:creationId xmlns:p14="http://schemas.microsoft.com/office/powerpoint/2010/main" val="38701939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3144" y="341220"/>
            <a:ext cx="7886700" cy="513415"/>
          </a:xfrm>
        </p:spPr>
        <p:txBody>
          <a:bodyPr>
            <a:normAutofit/>
          </a:bodyPr>
          <a:lstStyle/>
          <a:p>
            <a:pPr algn="ctr"/>
            <a:r>
              <a:rPr lang="ru-RU" sz="2800" b="1" dirty="0">
                <a:latin typeface="+mn-lt"/>
              </a:rPr>
              <a:t>Построение отчета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01639" y="982988"/>
            <a:ext cx="7289710" cy="2906432"/>
          </a:xfrm>
          <a:prstGeom prst="rect">
            <a:avLst/>
          </a:prstGeom>
        </p:spPr>
      </p:pic>
      <p:sp>
        <p:nvSpPr>
          <p:cNvPr id="5" name="Заголовок 1"/>
          <p:cNvSpPr txBox="1">
            <a:spLocks/>
          </p:cNvSpPr>
          <p:nvPr/>
        </p:nvSpPr>
        <p:spPr>
          <a:xfrm>
            <a:off x="276367" y="4017774"/>
            <a:ext cx="7886700" cy="5134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2800" b="1" dirty="0">
                <a:latin typeface="+mn-lt"/>
              </a:rPr>
              <a:t>Нумерация страниц</a:t>
            </a: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31873" y="4783137"/>
            <a:ext cx="7459476" cy="1503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7548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73262" y="269497"/>
            <a:ext cx="7886700" cy="513415"/>
          </a:xfrm>
        </p:spPr>
        <p:txBody>
          <a:bodyPr>
            <a:normAutofit fontScale="90000"/>
          </a:bodyPr>
          <a:lstStyle/>
          <a:p>
            <a:pPr algn="ctr"/>
            <a:r>
              <a:rPr lang="ru-RU" sz="2800" b="1" dirty="0">
                <a:latin typeface="+mn-lt"/>
              </a:rPr>
              <a:t>Нумерация разделов, подразделов, пунктов, подпунктов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26936" y="933834"/>
            <a:ext cx="7269350" cy="563243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26936" y="1497077"/>
            <a:ext cx="7269350" cy="3555597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26936" y="6283825"/>
            <a:ext cx="7269350" cy="335509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26936" y="5052674"/>
            <a:ext cx="7269350" cy="1231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47737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73262" y="460744"/>
            <a:ext cx="7886700" cy="513415"/>
          </a:xfrm>
        </p:spPr>
        <p:txBody>
          <a:bodyPr>
            <a:normAutofit/>
          </a:bodyPr>
          <a:lstStyle/>
          <a:p>
            <a:pPr algn="ctr"/>
            <a:r>
              <a:rPr lang="ru-RU" sz="2800" b="1" dirty="0">
                <a:latin typeface="+mn-lt"/>
              </a:rPr>
              <a:t>Иллюстрации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53667" y="1205807"/>
            <a:ext cx="7525889" cy="4041681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53667" y="5247488"/>
            <a:ext cx="7525889" cy="585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16882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73262" y="257544"/>
            <a:ext cx="7886700" cy="513415"/>
          </a:xfrm>
        </p:spPr>
        <p:txBody>
          <a:bodyPr>
            <a:normAutofit/>
          </a:bodyPr>
          <a:lstStyle/>
          <a:p>
            <a:pPr algn="ctr"/>
            <a:r>
              <a:rPr lang="ru-RU" sz="2800" b="1" dirty="0">
                <a:latin typeface="+mn-lt"/>
              </a:rPr>
              <a:t>Таблицы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52094" y="908304"/>
            <a:ext cx="7453122" cy="3569780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55693" y="4558657"/>
            <a:ext cx="6245924" cy="2106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34638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1309" y="80181"/>
            <a:ext cx="7886700" cy="513415"/>
          </a:xfrm>
        </p:spPr>
        <p:txBody>
          <a:bodyPr>
            <a:normAutofit/>
          </a:bodyPr>
          <a:lstStyle/>
          <a:p>
            <a:pPr algn="ctr"/>
            <a:r>
              <a:rPr lang="ru-RU" sz="2800" b="1" dirty="0">
                <a:latin typeface="+mn-lt"/>
              </a:rPr>
              <a:t>Таблицы (продолжение)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42322" y="673282"/>
            <a:ext cx="7066150" cy="3815379"/>
          </a:xfrm>
          <a:prstGeom prst="rect">
            <a:avLst/>
          </a:prstGeom>
        </p:spPr>
      </p:pic>
      <p:sp>
        <p:nvSpPr>
          <p:cNvPr id="6" name="Заголовок 1"/>
          <p:cNvSpPr txBox="1">
            <a:spLocks/>
          </p:cNvSpPr>
          <p:nvPr/>
        </p:nvSpPr>
        <p:spPr>
          <a:xfrm>
            <a:off x="461309" y="4455356"/>
            <a:ext cx="7886700" cy="5134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2800" b="1" dirty="0">
                <a:latin typeface="+mn-lt"/>
              </a:rPr>
              <a:t>Примечания</a:t>
            </a: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42323" y="4978400"/>
            <a:ext cx="7066150" cy="1388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27516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1309" y="175752"/>
            <a:ext cx="7886700" cy="513415"/>
          </a:xfrm>
        </p:spPr>
        <p:txBody>
          <a:bodyPr>
            <a:normAutofit/>
          </a:bodyPr>
          <a:lstStyle/>
          <a:p>
            <a:pPr algn="ctr"/>
            <a:r>
              <a:rPr lang="ru-RU" sz="2800" b="1" dirty="0">
                <a:latin typeface="+mn-lt"/>
              </a:rPr>
              <a:t>Сноски</a:t>
            </a: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33264" y="689167"/>
            <a:ext cx="7066150" cy="1259128"/>
          </a:xfrm>
          <a:prstGeom prst="rect">
            <a:avLst/>
          </a:prstGeom>
        </p:spPr>
      </p:pic>
      <p:sp>
        <p:nvSpPr>
          <p:cNvPr id="9" name="Заголовок 1"/>
          <p:cNvSpPr txBox="1">
            <a:spLocks/>
          </p:cNvSpPr>
          <p:nvPr/>
        </p:nvSpPr>
        <p:spPr>
          <a:xfrm>
            <a:off x="522012" y="2093128"/>
            <a:ext cx="7886700" cy="5134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2800" b="1" dirty="0">
                <a:latin typeface="+mn-lt"/>
              </a:rPr>
              <a:t>Формулы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31311" y="2633990"/>
            <a:ext cx="7068103" cy="4009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33784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1309" y="175752"/>
            <a:ext cx="7886700" cy="513415"/>
          </a:xfrm>
        </p:spPr>
        <p:txBody>
          <a:bodyPr>
            <a:normAutofit/>
          </a:bodyPr>
          <a:lstStyle/>
          <a:p>
            <a:pPr algn="ctr"/>
            <a:r>
              <a:rPr lang="ru-RU" sz="2800" b="1" dirty="0">
                <a:latin typeface="+mn-lt"/>
              </a:rPr>
              <a:t>Ссылки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39240" y="689167"/>
            <a:ext cx="7117043" cy="2388079"/>
          </a:xfrm>
          <a:prstGeom prst="rect">
            <a:avLst/>
          </a:prstGeom>
        </p:spPr>
      </p:pic>
      <p:sp>
        <p:nvSpPr>
          <p:cNvPr id="7" name="Заголовок 1"/>
          <p:cNvSpPr txBox="1">
            <a:spLocks/>
          </p:cNvSpPr>
          <p:nvPr/>
        </p:nvSpPr>
        <p:spPr>
          <a:xfrm>
            <a:off x="461309" y="3077246"/>
            <a:ext cx="7886700" cy="5134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2800" b="1" dirty="0">
                <a:latin typeface="+mn-lt"/>
              </a:rPr>
              <a:t>Реферат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39240" y="3720182"/>
            <a:ext cx="7117043" cy="1438451"/>
          </a:xfrm>
          <a:prstGeom prst="rect">
            <a:avLst/>
          </a:prstGeom>
        </p:spPr>
      </p:pic>
      <p:sp>
        <p:nvSpPr>
          <p:cNvPr id="10" name="Заголовок 1"/>
          <p:cNvSpPr txBox="1">
            <a:spLocks/>
          </p:cNvSpPr>
          <p:nvPr/>
        </p:nvSpPr>
        <p:spPr>
          <a:xfrm>
            <a:off x="554411" y="5269588"/>
            <a:ext cx="7886700" cy="5134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2800" b="1" dirty="0">
                <a:latin typeface="+mn-lt"/>
              </a:rPr>
              <a:t>Содержание</a:t>
            </a: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39240" y="5899964"/>
            <a:ext cx="7117043" cy="575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418358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Рисунок 12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690516" y="2522067"/>
            <a:ext cx="4407763" cy="4082123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1309" y="175752"/>
            <a:ext cx="7886700" cy="513415"/>
          </a:xfrm>
        </p:spPr>
        <p:txBody>
          <a:bodyPr>
            <a:normAutofit/>
          </a:bodyPr>
          <a:lstStyle/>
          <a:p>
            <a:pPr algn="ctr"/>
            <a:r>
              <a:rPr lang="ru-RU" sz="2800" b="1" dirty="0">
                <a:latin typeface="+mn-lt"/>
              </a:rPr>
              <a:t>Перечень сокращений и обозначений</a:t>
            </a: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15334" y="775634"/>
            <a:ext cx="7181850" cy="704850"/>
          </a:xfrm>
          <a:prstGeom prst="rect">
            <a:avLst/>
          </a:prstGeom>
        </p:spPr>
      </p:pic>
      <p:sp>
        <p:nvSpPr>
          <p:cNvPr id="11" name="Заголовок 1"/>
          <p:cNvSpPr txBox="1">
            <a:spLocks/>
          </p:cNvSpPr>
          <p:nvPr/>
        </p:nvSpPr>
        <p:spPr>
          <a:xfrm>
            <a:off x="562909" y="1566951"/>
            <a:ext cx="7886700" cy="5134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2800" b="1" dirty="0">
                <a:latin typeface="+mn-lt"/>
              </a:rPr>
              <a:t>Список использованных источников</a:t>
            </a:r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15334" y="2080366"/>
            <a:ext cx="7200900" cy="352425"/>
          </a:xfrm>
          <a:prstGeom prst="rect">
            <a:avLst/>
          </a:prstGeom>
        </p:spPr>
      </p:pic>
      <p:pic>
        <p:nvPicPr>
          <p:cNvPr id="12" name="Рисунок 11"/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0480" y="2901283"/>
            <a:ext cx="4522571" cy="3139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89589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1309" y="277352"/>
            <a:ext cx="7886700" cy="513415"/>
          </a:xfrm>
        </p:spPr>
        <p:txBody>
          <a:bodyPr>
            <a:normAutofit/>
          </a:bodyPr>
          <a:lstStyle/>
          <a:p>
            <a:pPr algn="ctr"/>
            <a:r>
              <a:rPr lang="ru-RU" sz="2800" b="1" dirty="0">
                <a:latin typeface="+mn-lt"/>
              </a:rPr>
              <a:t>Приложения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67909" y="1107520"/>
            <a:ext cx="7106304" cy="1585470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67909" y="2692990"/>
            <a:ext cx="7106304" cy="2957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759727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1309" y="402858"/>
            <a:ext cx="7886700" cy="513415"/>
          </a:xfrm>
        </p:spPr>
        <p:txBody>
          <a:bodyPr>
            <a:normAutofit/>
          </a:bodyPr>
          <a:lstStyle/>
          <a:p>
            <a:pPr algn="ctr"/>
            <a:r>
              <a:rPr lang="ru-RU" sz="2800" b="1" dirty="0">
                <a:latin typeface="+mn-lt"/>
              </a:rPr>
              <a:t>Пример реферата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79475" y="1188944"/>
            <a:ext cx="7181850" cy="4838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48599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77850" y="106047"/>
            <a:ext cx="7886700" cy="485774"/>
          </a:xfrm>
        </p:spPr>
        <p:txBody>
          <a:bodyPr>
            <a:normAutofit/>
          </a:bodyPr>
          <a:lstStyle/>
          <a:p>
            <a:pPr algn="ctr"/>
            <a:r>
              <a:rPr lang="ru-RU" sz="2800" b="1" dirty="0">
                <a:latin typeface="+mn-lt"/>
              </a:rPr>
              <a:t>Пример титульного листа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6816" y="736601"/>
            <a:ext cx="4274344" cy="604391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82164682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>
            <a:spLocks noGrp="1"/>
          </p:cNvSpPr>
          <p:nvPr>
            <p:ph type="title"/>
          </p:nvPr>
        </p:nvSpPr>
        <p:spPr>
          <a:xfrm>
            <a:off x="458321" y="334497"/>
            <a:ext cx="7886700" cy="485774"/>
          </a:xfrm>
        </p:spPr>
        <p:txBody>
          <a:bodyPr>
            <a:normAutofit/>
          </a:bodyPr>
          <a:lstStyle/>
          <a:p>
            <a:pPr algn="ctr"/>
            <a:r>
              <a:rPr lang="ru-RU" sz="2800" b="1" dirty="0">
                <a:latin typeface="+mn-lt"/>
              </a:rPr>
              <a:t>Пример оформления графиков</a:t>
            </a:r>
          </a:p>
        </p:txBody>
      </p:sp>
      <p:pic>
        <p:nvPicPr>
          <p:cNvPr id="5" name="Рисунок 4"/>
          <p:cNvPicPr/>
          <p:nvPr/>
        </p:nvPicPr>
        <p:blipFill>
          <a:blip r:embed="rId2"/>
          <a:stretch>
            <a:fillRect/>
          </a:stretch>
        </p:blipFill>
        <p:spPr>
          <a:xfrm>
            <a:off x="1732971" y="1751105"/>
            <a:ext cx="5361305" cy="3390713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1732971" y="5141818"/>
            <a:ext cx="5295357" cy="8274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 –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параметр управления.</a:t>
            </a:r>
          </a:p>
          <a:p>
            <a:pPr algn="ctr">
              <a:lnSpc>
                <a:spcPct val="150000"/>
              </a:lnSpc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Рисунок 1 – Механическая характеристика </a:t>
            </a:r>
          </a:p>
        </p:txBody>
      </p:sp>
    </p:spTree>
    <p:extLst>
      <p:ext uri="{BB962C8B-B14F-4D97-AF65-F5344CB8AC3E}">
        <p14:creationId xmlns:p14="http://schemas.microsoft.com/office/powerpoint/2010/main" val="309379776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697</TotalTime>
  <Words>938</Words>
  <Application>Microsoft Office PowerPoint</Application>
  <PresentationFormat>Экран (4:3)</PresentationFormat>
  <Paragraphs>79</Paragraphs>
  <Slides>24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24</vt:i4>
      </vt:variant>
    </vt:vector>
  </HeadingPairs>
  <TitlesOfParts>
    <vt:vector size="29" baseType="lpstr">
      <vt:lpstr>Arial</vt:lpstr>
      <vt:lpstr>Calibri</vt:lpstr>
      <vt:lpstr>Calibri Light</vt:lpstr>
      <vt:lpstr>Times New Roman</vt:lpstr>
      <vt:lpstr>Тема Office</vt:lpstr>
      <vt:lpstr>Презентация PowerPoint</vt:lpstr>
      <vt:lpstr>Состав отчета о НИРС</vt:lpstr>
      <vt:lpstr>Презентация PowerPoint</vt:lpstr>
      <vt:lpstr>Порядок регистрации задания на НИРС</vt:lpstr>
      <vt:lpstr>Презентация PowerPoint</vt:lpstr>
      <vt:lpstr>Работа над НИРС в течении семестра</vt:lpstr>
      <vt:lpstr>Зачет  научной статьи за НИРС</vt:lpstr>
      <vt:lpstr>Требования к структурным элементам НИРС (ГОСТ 7.32-2017)</vt:lpstr>
      <vt:lpstr>Содержание</vt:lpstr>
      <vt:lpstr>Презентация PowerPoint</vt:lpstr>
      <vt:lpstr>Презентация PowerPoint</vt:lpstr>
      <vt:lpstr>Правила оформления отчета (ГОСТ 7.32-2017)</vt:lpstr>
      <vt:lpstr>Построение отчета</vt:lpstr>
      <vt:lpstr>Нумерация разделов, подразделов, пунктов, подпунктов</vt:lpstr>
      <vt:lpstr>Иллюстрации</vt:lpstr>
      <vt:lpstr>Таблицы</vt:lpstr>
      <vt:lpstr>Таблицы (продолжение)</vt:lpstr>
      <vt:lpstr>Сноски</vt:lpstr>
      <vt:lpstr>Ссылки</vt:lpstr>
      <vt:lpstr>Перечень сокращений и обозначений</vt:lpstr>
      <vt:lpstr>Приложения</vt:lpstr>
      <vt:lpstr>Пример реферата</vt:lpstr>
      <vt:lpstr>Пример титульного листа</vt:lpstr>
      <vt:lpstr>Пример оформления графиков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Kirill</dc:creator>
  <cp:lastModifiedBy>User</cp:lastModifiedBy>
  <cp:revision>70</cp:revision>
  <dcterms:created xsi:type="dcterms:W3CDTF">2018-06-24T08:50:58Z</dcterms:created>
  <dcterms:modified xsi:type="dcterms:W3CDTF">2024-04-27T11:34:27Z</dcterms:modified>
</cp:coreProperties>
</file>