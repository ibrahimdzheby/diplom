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D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59" d="100"/>
          <a:sy n="59" d="100"/>
        </p:scale>
        <p:origin x="9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B33AD-5C05-4723-B389-E1E81ABFFAD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90A88-05AC-4B7C-96D7-DFBC6C132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937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8D5A8-5A5E-B7F2-0CC2-F1FF90616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93E8DC-5EC8-19E9-4EFD-DCF7FEEB3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5D00FC-C3BC-F943-FB28-75CB92FB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DF970-1F2D-B6FC-856F-C0A7E5E5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352D20-263D-FEB0-4894-82536F4D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63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CD28C-17FE-30E9-EF09-5515B0F4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0E2D19-21D7-137A-0B08-4DC530518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1195E4-8DC9-A7CF-6E2E-74BED30D8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12ED85-2BFD-0461-9FDE-F404D8ED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7BD5FA-0B47-B889-D89B-2C8DC0D88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022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531AA-88C6-D818-E226-61D093577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A6525-6DC2-C7E2-2E40-77429CE9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43A3E6-9041-C150-0F46-121B6DF4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8FDE2-A6B6-F045-3621-D7BA6985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DBA12D-398F-FBBA-0684-005E5B19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946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676B7-CCDD-655D-CCA8-47AF1F8E1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E1D91-816D-7437-925A-83DD96A25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61734F-EADC-6D42-19AF-8299AAC8D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08AEAE-170D-E7B7-DCD5-4B494EB2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D08FA10-6FD5-333F-209A-68EF8597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7119F2-D9A7-567F-EDDD-F14AAECC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447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08D42C-F385-062E-AB3C-32466CB0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A38866-BAB0-192F-AC99-EF002CF10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091CF2-8CF2-CBE9-108D-FAAB99995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D69B5CB-D0E0-783E-8F04-45203D5F9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3C200B-FBEE-25D1-287C-D5176BAF3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D9AB2E5-7584-593A-9363-10AA57E5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D6709A-8ADA-54D8-C766-D33A1FA8B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F01812-60F7-BF91-2DB2-39BB800D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9603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E1D5D-EA10-54B4-65DA-00EDEC2E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1D08A0-D5C8-3BC4-56D4-E8325077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80C9D1-7CE0-F095-20DA-ED9B5094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2E03EF-463C-E376-F678-5EE4D593A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01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EC4D16-94C2-0DE8-8064-1B97BFE4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A2F62E-6B3A-8248-9D9F-2D65BB52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5280EE-FBF3-B1BD-2AFA-7B0D50D2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824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660ED6-9003-BDC1-A830-03F4DDC13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EE6496-AFB6-6FB8-E8EA-BE811014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170513-6EB8-8589-5519-A07267873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EDE9EB-AE78-38D7-8E9B-7726A322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13AB98-81D1-9A00-2366-E7F7AE19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36BE6E-40F5-A502-B62F-5ABB1C90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67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94AE4-899A-C5A3-AC6B-1BBE4113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BACC8C-6167-5B4B-F36C-3890DBBB5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AF8B78-AE1B-4C03-04BE-49D1DB6E1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4F9823-229C-E5D9-C0D1-FED3D04E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26F4A-6245-B8D0-599D-1118C8D0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5328CA-D258-67D6-F93A-9299E53BC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192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FD03D-D31C-4A57-D737-BBA34FF8F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240A29-2E35-3166-356E-8B9A4535B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EA6888-7C3A-DC0C-7029-1DA0D19AC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412D4A-34B1-EFEC-1ADE-6745777F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6DCA7D-1B2B-92BA-3AED-68D5E707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55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059D23D-9212-E134-6341-F1000AB1C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44DD4A6-D7F5-C74B-DEA2-697FC8F0D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1E150D-00D4-A59A-9E73-57F862E6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CB979A-49F6-7C65-2BEF-87883B0CD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2FB343-BB55-89EF-477E-A45DBEF2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74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553ED-C1F0-2581-473E-6F5123BA7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FC0718-E683-117B-85FF-4E2B62383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4F3A7F-F80E-A17B-79CC-187177C32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FD824-9642-443D-A094-80DC1BD911E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952512-886D-5571-EFD4-2F3373ECD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F6A8C8-CB50-37E2-DF8E-C76F9F001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A8094-DA19-4DF8-AD0F-24E6F9490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64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F6316DE-5913-F010-5C74-D93A53F90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87" y="2369136"/>
            <a:ext cx="5246913" cy="52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71D6F-A707-35C6-A7CF-7ADFE2548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32" y="1404257"/>
            <a:ext cx="9241971" cy="2226431"/>
          </a:xfrm>
        </p:spPr>
        <p:txBody>
          <a:bodyPr>
            <a:noAutofit/>
          </a:bodyPr>
          <a:lstStyle/>
          <a:p>
            <a:pPr algn="l"/>
            <a:r>
              <a:rPr lang="ru-RU" sz="5000" b="1" dirty="0">
                <a:solidFill>
                  <a:schemeClr val="bg1"/>
                </a:solidFill>
              </a:rPr>
              <a:t>ГЛАВНАЯ ПЕРЕДАЧА</a:t>
            </a:r>
            <a:br>
              <a:rPr lang="ru-RU" sz="5000" b="1" dirty="0">
                <a:solidFill>
                  <a:schemeClr val="bg1"/>
                </a:solidFill>
              </a:rPr>
            </a:br>
            <a:r>
              <a:rPr lang="ru-RU" sz="5000" b="1" dirty="0">
                <a:solidFill>
                  <a:schemeClr val="bg1"/>
                </a:solidFill>
              </a:rPr>
              <a:t>ПЕРЕДНЕПРИВОДНОГО</a:t>
            </a:r>
            <a:br>
              <a:rPr lang="ru-RU" sz="5000" b="1" dirty="0">
                <a:solidFill>
                  <a:schemeClr val="bg1"/>
                </a:solidFill>
              </a:rPr>
            </a:br>
            <a:r>
              <a:rPr lang="ru-RU" sz="5000" b="1" dirty="0">
                <a:solidFill>
                  <a:schemeClr val="bg1"/>
                </a:solidFill>
              </a:rPr>
              <a:t>ЛЕГКОВОГО АВТОМОБИЛЯ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E15FFFE-7007-97B9-6B09-E2D1D1E37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32" y="4212771"/>
            <a:ext cx="5795853" cy="968829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bg1"/>
                </a:solidFill>
              </a:rPr>
              <a:t>Выполнил:</a:t>
            </a:r>
          </a:p>
          <a:p>
            <a:pPr algn="l"/>
            <a:r>
              <a:rPr lang="ru-RU" sz="2000" dirty="0">
                <a:solidFill>
                  <a:schemeClr val="bg1"/>
                </a:solidFill>
              </a:rPr>
              <a:t>Студент группы СМ10-81Б	Джабаев И.Ю.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711824C-C6CE-1418-B292-32C10505F96B}"/>
              </a:ext>
            </a:extLst>
          </p:cNvPr>
          <p:cNvSpPr txBox="1">
            <a:spLocks/>
          </p:cNvSpPr>
          <p:nvPr/>
        </p:nvSpPr>
        <p:spPr>
          <a:xfrm>
            <a:off x="463433" y="378750"/>
            <a:ext cx="11211339" cy="65324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solidFill>
                  <a:schemeClr val="bg1"/>
                </a:solidFill>
                <a:latin typeface="ALS Sector Regular" pitchFamily="2" charset="0"/>
                <a:cs typeface="ALS Sector Regular" pitchFamily="2" charset="0"/>
              </a:rPr>
              <a:t>Московский государственный технический университет им. Н.Э. Баумана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1B8B8C-C18A-204A-EEA8-5524728BA4D3}"/>
              </a:ext>
            </a:extLst>
          </p:cNvPr>
          <p:cNvSpPr/>
          <p:nvPr/>
        </p:nvSpPr>
        <p:spPr>
          <a:xfrm>
            <a:off x="463436" y="6079140"/>
            <a:ext cx="5316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176DEA"/>
              </a:buClr>
            </a:pPr>
            <a:r>
              <a:rPr lang="ru-RU" sz="2000" dirty="0">
                <a:solidFill>
                  <a:schemeClr val="bg1">
                    <a:alpha val="50000"/>
                  </a:schemeClr>
                </a:solidFill>
                <a:latin typeface="ALS Sector Regular" pitchFamily="2" charset="0"/>
                <a:cs typeface="ALS Sector Regular" pitchFamily="2" charset="0"/>
              </a:rPr>
              <a:t>Москва 2026</a:t>
            </a:r>
          </a:p>
        </p:txBody>
      </p:sp>
    </p:spTree>
    <p:extLst>
      <p:ext uri="{BB962C8B-B14F-4D97-AF65-F5344CB8AC3E}">
        <p14:creationId xmlns:p14="http://schemas.microsoft.com/office/powerpoint/2010/main" val="179266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D93DC2-E224-FA15-A103-A953D62CE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717" y="1969343"/>
            <a:ext cx="3191320" cy="39439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26A20C0-32B5-65AF-1154-557DE024A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70" y="2289921"/>
            <a:ext cx="4327521" cy="378770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0DA9DD9-A5D6-097A-5E8E-F09EF29B4AC5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A9FDA1D-7754-CABD-48DF-CA4CA605D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rgbClr val="006CDC"/>
                </a:solidFill>
              </a:rPr>
              <a:t>зубчатое звено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69979F-BD7F-F1D1-519C-EE49B38C6C7F}"/>
              </a:ext>
            </a:extLst>
          </p:cNvPr>
          <p:cNvSpPr txBox="1"/>
          <p:nvPr/>
        </p:nvSpPr>
        <p:spPr>
          <a:xfrm>
            <a:off x="1772953" y="6077627"/>
            <a:ext cx="26953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Цилиндрическое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075CE3-86FC-C489-C897-508FE0081C80}"/>
              </a:ext>
            </a:extLst>
          </p:cNvPr>
          <p:cNvSpPr txBox="1"/>
          <p:nvPr/>
        </p:nvSpPr>
        <p:spPr>
          <a:xfrm>
            <a:off x="7783736" y="6081025"/>
            <a:ext cx="3032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Коническое</a:t>
            </a:r>
          </a:p>
        </p:txBody>
      </p:sp>
    </p:spTree>
    <p:extLst>
      <p:ext uri="{BB962C8B-B14F-4D97-AF65-F5344CB8AC3E}">
        <p14:creationId xmlns:p14="http://schemas.microsoft.com/office/powerpoint/2010/main" val="305213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96A4-1C37-68E7-C17A-46E8D469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3E1DE1-8ABE-C684-630B-5C09DC3076B8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07CAA73-2E3E-9C12-81AE-98EFEBCB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rgbClr val="006CDC"/>
                </a:solidFill>
              </a:rPr>
              <a:t>сателлиты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513D5E-9046-55DB-0FE5-1FC8D904CF04}"/>
              </a:ext>
            </a:extLst>
          </p:cNvPr>
          <p:cNvSpPr txBox="1"/>
          <p:nvPr/>
        </p:nvSpPr>
        <p:spPr>
          <a:xfrm>
            <a:off x="978850" y="5798525"/>
            <a:ext cx="269336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Цилиндрические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DC70F-3D13-2D8A-D5D4-F1E269CC6D16}"/>
              </a:ext>
            </a:extLst>
          </p:cNvPr>
          <p:cNvSpPr txBox="1"/>
          <p:nvPr/>
        </p:nvSpPr>
        <p:spPr>
          <a:xfrm>
            <a:off x="4579848" y="5798525"/>
            <a:ext cx="3032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Конические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49A2C8B-5A42-78F9-2524-787E13F73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77" y="2583287"/>
            <a:ext cx="3339046" cy="29139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A8BCF30-FA08-AD2B-3D64-D97E25B04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667" y="2444516"/>
            <a:ext cx="3632665" cy="319150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618EAE-54FF-82D4-EEF5-DEBE4F0A1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3476" y="2444516"/>
            <a:ext cx="3144225" cy="31915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4FE6C3-086E-70B1-4035-9587174E11A1}"/>
              </a:ext>
            </a:extLst>
          </p:cNvPr>
          <p:cNvSpPr txBox="1"/>
          <p:nvPr/>
        </p:nvSpPr>
        <p:spPr>
          <a:xfrm>
            <a:off x="8519781" y="5798525"/>
            <a:ext cx="30323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Червячные</a:t>
            </a:r>
          </a:p>
        </p:txBody>
      </p:sp>
    </p:spTree>
    <p:extLst>
      <p:ext uri="{BB962C8B-B14F-4D97-AF65-F5344CB8AC3E}">
        <p14:creationId xmlns:p14="http://schemas.microsoft.com/office/powerpoint/2010/main" val="402545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3217A-D594-F8C8-02C0-128BCE2C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4ABFABF-F0E8-15AF-5A73-D55E406E4087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236B36E-2B49-F2A3-DE64-BCA02E3B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br>
              <a:rPr lang="ru-RU" sz="5000" dirty="0">
                <a:solidFill>
                  <a:schemeClr val="bg1"/>
                </a:solidFill>
              </a:rPr>
            </a:br>
            <a:r>
              <a:rPr lang="ru-RU" sz="5000" dirty="0">
                <a:solidFill>
                  <a:srgbClr val="006CDC"/>
                </a:solidFill>
              </a:rPr>
              <a:t>блокировки дифференциала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4182F3-72F7-9548-9943-21A20AC5D903}"/>
              </a:ext>
            </a:extLst>
          </p:cNvPr>
          <p:cNvSpPr txBox="1"/>
          <p:nvPr/>
        </p:nvSpPr>
        <p:spPr>
          <a:xfrm>
            <a:off x="350539" y="2455416"/>
            <a:ext cx="33691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Повышенного трения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DD20CD-3652-C852-1B01-4CF733414AB2}"/>
              </a:ext>
            </a:extLst>
          </p:cNvPr>
          <p:cNvSpPr txBox="1"/>
          <p:nvPr/>
        </p:nvSpPr>
        <p:spPr>
          <a:xfrm>
            <a:off x="2414071" y="6017679"/>
            <a:ext cx="336919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Самоблокирующийся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60CF28-0287-5DA7-5E8B-8B617F67A1AA}"/>
              </a:ext>
            </a:extLst>
          </p:cNvPr>
          <p:cNvSpPr txBox="1"/>
          <p:nvPr/>
        </p:nvSpPr>
        <p:spPr>
          <a:xfrm>
            <a:off x="4247066" y="2455416"/>
            <a:ext cx="40828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Саморазблокирующийся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464327-1ECC-651D-C8B5-49B64C498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50" y="3175428"/>
            <a:ext cx="1505160" cy="15908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F7C7498-5A74-803B-9B6D-38B7246A3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214" y="4326180"/>
            <a:ext cx="1771897" cy="160995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4B15CB6-DB7D-91A2-5B26-60AD5D078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571" y="3189886"/>
            <a:ext cx="1810003" cy="175284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464F3BC-0195-B9E3-388C-FB0F06618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382" y="4131694"/>
            <a:ext cx="1362265" cy="1771897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70B019E8-32C6-DBD7-DE04-52E402F1B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3793" y="3051586"/>
            <a:ext cx="1562318" cy="18385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A31097-2F75-FC40-6E82-548CCA510B54}"/>
              </a:ext>
            </a:extLst>
          </p:cNvPr>
          <p:cNvSpPr txBox="1"/>
          <p:nvPr/>
        </p:nvSpPr>
        <p:spPr>
          <a:xfrm>
            <a:off x="7149574" y="6017679"/>
            <a:ext cx="319988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Подключаемый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9FC6C9-6C43-C554-3443-8FCF090AE376}"/>
              </a:ext>
            </a:extLst>
          </p:cNvPr>
          <p:cNvSpPr txBox="1"/>
          <p:nvPr/>
        </p:nvSpPr>
        <p:spPr>
          <a:xfrm>
            <a:off x="9851241" y="2455416"/>
            <a:ext cx="16648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500" dirty="0"/>
              <a:t>Муфта</a:t>
            </a:r>
          </a:p>
        </p:txBody>
      </p:sp>
    </p:spTree>
    <p:extLst>
      <p:ext uri="{BB962C8B-B14F-4D97-AF65-F5344CB8AC3E}">
        <p14:creationId xmlns:p14="http://schemas.microsoft.com/office/powerpoint/2010/main" val="2316345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DB3D-3BE3-4E7F-9ACF-FE6257CE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16FC6D-0B93-C5AC-F505-B5A2AF1B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4417"/>
            <a:ext cx="4327521" cy="3787706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E21A3E-8917-AB01-6965-6C882CE75F95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EF7F770-BD59-513B-F6E8-98F24E9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Конструкция главной передачи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3C055-17B0-0E0E-926C-602262E1FEEB}"/>
              </a:ext>
            </a:extLst>
          </p:cNvPr>
          <p:cNvSpPr txBox="1"/>
          <p:nvPr/>
        </p:nvSpPr>
        <p:spPr>
          <a:xfrm>
            <a:off x="5143098" y="3412156"/>
            <a:ext cx="5039713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Цилиндрическое зубчатое звено</a:t>
            </a:r>
          </a:p>
          <a:p>
            <a:pPr algn="ctr"/>
            <a:r>
              <a:rPr lang="ru-RU" sz="2500" dirty="0"/>
              <a:t>с открытым дифференциалом</a:t>
            </a:r>
          </a:p>
          <a:p>
            <a:pPr algn="ctr"/>
            <a:r>
              <a:rPr lang="ru-RU" sz="2500" dirty="0"/>
              <a:t>и коническими сателлитами</a:t>
            </a:r>
          </a:p>
        </p:txBody>
      </p:sp>
    </p:spTree>
    <p:extLst>
      <p:ext uri="{BB962C8B-B14F-4D97-AF65-F5344CB8AC3E}">
        <p14:creationId xmlns:p14="http://schemas.microsoft.com/office/powerpoint/2010/main" val="239598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0A3A-0C29-2D69-8B7A-56337484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A02C2D-2151-2E0A-B1D3-87C6E4622043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F1D9DA3-E650-EA96-70F3-D80BF1E8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051560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Реверс с существующей трансмиссии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E229D2-7291-D365-2356-4DBEFE32A080}"/>
              </a:ext>
            </a:extLst>
          </p:cNvPr>
          <p:cNvSpPr txBox="1"/>
          <p:nvPr/>
        </p:nvSpPr>
        <p:spPr>
          <a:xfrm>
            <a:off x="1136455" y="6031500"/>
            <a:ext cx="48027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Схема вариатора </a:t>
            </a:r>
            <a:r>
              <a:rPr lang="en-US" sz="2500" dirty="0" err="1"/>
              <a:t>Jatco</a:t>
            </a:r>
            <a:r>
              <a:rPr lang="en-US" sz="2500" dirty="0"/>
              <a:t> JF009e</a:t>
            </a:r>
            <a:endParaRPr lang="ru-RU" sz="250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D2D2432-5ACD-CC91-42B1-345ED2BEC1D8}"/>
              </a:ext>
            </a:extLst>
          </p:cNvPr>
          <p:cNvGrpSpPr/>
          <p:nvPr/>
        </p:nvGrpSpPr>
        <p:grpSpPr>
          <a:xfrm>
            <a:off x="259138" y="1982178"/>
            <a:ext cx="6668642" cy="3872102"/>
            <a:chOff x="417957" y="1461898"/>
            <a:chExt cx="7714673" cy="4274798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B0CEC7B-5D31-E590-04C1-5C77F983F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7957" y="1461898"/>
              <a:ext cx="7714673" cy="4274798"/>
            </a:xfrm>
            <a:prstGeom prst="rect">
              <a:avLst/>
            </a:prstGeom>
          </p:spPr>
        </p:pic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48E00B2-CFAE-CF9B-EC67-1E01A40A1138}"/>
                </a:ext>
              </a:extLst>
            </p:cNvPr>
            <p:cNvSpPr/>
            <p:nvPr/>
          </p:nvSpPr>
          <p:spPr>
            <a:xfrm>
              <a:off x="3814234" y="2472267"/>
              <a:ext cx="2048934" cy="313266"/>
            </a:xfrm>
            <a:prstGeom prst="rect">
              <a:avLst/>
            </a:prstGeom>
            <a:noFill/>
            <a:ln w="38100">
              <a:solidFill>
                <a:srgbClr val="006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3A1A9315-8624-AE45-1149-AA5CB76E97B7}"/>
                </a:ext>
              </a:extLst>
            </p:cNvPr>
            <p:cNvSpPr/>
            <p:nvPr/>
          </p:nvSpPr>
          <p:spPr>
            <a:xfrm>
              <a:off x="4919133" y="2785533"/>
              <a:ext cx="2857499" cy="423334"/>
            </a:xfrm>
            <a:prstGeom prst="rect">
              <a:avLst/>
            </a:prstGeom>
            <a:noFill/>
            <a:ln w="38100">
              <a:solidFill>
                <a:srgbClr val="006C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9699ABFA-CF29-D647-6C60-8FF89A7416C5}"/>
              </a:ext>
            </a:extLst>
          </p:cNvPr>
          <p:cNvSpPr/>
          <p:nvPr/>
        </p:nvSpPr>
        <p:spPr>
          <a:xfrm>
            <a:off x="7184899" y="3065302"/>
            <a:ext cx="723754" cy="383455"/>
          </a:xfrm>
          <a:prstGeom prst="rightArrow">
            <a:avLst>
              <a:gd name="adj1" fmla="val 35175"/>
              <a:gd name="adj2" fmla="val 106937"/>
            </a:avLst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48F3F3-69BF-7D9C-91AA-6F2F54AB9B1E}"/>
              </a:ext>
            </a:extLst>
          </p:cNvPr>
          <p:cNvSpPr txBox="1"/>
          <p:nvPr/>
        </p:nvSpPr>
        <p:spPr>
          <a:xfrm>
            <a:off x="8157064" y="2671734"/>
            <a:ext cx="3764171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dirty="0"/>
              <a:t>z1/z2 = 1</a:t>
            </a:r>
            <a:r>
              <a:rPr lang="ru-RU" sz="2500" dirty="0"/>
              <a:t>.</a:t>
            </a:r>
            <a:r>
              <a:rPr lang="en-US" sz="2500" dirty="0"/>
              <a:t>5</a:t>
            </a:r>
            <a:r>
              <a:rPr lang="ru-RU" sz="2500" dirty="0"/>
              <a:t>, </a:t>
            </a:r>
            <a:r>
              <a:rPr lang="en-US" sz="2500" dirty="0"/>
              <a:t>z3/z4 = 3</a:t>
            </a:r>
            <a:r>
              <a:rPr lang="ru-RU" sz="2500" dirty="0"/>
              <a:t>.</a:t>
            </a:r>
            <a:r>
              <a:rPr lang="en-US" sz="2500" dirty="0"/>
              <a:t>6</a:t>
            </a:r>
          </a:p>
          <a:p>
            <a:pPr algn="ctr"/>
            <a:r>
              <a:rPr lang="en-US" sz="2500" dirty="0"/>
              <a:t>b1 = 23</a:t>
            </a:r>
            <a:r>
              <a:rPr lang="ru-RU" sz="2500" dirty="0"/>
              <a:t> мм</a:t>
            </a:r>
            <a:r>
              <a:rPr lang="en-US" sz="2500" dirty="0"/>
              <a:t>, a1 = 91</a:t>
            </a:r>
            <a:r>
              <a:rPr lang="ru-RU" sz="2500" dirty="0"/>
              <a:t> мм</a:t>
            </a:r>
            <a:endParaRPr lang="en-US" sz="2500" dirty="0"/>
          </a:p>
          <a:p>
            <a:pPr algn="ctr"/>
            <a:r>
              <a:rPr lang="en-US" sz="2500" dirty="0"/>
              <a:t>b2 = 35</a:t>
            </a:r>
            <a:r>
              <a:rPr lang="ru-RU" sz="2500" dirty="0"/>
              <a:t> мм</a:t>
            </a:r>
            <a:r>
              <a:rPr lang="en-US" sz="2500" dirty="0"/>
              <a:t>, a2 = 129</a:t>
            </a:r>
            <a:r>
              <a:rPr lang="ru-RU" sz="2500" dirty="0"/>
              <a:t> мм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B431D-1368-4C63-CE6C-EF3B0FC8E82B}"/>
              </a:ext>
            </a:extLst>
          </p:cNvPr>
          <p:cNvSpPr txBox="1"/>
          <p:nvPr/>
        </p:nvSpPr>
        <p:spPr>
          <a:xfrm>
            <a:off x="6422196" y="2029912"/>
            <a:ext cx="165955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SKF6208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6BF963-EEEF-4DF9-9C61-BEC992654A27}"/>
              </a:ext>
            </a:extLst>
          </p:cNvPr>
          <p:cNvSpPr txBox="1"/>
          <p:nvPr/>
        </p:nvSpPr>
        <p:spPr>
          <a:xfrm>
            <a:off x="3537817" y="1621233"/>
            <a:ext cx="17641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SKF30206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53DFAC-2D67-5DBF-9A92-D825922DAB99}"/>
              </a:ext>
            </a:extLst>
          </p:cNvPr>
          <p:cNvSpPr txBox="1"/>
          <p:nvPr/>
        </p:nvSpPr>
        <p:spPr>
          <a:xfrm>
            <a:off x="6241229" y="4470902"/>
            <a:ext cx="202148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500" dirty="0"/>
              <a:t>SKF32006 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F54F826-A8DB-55DD-9E8F-AEACECB97774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4419910" y="2098287"/>
            <a:ext cx="0" cy="68301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EDA2BBF7-53A0-1E75-9BDC-EF2AD538376D}"/>
              </a:ext>
            </a:extLst>
          </p:cNvPr>
          <p:cNvCxnSpPr>
            <a:cxnSpLocks/>
            <a:stCxn id="20" idx="1"/>
          </p:cNvCxnSpPr>
          <p:nvPr/>
        </p:nvCxnSpPr>
        <p:spPr>
          <a:xfrm flipH="1" flipV="1">
            <a:off x="4419909" y="3750733"/>
            <a:ext cx="1821320" cy="958696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800A783-0D59-1AA5-061D-4041BD2B42A2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086227" y="2506966"/>
            <a:ext cx="1165747" cy="68633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C87CD1A-310E-CECA-F160-BE00333BE66A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6028994" y="2506966"/>
            <a:ext cx="1222980" cy="1261929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173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C089-87C7-4D94-105A-406615DF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C6FA25-5D16-88B2-776E-547A78802176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D5291C6-E08B-20DD-F3C3-654DA885D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Подбор параметров зубчатой передачи</a:t>
            </a:r>
            <a:endParaRPr lang="ru-RU" sz="5000" dirty="0">
              <a:solidFill>
                <a:srgbClr val="006CDC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3DB00FB-96DF-8319-9B2A-AC0D5FE84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840" y="2086952"/>
            <a:ext cx="6284447" cy="26840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93E6F7-B979-8364-B943-81E1C0ED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41" y="2478802"/>
            <a:ext cx="6153907" cy="26840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6CDC37-F2B9-4FB1-947A-AC906C968E1E}"/>
              </a:ext>
            </a:extLst>
          </p:cNvPr>
          <p:cNvSpPr txBox="1"/>
          <p:nvPr/>
        </p:nvSpPr>
        <p:spPr>
          <a:xfrm>
            <a:off x="1447434" y="5405853"/>
            <a:ext cx="3454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Расчет первого</a:t>
            </a:r>
          </a:p>
          <a:p>
            <a:pPr algn="ctr"/>
            <a:r>
              <a:rPr lang="ru-RU" sz="2500" dirty="0"/>
              <a:t>зубчатого зацепления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A79708-87CD-7A15-7E95-B8D297DF8681}"/>
              </a:ext>
            </a:extLst>
          </p:cNvPr>
          <p:cNvSpPr txBox="1"/>
          <p:nvPr/>
        </p:nvSpPr>
        <p:spPr>
          <a:xfrm>
            <a:off x="7202603" y="5053040"/>
            <a:ext cx="345492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Расчет второго</a:t>
            </a:r>
          </a:p>
          <a:p>
            <a:pPr algn="ctr"/>
            <a:r>
              <a:rPr lang="ru-RU" sz="2500" dirty="0"/>
              <a:t>зубчатого зацепления</a:t>
            </a:r>
          </a:p>
        </p:txBody>
      </p:sp>
    </p:spTree>
    <p:extLst>
      <p:ext uri="{BB962C8B-B14F-4D97-AF65-F5344CB8AC3E}">
        <p14:creationId xmlns:p14="http://schemas.microsoft.com/office/powerpoint/2010/main" val="352967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BCD2-6685-F997-7372-46C5F2752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FDB5DF-8668-1262-2634-6E40DA19EBC8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1381B34-302F-4070-C2A9-A8D6B327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Составление спектра нагружений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4A01DD-7072-3E7D-2836-A05FA285FF80}"/>
              </a:ext>
            </a:extLst>
          </p:cNvPr>
          <p:cNvSpPr txBox="1"/>
          <p:nvPr/>
        </p:nvSpPr>
        <p:spPr>
          <a:xfrm>
            <a:off x="613002" y="5344591"/>
            <a:ext cx="540276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Нормальный закон распределения</a:t>
            </a:r>
          </a:p>
          <a:p>
            <a:pPr algn="ctr"/>
            <a:r>
              <a:rPr lang="ru-RU" sz="2500" dirty="0"/>
              <a:t>скоростей с делением на участки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8F4DB-8167-F11A-013B-E215F21F0F17}"/>
              </a:ext>
            </a:extLst>
          </p:cNvPr>
          <p:cNvSpPr txBox="1"/>
          <p:nvPr/>
        </p:nvSpPr>
        <p:spPr>
          <a:xfrm>
            <a:off x="7296913" y="5344591"/>
            <a:ext cx="337361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Значение мощностей</a:t>
            </a:r>
          </a:p>
          <a:p>
            <a:pPr algn="ctr"/>
            <a:r>
              <a:rPr lang="ru-RU" sz="2500" dirty="0"/>
              <a:t>по участкам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7CD8E5-B08B-2AE3-F062-7F9C7EB10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77" y="1513409"/>
            <a:ext cx="5742212" cy="36474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C41784F-A727-7C8C-A26D-E7D027853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386" y="1621233"/>
            <a:ext cx="5262671" cy="343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A7E0-BB50-6ECD-0979-1C86031C8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CF7B96A-C774-01BB-8F44-CA4BE7A93150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D4782FC-111F-B655-C913-C75C6DB1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Расчет пары подшипников на ресурс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82C7A0-DEC3-CE6F-EBE7-AC931F5FDD2B}"/>
              </a:ext>
            </a:extLst>
          </p:cNvPr>
          <p:cNvSpPr txBox="1"/>
          <p:nvPr/>
        </p:nvSpPr>
        <p:spPr>
          <a:xfrm>
            <a:off x="519477" y="5615963"/>
            <a:ext cx="36659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Схема промежуточного</a:t>
            </a:r>
          </a:p>
          <a:p>
            <a:pPr algn="ctr"/>
            <a:r>
              <a:rPr lang="ru-RU" sz="2500" dirty="0"/>
              <a:t>вала редуктора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CE7B35F-93A7-1E65-23F8-3C39303C6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8" y="1584302"/>
            <a:ext cx="4191585" cy="39153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98A4D0-50A9-998E-8DD3-CF9FEE456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922" y="2185221"/>
            <a:ext cx="3747050" cy="312125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639684-D792-9F98-0785-678DDFBF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238" y="2185221"/>
            <a:ext cx="3731599" cy="31212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A80FC2-AADC-0A53-C267-F2C7C9A1A699}"/>
              </a:ext>
            </a:extLst>
          </p:cNvPr>
          <p:cNvSpPr txBox="1"/>
          <p:nvPr/>
        </p:nvSpPr>
        <p:spPr>
          <a:xfrm>
            <a:off x="5946410" y="5615963"/>
            <a:ext cx="440120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Установка усилий для колес</a:t>
            </a:r>
          </a:p>
        </p:txBody>
      </p:sp>
    </p:spTree>
    <p:extLst>
      <p:ext uri="{BB962C8B-B14F-4D97-AF65-F5344CB8AC3E}">
        <p14:creationId xmlns:p14="http://schemas.microsoft.com/office/powerpoint/2010/main" val="2144606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707A-3312-7252-1714-6B46CABFE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6587F1B-2651-4077-B380-C4DB707D6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61" y="2072849"/>
            <a:ext cx="7344800" cy="346758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9E901E-2944-00C6-6256-CEDCD8AB07C2}"/>
              </a:ext>
            </a:extLst>
          </p:cNvPr>
          <p:cNvSpPr/>
          <p:nvPr/>
        </p:nvSpPr>
        <p:spPr>
          <a:xfrm>
            <a:off x="0" y="1"/>
            <a:ext cx="12192000" cy="1240970"/>
          </a:xfrm>
          <a:prstGeom prst="rect">
            <a:avLst/>
          </a:prstGeom>
          <a:solidFill>
            <a:srgbClr val="006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F9B8EF3-D646-261B-A4A3-EC93686A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477" y="380263"/>
            <a:ext cx="11095580" cy="1424696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5000" dirty="0">
                <a:solidFill>
                  <a:schemeClr val="bg1"/>
                </a:solidFill>
              </a:rPr>
              <a:t>Расчет МКЭ корпуса дифференциала</a:t>
            </a:r>
            <a:endParaRPr lang="ru-RU" sz="5000" dirty="0">
              <a:solidFill>
                <a:srgbClr val="006CD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7BF54-D02F-E398-D290-2F92529C90E2}"/>
              </a:ext>
            </a:extLst>
          </p:cNvPr>
          <p:cNvSpPr txBox="1"/>
          <p:nvPr/>
        </p:nvSpPr>
        <p:spPr>
          <a:xfrm>
            <a:off x="874039" y="5615963"/>
            <a:ext cx="30524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Установка</a:t>
            </a:r>
          </a:p>
          <a:p>
            <a:pPr algn="ctr"/>
            <a:r>
              <a:rPr lang="ru-RU" sz="2500" dirty="0"/>
              <a:t>граничных условий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7044CA-8B25-FCE5-1898-8FFE6CB06337}"/>
              </a:ext>
            </a:extLst>
          </p:cNvPr>
          <p:cNvSpPr txBox="1"/>
          <p:nvPr/>
        </p:nvSpPr>
        <p:spPr>
          <a:xfrm>
            <a:off x="5566476" y="5808323"/>
            <a:ext cx="54180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500" dirty="0"/>
              <a:t>Эпюры напряжений и деформации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5D1F3E-4041-1662-FB58-F49661A7E7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32"/>
          <a:stretch>
            <a:fillRect/>
          </a:stretch>
        </p:blipFill>
        <p:spPr>
          <a:xfrm>
            <a:off x="244080" y="2180899"/>
            <a:ext cx="4312358" cy="3059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3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CD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3C3A7-8952-8DBA-B83B-0FD9927F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2EBC7C7-B43F-20BD-0D92-463D1164F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87" y="2369136"/>
            <a:ext cx="5246913" cy="524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886D9-893B-FB6F-63E9-F4CC04C52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432" y="1404257"/>
            <a:ext cx="9241971" cy="2226431"/>
          </a:xfrm>
        </p:spPr>
        <p:txBody>
          <a:bodyPr>
            <a:noAutofit/>
          </a:bodyPr>
          <a:lstStyle/>
          <a:p>
            <a:pPr algn="l"/>
            <a:r>
              <a:rPr lang="ru-RU" sz="5000" b="1"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904361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thic">
      <a:majorFont>
        <a:latin typeface="Arial Rounded MT Bold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170</Words>
  <Application>Microsoft Office PowerPoint</Application>
  <PresentationFormat>Широкоэкранный</PresentationFormat>
  <Paragraphs>49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ALS Sector Regular</vt:lpstr>
      <vt:lpstr>Arial</vt:lpstr>
      <vt:lpstr>Arial Rounded MT Bold</vt:lpstr>
      <vt:lpstr>Calibri</vt:lpstr>
      <vt:lpstr>Тема Office</vt:lpstr>
      <vt:lpstr>ГЛАВНАЯ ПЕРЕДАЧА ПЕРЕДНЕПРИВОДНОГО ЛЕГКОВОГО АВТОМОБИЛЯ</vt:lpstr>
      <vt:lpstr>Конструкция главной передачи зубчатое звено</vt:lpstr>
      <vt:lpstr>Конструкция главной передачи сателлиты</vt:lpstr>
      <vt:lpstr>Конструкция главной передачи блокировки дифференциала</vt:lpstr>
      <vt:lpstr>Конструкция главной передачи</vt:lpstr>
      <vt:lpstr>Реверс с существующей трансмиссии</vt:lpstr>
      <vt:lpstr>Подбор параметров зубчатой передачи</vt:lpstr>
      <vt:lpstr>Составление спектра нагружений</vt:lpstr>
      <vt:lpstr>Расчет пары подшипников на ресурс</vt:lpstr>
      <vt:lpstr>Расчет МКЭ корпуса дифференциала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Tamashny Sag</dc:creator>
  <cp:lastModifiedBy>Tamashny Sag</cp:lastModifiedBy>
  <cp:revision>34</cp:revision>
  <dcterms:created xsi:type="dcterms:W3CDTF">2026-04-05T13:29:33Z</dcterms:created>
  <dcterms:modified xsi:type="dcterms:W3CDTF">2026-05-05T19:43:00Z</dcterms:modified>
</cp:coreProperties>
</file>