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4"/>
  </p:notesMasterIdLst>
  <p:sldIdLst>
    <p:sldId id="328" r:id="rId2"/>
    <p:sldId id="398" r:id="rId3"/>
    <p:sldId id="412" r:id="rId4"/>
    <p:sldId id="446" r:id="rId5"/>
    <p:sldId id="447" r:id="rId6"/>
    <p:sldId id="448" r:id="rId7"/>
    <p:sldId id="449" r:id="rId8"/>
    <p:sldId id="442" r:id="rId9"/>
    <p:sldId id="450" r:id="rId10"/>
    <p:sldId id="451" r:id="rId11"/>
    <p:sldId id="452" r:id="rId12"/>
    <p:sldId id="453" r:id="rId13"/>
    <p:sldId id="454" r:id="rId14"/>
    <p:sldId id="455" r:id="rId15"/>
    <p:sldId id="456" r:id="rId16"/>
    <p:sldId id="457" r:id="rId17"/>
    <p:sldId id="458" r:id="rId18"/>
    <p:sldId id="459" r:id="rId19"/>
    <p:sldId id="460" r:id="rId20"/>
    <p:sldId id="461" r:id="rId21"/>
    <p:sldId id="429" r:id="rId22"/>
    <p:sldId id="396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ИРС" id="{FCEA663C-48B0-7640-ACFB-F74CC6B52896}">
          <p14:sldIdLst/>
        </p14:section>
        <p14:section name="Обложка" id="{797E500E-AFD6-45E9-BB33-92860B4283A0}">
          <p14:sldIdLst>
            <p14:sldId id="328"/>
          </p14:sldIdLst>
        </p14:section>
        <p14:section name="Тело" id="{1B65DF70-AC74-4D30-BDFA-C0CA3B0B6244}">
          <p14:sldIdLst>
            <p14:sldId id="398"/>
            <p14:sldId id="412"/>
            <p14:sldId id="446"/>
            <p14:sldId id="447"/>
            <p14:sldId id="448"/>
            <p14:sldId id="449"/>
            <p14:sldId id="442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29"/>
          </p14:sldIdLst>
        </p14:section>
        <p14:section name="Спасибо" id="{94404EB9-856D-4630-BA8E-018B153D4B4D}">
          <p14:sldIdLst>
            <p14:sldId id="3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 никита" initials="Nн" lastIdx="2" clrIdx="0">
    <p:extLst>
      <p:ext uri="{19B8F6BF-5375-455C-9EA6-DF929625EA0E}">
        <p15:presenceInfo xmlns:p15="http://schemas.microsoft.com/office/powerpoint/2012/main" userId="29b0311d5adc3b9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DEA"/>
    <a:srgbClr val="BE5108"/>
    <a:srgbClr val="4A8522"/>
    <a:srgbClr val="D29500"/>
    <a:srgbClr val="FFC000"/>
    <a:srgbClr val="FFFFFF"/>
    <a:srgbClr val="E6E6E6"/>
    <a:srgbClr val="0099FF"/>
    <a:srgbClr val="639CF3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8" autoAdjust="0"/>
    <p:restoredTop sz="96308" autoAdjust="0"/>
  </p:normalViewPr>
  <p:slideViewPr>
    <p:cSldViewPr snapToGrid="0" snapToObjects="1">
      <p:cViewPr>
        <p:scale>
          <a:sx n="66" d="100"/>
          <a:sy n="66" d="100"/>
        </p:scale>
        <p:origin x="808" y="32"/>
      </p:cViewPr>
      <p:guideLst/>
    </p:cSldViewPr>
  </p:slideViewPr>
  <p:notesTextViewPr>
    <p:cViewPr>
      <p:scale>
        <a:sx n="155" d="100"/>
        <a:sy n="15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1DD2-73B1-F14C-85CF-6D78FFDE7F84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E6FB5-F890-304F-A36B-54AA81FB8B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92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9E6FB5-F890-304F-A36B-54AA81FB8B0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7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79BA0-411E-A65B-876A-7611F71E3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E0D2E3-37C1-D763-45E1-5611DCB12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0A64-28A0-00A1-D917-2A896022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DA8E28-A781-8F75-66B2-59F3125B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558D9E-7590-D7A8-4C58-D3A2D81C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68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ED183-9AEB-04E1-1030-33EF54C1D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279B3-8393-6458-8BB7-7ADA4E5B6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C40523-4510-EF74-45EE-D22BB79A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CB625F-5079-C90D-D8DF-CB7B60491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AA83B6-A404-5936-CC80-EC9668C5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76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A509-87DC-767E-1832-C7CC363A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1884C6-3013-2458-0D68-A79021658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003E16-5D83-7B39-5E7A-9F01AC18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7CCE9B-95D8-9316-C686-67A20911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337C9-1926-3AED-110C-23634C24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2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2984E-EC5B-9060-A2BD-594795B0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29E23-65B3-BB1A-8057-C43A937AF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BCA964-7517-C44F-4089-D73C8C9A4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D9D7B3-96A9-1F31-FFD0-CED4EDBF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48DED3-81A7-C95A-C099-288A4C2E9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EE3D20-8724-FA65-EF34-BC2B1AD6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78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5074E-293E-3A76-CAC2-6C589414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44E037-C4FA-D65F-DD15-3EB27E8E3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D5DBB3-1C4A-34AF-0037-C7D147D16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D213FB-DBAC-11C6-C232-49F21D795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A6A2461-D4A7-7991-4932-4BC08454C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03503A-4F0A-0B84-8B95-C5532231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2E2AA5-B04B-511D-3F64-47B0E937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CC1A9-C078-D857-B6FC-D2BE7A49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16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877D4-61ED-5225-4B61-2CBCB01D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96CAC9-68A8-6AA1-1060-7FB102AF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B4FA76-A58E-6266-E50F-6EE6783F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4F895F-D327-014B-C3DF-00E76939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20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5F5DA4-954D-7489-7260-247E22617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8D1EA36-18D0-FCE9-0CEB-63DC27AEE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138B87-3BE8-E11A-4CA5-32AB35B1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978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72561-52A2-5966-54B8-EEDDAEB3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0A797C-423C-AC6B-D4D5-A9A8E00A2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BE570D-2BFC-B862-DCD3-1F1B707F3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8C0C96-5EA3-6E15-1B27-D0789018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8A6578-8C97-AD3E-6C9F-9C52222A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18E633-B5FC-2FB9-CCBB-E727CBD45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5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DECCB-440D-BA77-A255-47BA24D5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D359C9-E73A-60DA-395D-0BA533E81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F5D950-A285-52A7-3A70-B9D48FD5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E07823-E262-66FD-5E7C-73C23012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19CEFE-2C72-7E64-ED66-D17D5B33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100F73-52A0-70AA-D241-932B2663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84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BACE5-BB05-C3A5-DD41-1733373E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DC787-2CB8-7D05-7248-858F71956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BAE0B-13F0-64F1-931E-30D57275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82812-101B-7090-50AB-7588FBD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966155-AA2C-8FF1-D604-9C0D5E23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18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FB54F11-0A84-1BDD-F8B1-4A6AB340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E85FF9-1A4D-2103-8E70-27524A4F1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F23D07-ACD4-B405-AC0F-BCC39006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CD1D5B-DEBA-3AA4-215A-3DDE7419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AA6B24-E5D5-0134-836C-502AE8CB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3E1C1-A028-4D4E-A8C8-9214D2A1B6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38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47216-A557-C48B-4C71-1A240DCE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322E18-8D58-0C66-D787-DB415C990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DDE747-9118-13EB-934F-B918F17AD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E4A8F-D894-394B-8106-7DD72FD6EB1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205960-BE43-11EA-5C91-829BA1B3E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CC4A4-F428-D59F-9C65-A877CAF52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LS Sector Regular" pitchFamily="2" charset="0"/>
                <a:cs typeface="ALS Sector Regular" pitchFamily="2" charset="0"/>
              </a:defRPr>
            </a:lvl1pPr>
          </a:lstStyle>
          <a:p>
            <a:fld id="{1363E1C1-A028-4D4E-A8C8-9214D2A1B6C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431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463436" y="1031991"/>
            <a:ext cx="11211339" cy="32546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КУРСОВОЙ ПРОЕКТ</a:t>
            </a:r>
            <a:endParaRPr lang="en-US" sz="3600" b="1" dirty="0">
              <a:solidFill>
                <a:schemeClr val="bg1"/>
              </a:solidFill>
              <a:latin typeface="ALS Sector Regular" pitchFamily="2" charset="0"/>
              <a:cs typeface="ALS Sector Regular" pitchFamily="2" charset="0"/>
            </a:endParaRPr>
          </a:p>
          <a:p>
            <a:endParaRPr lang="ru-RU" sz="1800" b="1" dirty="0">
              <a:solidFill>
                <a:schemeClr val="bg1"/>
              </a:solidFill>
              <a:latin typeface="ALS Sector Regular" pitchFamily="2" charset="0"/>
              <a:cs typeface="ALS Sector Regular" pitchFamily="2" charset="0"/>
            </a:endParaRPr>
          </a:p>
          <a:p>
            <a:r>
              <a:rPr lang="ru-RU" sz="18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ПРОЕКТИРОВАНИЕ БЕССТУПЕНЧАТОЙ КОРОБКИ ПЕРЕДАЧ</a:t>
            </a:r>
          </a:p>
          <a:p>
            <a:r>
              <a:rPr lang="ru-RU" sz="18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ЛЕГКОВОГО АВТОМОБИЛЯ ПОЛНОЙ МАССЫ 1,6 ТОННЫ</a:t>
            </a:r>
          </a:p>
          <a:p>
            <a:r>
              <a:rPr lang="ru-RU" sz="1800" b="1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КОЛЕСНОЫЙ ФОРМУЛЫ 4Х2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1ED838-C5F8-5BF8-527C-4FB20A960F4F}"/>
              </a:ext>
            </a:extLst>
          </p:cNvPr>
          <p:cNvSpPr/>
          <p:nvPr/>
        </p:nvSpPr>
        <p:spPr>
          <a:xfrm>
            <a:off x="463436" y="6079140"/>
            <a:ext cx="5316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76DEA"/>
              </a:buClr>
            </a:pPr>
            <a:r>
              <a:rPr lang="ru-RU" sz="2000" dirty="0">
                <a:solidFill>
                  <a:schemeClr val="bg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Москва 2025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AC25DA0-FB7B-F5ED-1652-54BE4C90F804}"/>
              </a:ext>
            </a:extLst>
          </p:cNvPr>
          <p:cNvSpPr txBox="1">
            <a:spLocks/>
          </p:cNvSpPr>
          <p:nvPr/>
        </p:nvSpPr>
        <p:spPr>
          <a:xfrm>
            <a:off x="463433" y="378750"/>
            <a:ext cx="11211339" cy="6532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Московский государственный технический университет им. Н.Э. Баумана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3436" y="4400868"/>
            <a:ext cx="3894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Исполнитель, </a:t>
            </a:r>
            <a:endParaRPr lang="en-US" dirty="0">
              <a:solidFill>
                <a:schemeClr val="bg1"/>
              </a:solidFill>
              <a:latin typeface="ALS Sector Regular" pitchFamily="50" charset="0"/>
              <a:cs typeface="ALS Sector Regular" pitchFamily="50" charset="0"/>
            </a:endParaRPr>
          </a:p>
          <a:p>
            <a:r>
              <a:rPr lang="ru-RU" dirty="0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студент группы СМ10-71Б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3436" y="5402140"/>
            <a:ext cx="389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Руководитель КП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433" y="4681592"/>
            <a:ext cx="4162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Джабаев Ибрагим Юнусович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433" y="5399679"/>
            <a:ext cx="4162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Шаболин</a:t>
            </a:r>
            <a:r>
              <a:rPr lang="ru-RU" dirty="0">
                <a:solidFill>
                  <a:schemeClr val="bg1"/>
                </a:solidFill>
                <a:latin typeface="ALS Sector Regular" pitchFamily="50" charset="0"/>
                <a:cs typeface="ALS Sector Regular" pitchFamily="50" charset="0"/>
              </a:rPr>
              <a:t> Михаил Леонидович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/>
                </a14:imgProps>
              </a:ext>
            </a:extLst>
          </a:blip>
          <a:stretch>
            <a:fillRect/>
          </a:stretch>
        </p:blipFill>
        <p:spPr>
          <a:xfrm>
            <a:off x="10603392" y="203704"/>
            <a:ext cx="1228631" cy="123595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3460154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6C9820C-09B5-F4D3-957A-81C5359E0F84}"/>
              </a:ext>
            </a:extLst>
          </p:cNvPr>
          <p:cNvSpPr/>
          <p:nvPr/>
        </p:nvSpPr>
        <p:spPr>
          <a:xfrm>
            <a:off x="2" y="1"/>
            <a:ext cx="2498582" cy="6858000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AF46E1F8-7693-1B2B-37CB-7E63896822AA}"/>
              </a:ext>
            </a:extLst>
          </p:cNvPr>
          <p:cNvSpPr txBox="1"/>
          <p:nvPr/>
        </p:nvSpPr>
        <p:spPr>
          <a:xfrm>
            <a:off x="387299" y="331902"/>
            <a:ext cx="1797102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4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Актуальность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0714F13-3595-D78F-F56E-E1E6DB06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2</a:t>
            </a:fld>
            <a:endParaRPr lang="ru-RU" sz="2000" dirty="0">
              <a:solidFill>
                <a:schemeClr val="accent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90ACDC-3CA9-2362-619D-96691E8A351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D033D59-C940-4EBD-348F-ED15026F6B91}"/>
              </a:ext>
            </a:extLst>
          </p:cNvPr>
          <p:cNvCxnSpPr>
            <a:cxnSpLocks/>
          </p:cNvCxnSpPr>
          <p:nvPr/>
        </p:nvCxnSpPr>
        <p:spPr>
          <a:xfrm>
            <a:off x="2498584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Структурный маневр: Кувейт сокращает поставки сырья в пользу экспорта нефтепроду">
            <a:extLst>
              <a:ext uri="{FF2B5EF4-FFF2-40B4-BE49-F238E27FC236}">
                <a16:creationId xmlns:a16="http://schemas.microsoft.com/office/drawing/2014/main" id="{E69C8C61-4B2C-6AF6-89DD-74155FB89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228" y="4084946"/>
            <a:ext cx="4267200" cy="242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518F42B-B443-5AF1-8B27-2C596BE4B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541" y="1136086"/>
            <a:ext cx="4267200" cy="2292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69;p3">
            <a:extLst>
              <a:ext uri="{FF2B5EF4-FFF2-40B4-BE49-F238E27FC236}">
                <a16:creationId xmlns:a16="http://schemas.microsoft.com/office/drawing/2014/main" id="{F49CD87A-F897-672A-A93A-81C5F8EFF23B}"/>
              </a:ext>
            </a:extLst>
          </p:cNvPr>
          <p:cNvSpPr txBox="1"/>
          <p:nvPr/>
        </p:nvSpPr>
        <p:spPr>
          <a:xfrm>
            <a:off x="3026228" y="3544302"/>
            <a:ext cx="4405525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4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Ограниченные нефтепродукты</a:t>
            </a:r>
          </a:p>
        </p:txBody>
      </p:sp>
      <p:sp>
        <p:nvSpPr>
          <p:cNvPr id="11" name="Google Shape;69;p3">
            <a:extLst>
              <a:ext uri="{FF2B5EF4-FFF2-40B4-BE49-F238E27FC236}">
                <a16:creationId xmlns:a16="http://schemas.microsoft.com/office/drawing/2014/main" id="{2DD128A4-1F27-0056-9877-4A945FBF7A7C}"/>
              </a:ext>
            </a:extLst>
          </p:cNvPr>
          <p:cNvSpPr txBox="1"/>
          <p:nvPr/>
        </p:nvSpPr>
        <p:spPr>
          <a:xfrm>
            <a:off x="7553796" y="553356"/>
            <a:ext cx="2175013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4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Выбросы газов</a:t>
            </a:r>
          </a:p>
        </p:txBody>
      </p:sp>
      <p:sp>
        <p:nvSpPr>
          <p:cNvPr id="13" name="Google Shape;69;p3">
            <a:extLst>
              <a:ext uri="{FF2B5EF4-FFF2-40B4-BE49-F238E27FC236}">
                <a16:creationId xmlns:a16="http://schemas.microsoft.com/office/drawing/2014/main" id="{0428E404-0026-DF7B-6F85-D42102C401C3}"/>
              </a:ext>
            </a:extLst>
          </p:cNvPr>
          <p:cNvSpPr txBox="1"/>
          <p:nvPr/>
        </p:nvSpPr>
        <p:spPr>
          <a:xfrm>
            <a:off x="2880976" y="261899"/>
            <a:ext cx="1814286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30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Экология</a:t>
            </a:r>
          </a:p>
        </p:txBody>
      </p:sp>
    </p:spTree>
    <p:extLst>
      <p:ext uri="{BB962C8B-B14F-4D97-AF65-F5344CB8AC3E}">
        <p14:creationId xmlns:p14="http://schemas.microsoft.com/office/powerpoint/2010/main" val="330645703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1A62-AB0D-6AAF-3D34-B4B3FF00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6AD3EB-37AF-4AFF-492E-0863E8CA8F6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230AC0-6DA9-8613-C6E6-0CCE74AC8219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2CBC15B9-DAC7-8498-A99A-98F2E396413C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Типы вариаторов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9A6042-2E27-8B01-DC61-C5044912254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43CDA498-2965-C78D-CC88-5D5CFFED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3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0B81955-D72E-E132-9591-92C188C1FE09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5BE4EC6-B41C-1C1C-2AAD-D4640B07C4AD}"/>
              </a:ext>
            </a:extLst>
          </p:cNvPr>
          <p:cNvSpPr txBox="1"/>
          <p:nvPr/>
        </p:nvSpPr>
        <p:spPr>
          <a:xfrm>
            <a:off x="370006" y="2724994"/>
            <a:ext cx="3102538" cy="2481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3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Клиновый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Тороидальный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Конусный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Электрический</a:t>
            </a:r>
          </a:p>
        </p:txBody>
      </p:sp>
      <p:pic>
        <p:nvPicPr>
          <p:cNvPr id="9" name="Рисунок 8" descr="Изображение выглядит как машина, металл, камера, объектив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267DB7-F553-8D27-D66A-7512758E1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953" y="2277610"/>
            <a:ext cx="3604945" cy="395632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3277A04-21DF-5ED1-637D-00ECD51FA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144" y="2402312"/>
            <a:ext cx="2598149" cy="2053376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плетеный, браслет, ткан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172AB5-291B-34C1-4AD3-9948176255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671" y="4527521"/>
            <a:ext cx="2806009" cy="1603434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металлоиздел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D9BEA4-1048-01D5-2AC6-66FBA0ED99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9540" y="3184119"/>
            <a:ext cx="2645027" cy="130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9992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048DA-75D6-E048-8B52-2C24EFF18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30DA71-4FF7-53A1-5266-EB30E07327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87AFA19-8468-161B-1477-A82718A43BB7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BAF42484-835C-D566-F0F0-489B89613EA0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Типы вариаторов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6309BE7-476D-63E4-323C-86A321D8CB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FC3FC228-2125-3DAB-2D31-BA4D5DF2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4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5A1D7BA-9EC3-1608-3D95-C21EBEF7309D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A882B6-FAA8-4535-86DB-20B94BB8BAA1}"/>
              </a:ext>
            </a:extLst>
          </p:cNvPr>
          <p:cNvSpPr txBox="1"/>
          <p:nvPr/>
        </p:nvSpPr>
        <p:spPr>
          <a:xfrm>
            <a:off x="370005" y="2724994"/>
            <a:ext cx="3537965" cy="2481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Клиновый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3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Тороидальный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Конусный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Электрический</a:t>
            </a:r>
          </a:p>
        </p:txBody>
      </p:sp>
      <p:pic>
        <p:nvPicPr>
          <p:cNvPr id="10" name="Рисунок 9" descr="Изображение выглядит как металл, серебря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3311FA-2515-81AC-35A4-562624571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576" y="2364665"/>
            <a:ext cx="3344845" cy="31966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DDBB4D-B881-7680-72B1-EF42DD74E052}"/>
              </a:ext>
            </a:extLst>
          </p:cNvPr>
          <p:cNvSpPr txBox="1"/>
          <p:nvPr/>
        </p:nvSpPr>
        <p:spPr>
          <a:xfrm>
            <a:off x="8132614" y="2153459"/>
            <a:ext cx="36099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Равномерной</a:t>
            </a:r>
          </a:p>
          <a:p>
            <a:pPr algn="ctr"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распределение нагрузки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DF834680-6FD6-310E-81F5-E2F56B0FF40A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8907655" y="3240050"/>
            <a:ext cx="366974" cy="12057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1107693-749F-6495-A08E-D271FF988DA6}"/>
              </a:ext>
            </a:extLst>
          </p:cNvPr>
          <p:cNvSpPr txBox="1"/>
          <p:nvPr/>
        </p:nvSpPr>
        <p:spPr>
          <a:xfrm>
            <a:off x="7886501" y="4445826"/>
            <a:ext cx="20423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Мощнее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C97BD0-0256-AA73-333E-9237E5F28692}"/>
              </a:ext>
            </a:extLst>
          </p:cNvPr>
          <p:cNvSpPr txBox="1"/>
          <p:nvPr/>
        </p:nvSpPr>
        <p:spPr>
          <a:xfrm>
            <a:off x="10046888" y="4445826"/>
            <a:ext cx="20423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Долговечнее</a:t>
            </a: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52687BDB-728B-1528-0920-5EF006474EF5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0624457" y="3229851"/>
            <a:ext cx="443585" cy="12159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95876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5DC75-0CC0-A344-4DB0-C1E9F5EA2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3CB965-F992-7F59-163F-9350BF20B7D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693B341-9E55-E197-CB4B-E9106F9138AA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B2AD4DE6-C907-B46A-E2DC-62BB9E5CC4CB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Типы вариаторов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2A3B9F1-0AEE-6890-CA5B-098F73E0126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141BC4DF-C4C2-2654-7844-E0EF1088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5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E94D4098-60C3-92DB-A70D-34E353782AAB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518301B-5239-3412-48EE-593E63181358}"/>
              </a:ext>
            </a:extLst>
          </p:cNvPr>
          <p:cNvSpPr txBox="1"/>
          <p:nvPr/>
        </p:nvSpPr>
        <p:spPr>
          <a:xfrm>
            <a:off x="370005" y="2724994"/>
            <a:ext cx="3537965" cy="2481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Клиновый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Тороидальный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3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Конусный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Электрический</a:t>
            </a:r>
          </a:p>
        </p:txBody>
      </p:sp>
      <p:pic>
        <p:nvPicPr>
          <p:cNvPr id="9" name="Рисунок 8" descr="Изображение выглядит как металл, машина, ротор, труб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16CDF5-CD00-D738-5DD1-EFC9E7A91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970" y="2242459"/>
            <a:ext cx="4189077" cy="35330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7ABDE0-B588-FFA9-7F60-F5DE827195EB}"/>
              </a:ext>
            </a:extLst>
          </p:cNvPr>
          <p:cNvSpPr txBox="1"/>
          <p:nvPr/>
        </p:nvSpPr>
        <p:spPr>
          <a:xfrm>
            <a:off x="8568952" y="3391458"/>
            <a:ext cx="3165707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+ Проще конструкция</a:t>
            </a:r>
          </a:p>
          <a:p>
            <a:pPr>
              <a:lnSpc>
                <a:spcPct val="150000"/>
              </a:lnSpc>
              <a:defRPr/>
            </a:pPr>
            <a:r>
              <a:rPr lang="ru-RU" sz="2400" b="1" dirty="0">
                <a:solidFill>
                  <a:srgbClr val="FF0000"/>
                </a:solidFill>
                <a:latin typeface="ALS Sector Regular"/>
                <a:cs typeface="ALS Sector Regular"/>
              </a:rPr>
              <a:t>– Меньше нагрузки</a:t>
            </a:r>
          </a:p>
        </p:txBody>
      </p:sp>
    </p:spTree>
    <p:extLst>
      <p:ext uri="{BB962C8B-B14F-4D97-AF65-F5344CB8AC3E}">
        <p14:creationId xmlns:p14="http://schemas.microsoft.com/office/powerpoint/2010/main" val="62978841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30DB1-B480-5555-1029-7AFED0255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757F33-B774-46B8-5D10-D805BD11675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90A602E-68EC-4222-A981-A97080FDC191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4F1F3299-9C86-400F-B137-FE4AAEF5FDFC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Типы вариаторов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7A5A877-4327-B806-AC4A-E923C035A7A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2F852A13-04DD-EDE9-BB50-83FBAC89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6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A04147E-75C1-F5B6-E78C-FCEB13132B0D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FFE788C-01B5-C1CC-771A-8DFFC5C2A958}"/>
              </a:ext>
            </a:extLst>
          </p:cNvPr>
          <p:cNvSpPr txBox="1"/>
          <p:nvPr/>
        </p:nvSpPr>
        <p:spPr>
          <a:xfrm>
            <a:off x="370005" y="2724994"/>
            <a:ext cx="3537965" cy="2458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Клиновый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Тороидальный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Конусный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3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Электрический</a:t>
            </a:r>
          </a:p>
        </p:txBody>
      </p:sp>
      <p:pic>
        <p:nvPicPr>
          <p:cNvPr id="10" name="Рисунок 9" descr="Изображение выглядит как машина, автокомпонент, ротор, шестерн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E22226-B373-B81C-B660-CD529C618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382" y="2254489"/>
            <a:ext cx="4171195" cy="39503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29D344-504B-9486-17C0-DBAE04A17294}"/>
              </a:ext>
            </a:extLst>
          </p:cNvPr>
          <p:cNvSpPr txBox="1"/>
          <p:nvPr/>
        </p:nvSpPr>
        <p:spPr>
          <a:xfrm>
            <a:off x="6822263" y="1775869"/>
            <a:ext cx="1459951" cy="79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eCVT</a:t>
            </a:r>
            <a:endParaRPr lang="ru-RU" sz="3400" b="1" dirty="0">
              <a:solidFill>
                <a:srgbClr val="176DEA"/>
              </a:solidFill>
              <a:latin typeface="ALS Sector Regular"/>
              <a:cs typeface="ALS Sector Regula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C0EEF5-3AA9-B51E-E104-165B84140972}"/>
              </a:ext>
            </a:extLst>
          </p:cNvPr>
          <p:cNvSpPr txBox="1"/>
          <p:nvPr/>
        </p:nvSpPr>
        <p:spPr>
          <a:xfrm>
            <a:off x="8616051" y="5183039"/>
            <a:ext cx="24661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Применение электромоторов</a:t>
            </a:r>
          </a:p>
        </p:txBody>
      </p:sp>
    </p:spTree>
    <p:extLst>
      <p:ext uri="{BB962C8B-B14F-4D97-AF65-F5344CB8AC3E}">
        <p14:creationId xmlns:p14="http://schemas.microsoft.com/office/powerpoint/2010/main" val="173311234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BE8EA-EE4D-9021-A542-FD5F02C9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917A8D-EDE4-69FF-854A-2B87A1AA88D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BBEB4B3-6C9E-EC40-81D0-20A7D46E8974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357E467-D2FC-A0CC-3D1C-42F08A033BB8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Сравнение типов вариаторов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A0D49EE-C0A5-B432-9047-B18B5A1B07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D05CD45E-C467-F2F9-9837-0B54A135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7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C3254E1-0191-0B84-0DF2-89E595682AB3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 descr="Изображение выглядит как текст, снимок экрана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648A5B-EDA2-B4BC-ABD8-CF350BA12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825" y="2294843"/>
            <a:ext cx="4862180" cy="37197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63B578D-9D1A-A034-C3FC-76CA51916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863" y="4619625"/>
            <a:ext cx="662888" cy="457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DD5FC2-5D98-FE40-65B8-CE295AEE75B8}"/>
              </a:ext>
            </a:extLst>
          </p:cNvPr>
          <p:cNvSpPr txBox="1"/>
          <p:nvPr/>
        </p:nvSpPr>
        <p:spPr>
          <a:xfrm>
            <a:off x="6675411" y="3245723"/>
            <a:ext cx="4862178" cy="1373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ru-RU" sz="3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Клиновый вариатор</a:t>
            </a:r>
          </a:p>
          <a:p>
            <a:pPr>
              <a:lnSpc>
                <a:spcPct val="150000"/>
              </a:lnSpc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Совмещает преимущества прочих</a:t>
            </a:r>
          </a:p>
        </p:txBody>
      </p:sp>
    </p:spTree>
    <p:extLst>
      <p:ext uri="{BB962C8B-B14F-4D97-AF65-F5344CB8AC3E}">
        <p14:creationId xmlns:p14="http://schemas.microsoft.com/office/powerpoint/2010/main" val="331028599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D6D7-6BAA-58A1-A7B3-CB06F99D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FC9CEF-1F41-B6D3-EED0-8589B2264DD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71D397E-8A9E-62E3-D5B4-3B1B7F285C46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0E52B675-3B81-6E75-83DA-6AB7FD956E18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Выбранный агрегат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11709AD-10F1-1E4E-716B-EC4390AA758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1C4A550F-2CE0-BCCF-52DB-69D6B496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8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6158EF4-ECD7-4FFA-BF54-8CC55E376424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CF28FE6-9260-05B9-DD38-006189D73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62" y="2402322"/>
            <a:ext cx="476250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DB14B1-70B2-81BA-AA19-F82ACE80498B}"/>
              </a:ext>
            </a:extLst>
          </p:cNvPr>
          <p:cNvSpPr txBox="1"/>
          <p:nvPr/>
        </p:nvSpPr>
        <p:spPr>
          <a:xfrm>
            <a:off x="1131353" y="1791631"/>
            <a:ext cx="2276083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Nissan Tiida</a:t>
            </a: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 </a:t>
            </a:r>
            <a:r>
              <a:rPr lang="en-US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CVT</a:t>
            </a:r>
            <a:endParaRPr lang="ru-RU" sz="2400" b="1" dirty="0">
              <a:solidFill>
                <a:srgbClr val="176DEA"/>
              </a:solidFill>
              <a:latin typeface="ALS Sector Regular"/>
              <a:cs typeface="ALS Sector Regular"/>
            </a:endParaRPr>
          </a:p>
        </p:txBody>
      </p:sp>
      <p:pic>
        <p:nvPicPr>
          <p:cNvPr id="9" name="Рисунок 8" descr="Изображение выглядит как автокомпонент, машина, двигат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F9C0AB4-EFBE-BDD1-A28C-13F13009C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217" y="2444188"/>
            <a:ext cx="3038313" cy="29684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76453E-CDA4-5CE7-C65E-79A6DF029F7A}"/>
              </a:ext>
            </a:extLst>
          </p:cNvPr>
          <p:cNvSpPr txBox="1"/>
          <p:nvPr/>
        </p:nvSpPr>
        <p:spPr>
          <a:xfrm>
            <a:off x="5204239" y="1774681"/>
            <a:ext cx="2348268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КП </a:t>
            </a:r>
            <a:r>
              <a:rPr lang="en-US" sz="2400" b="1" dirty="0" err="1">
                <a:solidFill>
                  <a:srgbClr val="176DEA"/>
                </a:solidFill>
                <a:latin typeface="ALS Sector Regular"/>
                <a:cs typeface="ALS Sector Regular"/>
              </a:rPr>
              <a:t>Jatco</a:t>
            </a:r>
            <a:r>
              <a:rPr lang="en-US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 JF009e</a:t>
            </a:r>
            <a:endParaRPr lang="ru-RU" sz="2400" b="1" dirty="0">
              <a:solidFill>
                <a:srgbClr val="176DEA"/>
              </a:solidFill>
              <a:latin typeface="ALS Sector Regular"/>
              <a:cs typeface="ALS Sector Regula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04ED67-D42E-F309-FA53-E79AE6EDA940}"/>
              </a:ext>
            </a:extLst>
          </p:cNvPr>
          <p:cNvSpPr txBox="1"/>
          <p:nvPr/>
        </p:nvSpPr>
        <p:spPr>
          <a:xfrm>
            <a:off x="8071701" y="2781894"/>
            <a:ext cx="503353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Диапазон</a:t>
            </a:r>
          </a:p>
          <a:p>
            <a:pPr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передаточный чисел: 2,561- 0,427</a:t>
            </a:r>
          </a:p>
          <a:p>
            <a:pPr>
              <a:defRPr/>
            </a:pPr>
            <a:endParaRPr lang="ru-RU" sz="2000" b="1" dirty="0">
              <a:solidFill>
                <a:srgbClr val="176DEA"/>
              </a:solidFill>
              <a:latin typeface="ALS Sector Regular"/>
              <a:cs typeface="ALS Sector Regular"/>
            </a:endParaRPr>
          </a:p>
          <a:p>
            <a:pPr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Максимальный</a:t>
            </a:r>
          </a:p>
          <a:p>
            <a:pPr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крутящий момент: 175 Нм</a:t>
            </a:r>
          </a:p>
        </p:txBody>
      </p:sp>
    </p:spTree>
    <p:extLst>
      <p:ext uri="{BB962C8B-B14F-4D97-AF65-F5344CB8AC3E}">
        <p14:creationId xmlns:p14="http://schemas.microsoft.com/office/powerpoint/2010/main" val="3766709119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5F25-6BFA-5B80-C8A7-C0766817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C83B1B-29B1-D4C1-550B-7F95B951EB2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50F86F1-2D50-6C25-0DDF-09323292F8B4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2D5E2526-5E7C-6716-A8D1-0608B9870950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Выбранный ДВС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3FEA730-2CDC-3626-DCD5-793E259CEFC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040ED914-1403-59D0-3ECD-C6AAEB36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9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0664A3C-269F-6668-EDEB-BAE22AEB1FB4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D02226-1BF3-9FEE-9A5B-5BB09ED093BB}"/>
              </a:ext>
            </a:extLst>
          </p:cNvPr>
          <p:cNvSpPr txBox="1"/>
          <p:nvPr/>
        </p:nvSpPr>
        <p:spPr>
          <a:xfrm>
            <a:off x="2086178" y="1795734"/>
            <a:ext cx="295746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Двигатель </a:t>
            </a:r>
            <a:r>
              <a:rPr lang="en-US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1NZ-FE</a:t>
            </a:r>
            <a:endParaRPr lang="ru-RU" sz="2400" b="1" dirty="0">
              <a:solidFill>
                <a:srgbClr val="176DEA"/>
              </a:solidFill>
              <a:latin typeface="ALS Sector Regular"/>
              <a:cs typeface="ALS Sector Regular"/>
            </a:endParaRPr>
          </a:p>
        </p:txBody>
      </p:sp>
      <p:pic>
        <p:nvPicPr>
          <p:cNvPr id="11" name="Рисунок 10" descr="Изображение выглядит как зарисовка, рисунок, искусство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3CC1B8-D60C-8743-441B-8B0C6062E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663" y="2335652"/>
            <a:ext cx="3647975" cy="410397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CB82EAA-06D3-F3FD-6ECC-BE192EC5D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828" y="1989550"/>
            <a:ext cx="4243570" cy="453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70849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CA44F-3803-7261-A8CB-21EDC6DB2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F47D27-CCE4-46F4-D2EB-4FC433814F8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1697748-AC9E-36D2-AABE-6C135EEB7C89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A611BE9A-7D86-84D6-ED4E-C2577EBF1DF2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Тягодинамический расчет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BB11C98-4392-C5A7-F047-A5C07BD1CC5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79A59135-FE50-FD23-0A79-4E1AF52E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10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243E5D-DB08-CD0E-1A0E-4D7EE9522A47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A29DFCB-C172-5160-A155-9D346DDA6109}"/>
              </a:ext>
            </a:extLst>
          </p:cNvPr>
          <p:cNvSpPr txBox="1"/>
          <p:nvPr/>
        </p:nvSpPr>
        <p:spPr>
          <a:xfrm>
            <a:off x="348234" y="2646194"/>
            <a:ext cx="5575371" cy="290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Внешняя скоростная характеристика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Мощностные потери трансмиссии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Определение передаточных чисел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Тяговый баланс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Динамический фактор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Ускорение автомобиля</a:t>
            </a:r>
          </a:p>
        </p:txBody>
      </p:sp>
      <p:pic>
        <p:nvPicPr>
          <p:cNvPr id="9" name="Рисунок 8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A7D148-6891-53CC-897A-DDF43FB22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916" y="1860982"/>
            <a:ext cx="5925377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3756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DDBF2-4454-3DB3-7B1A-D80D4C34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D22670-2323-E5E1-19C4-97448F320BD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4EC260A-DEB7-2D55-7CB1-CEB8AE3DA2A3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9DE5624-2B4D-9B47-6F86-3D175DDCCB23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Тягодинамический расчет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9025A9B-16F4-3BD2-8078-1BD5B6C6BDE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36E47AB4-F791-500A-D574-CDF9F6A5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11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AEC3833-B1E4-60E8-6442-B18198D333A2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F5F8CE-38EE-0FAD-BAE7-A64156B7C91D}"/>
              </a:ext>
            </a:extLst>
          </p:cNvPr>
          <p:cNvSpPr txBox="1"/>
          <p:nvPr/>
        </p:nvSpPr>
        <p:spPr>
          <a:xfrm>
            <a:off x="348234" y="2646194"/>
            <a:ext cx="5575371" cy="290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>
                <a:solidFill>
                  <a:srgbClr val="176DEA"/>
                </a:solidFill>
                <a:latin typeface="ALS Sector Regular"/>
                <a:cs typeface="ALS Sector Regular"/>
              </a:rPr>
              <a:t>Внешняя скоростная характеристика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>
                <a:solidFill>
                  <a:srgbClr val="176DEA"/>
                </a:solidFill>
                <a:latin typeface="ALS Sector Regular"/>
                <a:cs typeface="ALS Sector Regular"/>
              </a:rPr>
              <a:t>Мощностные потери трансмиссии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>
                <a:solidFill>
                  <a:srgbClr val="176DEA"/>
                </a:solidFill>
                <a:latin typeface="ALS Sector Regular"/>
                <a:cs typeface="ALS Sector Regular"/>
              </a:rPr>
              <a:t>Определение передаточных чисел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>
                <a:solidFill>
                  <a:srgbClr val="176DEA"/>
                </a:solidFill>
                <a:latin typeface="ALS Sector Regular"/>
                <a:cs typeface="ALS Sector Regular"/>
              </a:rPr>
              <a:t>Тяговый баланс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>
                <a:solidFill>
                  <a:srgbClr val="176DEA"/>
                </a:solidFill>
                <a:latin typeface="ALS Sector Regular"/>
                <a:cs typeface="ALS Sector Regular"/>
              </a:rPr>
              <a:t>Динамический фактор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>
                <a:solidFill>
                  <a:srgbClr val="176DEA"/>
                </a:solidFill>
                <a:latin typeface="ALS Sector Regular"/>
                <a:cs typeface="ALS Sector Regular"/>
              </a:rPr>
              <a:t>Ускорение автомобиля</a:t>
            </a:r>
            <a:endParaRPr lang="ru-RU" sz="2000" b="1" dirty="0">
              <a:solidFill>
                <a:srgbClr val="176DEA"/>
              </a:solidFill>
              <a:latin typeface="ALS Sector Regular"/>
              <a:cs typeface="ALS Sector Regular"/>
            </a:endParaRPr>
          </a:p>
        </p:txBody>
      </p:sp>
      <p:pic>
        <p:nvPicPr>
          <p:cNvPr id="10" name="Рисунок 9" descr="Изображение выглядит как снимок экрана, диаграмма, Красочность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F17CAA-F2D3-71D0-EB1B-1AF9ADFA0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695" y="1636555"/>
            <a:ext cx="6129162" cy="39435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570FA7-DD66-8138-CCF6-0E15C7F7C6A6}"/>
              </a:ext>
            </a:extLst>
          </p:cNvPr>
          <p:cNvSpPr txBox="1"/>
          <p:nvPr/>
        </p:nvSpPr>
        <p:spPr>
          <a:xfrm>
            <a:off x="6479962" y="5657584"/>
            <a:ext cx="4464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1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Зависимость КПД вариатора</a:t>
            </a:r>
          </a:p>
          <a:p>
            <a:pPr algn="ctr">
              <a:defRPr/>
            </a:pPr>
            <a:r>
              <a:rPr lang="ru-RU" sz="1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от передаточного числа и момента</a:t>
            </a:r>
          </a:p>
        </p:txBody>
      </p:sp>
    </p:spTree>
    <p:extLst>
      <p:ext uri="{BB962C8B-B14F-4D97-AF65-F5344CB8AC3E}">
        <p14:creationId xmlns:p14="http://schemas.microsoft.com/office/powerpoint/2010/main" val="72662096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3213-C275-9F74-28B3-1588FB87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DBEA33-4E96-71F5-01C5-85C2FBEE7F7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C8A80DC-1F5C-5F52-6B57-D402635D82FC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514F89A-05E8-C305-8DB3-9BD46E91F0F9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Тягодинамический расчет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12AAD4-F416-B13B-969F-4570D86DF28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24207802-C87F-6F9A-6A98-8983720D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12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284679D-0ECF-775B-0BA5-9EAFFA75F28B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720E65C-062B-1F58-3A4A-A292DCCCAC29}"/>
              </a:ext>
            </a:extLst>
          </p:cNvPr>
          <p:cNvSpPr txBox="1"/>
          <p:nvPr/>
        </p:nvSpPr>
        <p:spPr>
          <a:xfrm>
            <a:off x="348234" y="2646194"/>
            <a:ext cx="5575371" cy="290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Внешняя скоростная характеристика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Мощностные потери трансмиссии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Определение передаточных чисел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Тяговый баланс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Динамический фактор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Ускорение автомобиля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2C4589-8AD5-7DE7-004D-E839F1CB405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11106" y="5342870"/>
            <a:ext cx="3339844" cy="707454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873BDAA-FF5E-CC78-B9B5-2202A96C1D58}"/>
              </a:ext>
            </a:extLst>
          </p:cNvPr>
          <p:cNvSpPr/>
          <p:nvPr/>
        </p:nvSpPr>
        <p:spPr>
          <a:xfrm>
            <a:off x="5656285" y="1952709"/>
            <a:ext cx="2024743" cy="1109470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76DEA"/>
                </a:solidFill>
              </a:rPr>
              <a:t>Максимальная скорость автомобиля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CC794DF-4E89-7CE4-E547-4F28190FF7ED}"/>
              </a:ext>
            </a:extLst>
          </p:cNvPr>
          <p:cNvSpPr/>
          <p:nvPr/>
        </p:nvSpPr>
        <p:spPr>
          <a:xfrm>
            <a:off x="9171132" y="2322556"/>
            <a:ext cx="2024743" cy="1479245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76DEA"/>
                </a:solidFill>
              </a:rPr>
              <a:t>Минимальное передаточное отношение вариатора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0385E93B-7487-CB7F-6ED2-DC31AA7BA4AA}"/>
              </a:ext>
            </a:extLst>
          </p:cNvPr>
          <p:cNvSpPr/>
          <p:nvPr/>
        </p:nvSpPr>
        <p:spPr>
          <a:xfrm>
            <a:off x="6668656" y="3703573"/>
            <a:ext cx="2024743" cy="1027557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76DEA"/>
                </a:solidFill>
              </a:rPr>
              <a:t>Главная передача</a:t>
            </a:r>
          </a:p>
        </p:txBody>
      </p: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CAA39328-5565-8E4C-B326-81499D9C531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7681028" y="2507444"/>
            <a:ext cx="1490104" cy="554735"/>
          </a:xfrm>
          <a:prstGeom prst="bentConnector3">
            <a:avLst/>
          </a:prstGeom>
          <a:ln w="76200">
            <a:solidFill>
              <a:srgbClr val="176D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5B89666B-3651-6D2F-6D62-B65133007CB6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9230677" y="3264524"/>
            <a:ext cx="415551" cy="1490105"/>
          </a:xfrm>
          <a:prstGeom prst="bentConnector2">
            <a:avLst/>
          </a:prstGeom>
          <a:ln w="76200">
            <a:solidFill>
              <a:srgbClr val="176D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EFD0B1A8-B39D-67A0-7EA0-56445995CBB4}"/>
              </a:ext>
            </a:extLst>
          </p:cNvPr>
          <p:cNvCxnSpPr>
            <a:cxnSpLocks/>
            <a:stCxn id="16" idx="2"/>
            <a:endCxn id="9" idx="0"/>
          </p:cNvCxnSpPr>
          <p:nvPr/>
        </p:nvCxnSpPr>
        <p:spPr>
          <a:xfrm>
            <a:off x="7681028" y="4731130"/>
            <a:ext cx="0" cy="611740"/>
          </a:xfrm>
          <a:prstGeom prst="straightConnector1">
            <a:avLst/>
          </a:prstGeom>
          <a:ln w="76200">
            <a:solidFill>
              <a:srgbClr val="176D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85964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3B13-17B2-73D1-1254-81FFA9124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4DEB84-761E-0A4E-6847-020DC914FDB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9905379-0F4E-6874-EEEC-662655A6DECD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B2D1E70D-3384-1523-08DB-EAF7AE0A461D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Тягодинамический расчет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1A1902F-83C9-631E-1B65-A9D960E79AD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757CE3CA-79BD-9556-1556-E112AEA4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13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7B30EC7-5BED-75FF-606E-D90DF09AFA57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01A0817-894C-5A60-C83A-973770897C2B}"/>
              </a:ext>
            </a:extLst>
          </p:cNvPr>
          <p:cNvSpPr txBox="1"/>
          <p:nvPr/>
        </p:nvSpPr>
        <p:spPr>
          <a:xfrm>
            <a:off x="348234" y="2646194"/>
            <a:ext cx="5575371" cy="290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Внешняя скоростная характеристика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Мощностные потери трансмиссии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Определение передаточных чисел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Тяговый баланс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Динамический фактор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Ускорение автомобиля</a:t>
            </a:r>
          </a:p>
        </p:txBody>
      </p:sp>
      <p:pic>
        <p:nvPicPr>
          <p:cNvPr id="10" name="Рисунок 9" descr="Изображение выглядит как текст, График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6465624-828F-8493-3E97-04FAE6E2E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550" y="1952709"/>
            <a:ext cx="6068272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04562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DF25-8D74-E91A-698A-3684F224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8B68CE-ADFC-5314-E304-6D24B97150A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DDEDC1F-38C8-91AD-E407-345CE95F1036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E7BFB482-B19B-783B-C46B-A9CD4168B64C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Тягодинамический расчет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8C741D-3F52-C990-868B-8D0EE1024C1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1EBF64C6-5B5F-93C8-8732-C00EE559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14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B028973-8F1E-D583-B374-17AE686E8E6F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737FE39-3D0B-DADE-99D6-5CFBCF6C41A7}"/>
              </a:ext>
            </a:extLst>
          </p:cNvPr>
          <p:cNvSpPr txBox="1"/>
          <p:nvPr/>
        </p:nvSpPr>
        <p:spPr>
          <a:xfrm>
            <a:off x="348234" y="2646194"/>
            <a:ext cx="5575371" cy="290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Внешняя скоростная характеристика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Мощностные потери трансмиссии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Определение передаточных чисел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Тяговый баланс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Динамический фактор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Ускорение автомобиля</a:t>
            </a:r>
          </a:p>
        </p:txBody>
      </p:sp>
      <p:pic>
        <p:nvPicPr>
          <p:cNvPr id="9" name="Рисунок 8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4DDD8D3-2CDB-CB3C-293B-D18DDF36A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669" y="1860982"/>
            <a:ext cx="6306920" cy="478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35644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45D50-C6CC-EFFE-7587-605F3DE1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6F2F6D-05FE-77B2-49BA-EAA2D15D581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A0D520-B428-B1C9-7F26-42F31293840E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3B3A020-C2B3-79FA-AC12-05BBB8BBB094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cs typeface="ALS Sector Regular"/>
              </a:rPr>
              <a:t>Тягодинамический расчет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8FEF09B-4C5B-0C04-20B2-0D571B456FE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75E5C7F5-BA5C-E98F-8B13-B6F8C67FF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15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7BB8472-8D39-52F0-32D4-DC6FB7847948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EA3FD57-8EA4-5CDA-4511-BB1D48C83BCC}"/>
              </a:ext>
            </a:extLst>
          </p:cNvPr>
          <p:cNvSpPr txBox="1"/>
          <p:nvPr/>
        </p:nvSpPr>
        <p:spPr>
          <a:xfrm>
            <a:off x="348234" y="2646194"/>
            <a:ext cx="5575371" cy="290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Внешняя скоростная характеристика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Мощностные потери трансмиссии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Определение передаточных чисел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Тяговый баланс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cs typeface="ALS Sector Regular"/>
              </a:rPr>
              <a:t>Динамический фактор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Ускорение автомобиля</a:t>
            </a:r>
          </a:p>
        </p:txBody>
      </p:sp>
      <p:pic>
        <p:nvPicPr>
          <p:cNvPr id="9" name="Рисунок 8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03387E-F6A6-D70C-79BA-84C29B66B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669" y="1860982"/>
            <a:ext cx="6306920" cy="478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042075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9A16-CFC4-31F5-87DA-29E4621E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C416AA-CA73-7D20-B991-B8E51257E1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FBC630-9819-EB91-71F8-C67B97CCEFB5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1E2111A-5FBB-C5F1-FFC3-2E211B7454EA}"/>
              </a:ext>
            </a:extLst>
          </p:cNvPr>
          <p:cNvSpPr txBox="1"/>
          <p:nvPr/>
        </p:nvSpPr>
        <p:spPr bwMode="auto">
          <a:xfrm>
            <a:off x="2205494" y="332220"/>
            <a:ext cx="7732100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cs typeface="ALS Sector Regular"/>
              </a:rPr>
              <a:t>Тягодинамический расчет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264ABB0-690F-3E51-FB4A-97DF4526EE9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00F865EF-76E2-3A59-1D1D-B69CD371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16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4298C7D-B35D-D6CF-CA85-1C70DF9E08C2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EBA564-2898-C7B2-22A7-990EAD6631EC}"/>
              </a:ext>
            </a:extLst>
          </p:cNvPr>
          <p:cNvSpPr txBox="1"/>
          <p:nvPr/>
        </p:nvSpPr>
        <p:spPr>
          <a:xfrm>
            <a:off x="348234" y="2646194"/>
            <a:ext cx="5575371" cy="290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Внешняя скоростная характеристика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Мощностные потери трансмиссии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Определение передаточных чисел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Тяговый баланс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Динамический фактор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400" b="1" dirty="0">
                <a:solidFill>
                  <a:srgbClr val="176DEA"/>
                </a:solidFill>
                <a:cs typeface="ALS Sector Regular"/>
              </a:rPr>
              <a:t>Ускорение автомобиля</a:t>
            </a:r>
          </a:p>
        </p:txBody>
      </p:sp>
      <p:pic>
        <p:nvPicPr>
          <p:cNvPr id="10" name="Рисунок 9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A5C71A-90F3-DF55-F892-E4D9D28D4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636" y="1685737"/>
            <a:ext cx="6104560" cy="50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41744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872A8-9D14-EE30-6078-7BB1D1BFB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Овал 65">
            <a:extLst>
              <a:ext uri="{FF2B5EF4-FFF2-40B4-BE49-F238E27FC236}">
                <a16:creationId xmlns:a16="http://schemas.microsoft.com/office/drawing/2014/main" id="{CCD8CDA2-AFD5-1094-BF89-D8B9416170C0}"/>
              </a:ext>
            </a:extLst>
          </p:cNvPr>
          <p:cNvSpPr/>
          <p:nvPr/>
        </p:nvSpPr>
        <p:spPr>
          <a:xfrm>
            <a:off x="2385053" y="2283334"/>
            <a:ext cx="417211" cy="416447"/>
          </a:xfrm>
          <a:prstGeom prst="ellipse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AB2ACC-DEC5-6F7A-01D1-4C0298AEE66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29AABA7-22E8-08EA-C813-74FBB6CE4919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4F6532F-5A49-3AA5-A152-D1D6CCE78F6F}"/>
              </a:ext>
            </a:extLst>
          </p:cNvPr>
          <p:cNvSpPr txBox="1"/>
          <p:nvPr/>
        </p:nvSpPr>
        <p:spPr bwMode="auto">
          <a:xfrm>
            <a:off x="1073378" y="377819"/>
            <a:ext cx="9332095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  <a:cs typeface="ALS Sector Regular"/>
              </a:rPr>
              <a:t>Поверочный расчет прижимной силы конусов вариатора</a:t>
            </a:r>
            <a:endParaRPr lang="ru-RU" sz="2800" b="1" dirty="0">
              <a:solidFill>
                <a:srgbClr val="176DEA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DE7B606-CD6F-7B4E-EC28-9D8F2C9880D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9B381A43-011F-B3EA-EBEB-711D035E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17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3E247C5-4059-0F7A-6445-31C0701A0B0B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5878C01-4146-FE4A-2558-56C23892E5EA}"/>
              </a:ext>
            </a:extLst>
          </p:cNvPr>
          <p:cNvSpPr/>
          <p:nvPr/>
        </p:nvSpPr>
        <p:spPr>
          <a:xfrm>
            <a:off x="5922393" y="2001208"/>
            <a:ext cx="2024743" cy="1109470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76DEA"/>
                </a:solidFill>
              </a:rPr>
              <a:t>Реализуемое давление</a:t>
            </a:r>
            <a:endParaRPr lang="en-US" b="1" dirty="0">
              <a:solidFill>
                <a:srgbClr val="176DEA"/>
              </a:solidFill>
            </a:endParaRPr>
          </a:p>
          <a:p>
            <a:pPr algn="ctr"/>
            <a:r>
              <a:rPr lang="en-US" b="1" i="1" dirty="0">
                <a:solidFill>
                  <a:srgbClr val="176DEA"/>
                </a:solidFill>
              </a:rPr>
              <a:t>P</a:t>
            </a:r>
            <a:r>
              <a:rPr lang="ru-RU" b="1" dirty="0">
                <a:solidFill>
                  <a:srgbClr val="176DEA"/>
                </a:solidFill>
              </a:rPr>
              <a:t> 6МПа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07F1365-435E-0A5B-9246-F29D1543DD2E}"/>
              </a:ext>
            </a:extLst>
          </p:cNvPr>
          <p:cNvSpPr/>
          <p:nvPr/>
        </p:nvSpPr>
        <p:spPr>
          <a:xfrm>
            <a:off x="8637860" y="2042540"/>
            <a:ext cx="2112222" cy="1012705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176DEA"/>
                </a:solidFill>
              </a:rPr>
              <a:t>Реализуемая сила</a:t>
            </a:r>
          </a:p>
          <a:p>
            <a:pPr algn="ctr"/>
            <a:r>
              <a:rPr lang="en-US" b="1" i="1" dirty="0">
                <a:solidFill>
                  <a:srgbClr val="176DEA"/>
                </a:solidFill>
              </a:rPr>
              <a:t>F</a:t>
            </a:r>
            <a:r>
              <a:rPr lang="ru-RU" b="1" i="1" dirty="0">
                <a:solidFill>
                  <a:srgbClr val="176DEA"/>
                </a:solidFill>
              </a:rPr>
              <a:t>реал</a:t>
            </a:r>
            <a:r>
              <a:rPr lang="ru-RU" b="1" dirty="0">
                <a:solidFill>
                  <a:srgbClr val="176DEA"/>
                </a:solidFill>
              </a:rPr>
              <a:t> 74 кН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D89A83C-2246-7304-9FB0-5802EA207B9E}"/>
              </a:ext>
            </a:extLst>
          </p:cNvPr>
          <p:cNvSpPr/>
          <p:nvPr/>
        </p:nvSpPr>
        <p:spPr>
          <a:xfrm>
            <a:off x="8929243" y="3732908"/>
            <a:ext cx="1538180" cy="1027557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176DEA"/>
                </a:solidFill>
              </a:rPr>
              <a:t>N</a:t>
            </a:r>
            <a:r>
              <a:rPr lang="ru-RU" b="1" i="1" dirty="0">
                <a:solidFill>
                  <a:srgbClr val="176DEA"/>
                </a:solidFill>
              </a:rPr>
              <a:t>реал</a:t>
            </a:r>
            <a:r>
              <a:rPr lang="en-US" b="1" dirty="0">
                <a:solidFill>
                  <a:srgbClr val="176DEA"/>
                </a:solidFill>
              </a:rPr>
              <a:t> 73 </a:t>
            </a:r>
            <a:r>
              <a:rPr lang="ru-RU" b="1" dirty="0">
                <a:solidFill>
                  <a:srgbClr val="176DEA"/>
                </a:solidFill>
              </a:rPr>
              <a:t>кН</a:t>
            </a:r>
          </a:p>
        </p:txBody>
      </p: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3DFAAE91-BEC5-4F3B-9D98-A5E07F4CA460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7947136" y="2548893"/>
            <a:ext cx="690724" cy="7050"/>
          </a:xfrm>
          <a:prstGeom prst="bentConnector3">
            <a:avLst/>
          </a:prstGeom>
          <a:ln w="76200">
            <a:solidFill>
              <a:srgbClr val="176D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96259849-B12F-1B39-D591-A6D1105C8CF8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16200000" flipH="1">
            <a:off x="9357321" y="3391895"/>
            <a:ext cx="677663" cy="4362"/>
          </a:xfrm>
          <a:prstGeom prst="bentConnector3">
            <a:avLst>
              <a:gd name="adj1" fmla="val 50000"/>
            </a:avLst>
          </a:prstGeom>
          <a:ln w="76200">
            <a:solidFill>
              <a:srgbClr val="176D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27381B86-E0CD-8BE2-CFDD-291B9F1C0458}"/>
              </a:ext>
            </a:extLst>
          </p:cNvPr>
          <p:cNvGrpSpPr/>
          <p:nvPr/>
        </p:nvGrpSpPr>
        <p:grpSpPr>
          <a:xfrm>
            <a:off x="269700" y="2300166"/>
            <a:ext cx="1484578" cy="3995054"/>
            <a:chOff x="656245" y="2253343"/>
            <a:chExt cx="1331533" cy="2351315"/>
          </a:xfrm>
        </p:grpSpPr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4DE7222A-5F29-3315-6C16-0F6A55533147}"/>
                </a:ext>
              </a:extLst>
            </p:cNvPr>
            <p:cNvCxnSpPr/>
            <p:nvPr/>
          </p:nvCxnSpPr>
          <p:spPr>
            <a:xfrm>
              <a:off x="1073378" y="2253343"/>
              <a:ext cx="914400" cy="914400"/>
            </a:xfrm>
            <a:prstGeom prst="line">
              <a:avLst/>
            </a:prstGeom>
            <a:ln w="76200">
              <a:solidFill>
                <a:srgbClr val="176D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D69503E4-4BCE-AD4A-FCFB-14D0471B314A}"/>
                </a:ext>
              </a:extLst>
            </p:cNvPr>
            <p:cNvCxnSpPr>
              <a:cxnSpLocks/>
            </p:cNvCxnSpPr>
            <p:nvPr/>
          </p:nvCxnSpPr>
          <p:spPr>
            <a:xfrm>
              <a:off x="1987778" y="3167743"/>
              <a:ext cx="0" cy="522515"/>
            </a:xfrm>
            <a:prstGeom prst="line">
              <a:avLst/>
            </a:prstGeom>
            <a:ln w="76200">
              <a:solidFill>
                <a:srgbClr val="176D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9B496235-BD2A-12F0-7F59-8C9B5B84023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3378" y="3690258"/>
              <a:ext cx="914400" cy="914400"/>
            </a:xfrm>
            <a:prstGeom prst="line">
              <a:avLst/>
            </a:prstGeom>
            <a:ln w="76200">
              <a:solidFill>
                <a:srgbClr val="176D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>
              <a:extLst>
                <a:ext uri="{FF2B5EF4-FFF2-40B4-BE49-F238E27FC236}">
                  <a16:creationId xmlns:a16="http://schemas.microsoft.com/office/drawing/2014/main" id="{767F416E-894F-1981-4AD4-6631ACD186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775" y="2786969"/>
              <a:ext cx="432254" cy="380773"/>
            </a:xfrm>
            <a:prstGeom prst="straightConnector1">
              <a:avLst/>
            </a:prstGeom>
            <a:ln w="762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 стрелкой 33">
              <a:extLst>
                <a:ext uri="{FF2B5EF4-FFF2-40B4-BE49-F238E27FC236}">
                  <a16:creationId xmlns:a16="http://schemas.microsoft.com/office/drawing/2014/main" id="{888F9F22-6FFC-A001-961D-4E1057951BAA}"/>
                </a:ext>
              </a:extLst>
            </p:cNvPr>
            <p:cNvCxnSpPr>
              <a:cxnSpLocks/>
            </p:cNvCxnSpPr>
            <p:nvPr/>
          </p:nvCxnSpPr>
          <p:spPr>
            <a:xfrm>
              <a:off x="993775" y="3701368"/>
              <a:ext cx="432254" cy="396086"/>
            </a:xfrm>
            <a:prstGeom prst="straightConnector1">
              <a:avLst/>
            </a:prstGeom>
            <a:ln w="762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>
              <a:extLst>
                <a:ext uri="{FF2B5EF4-FFF2-40B4-BE49-F238E27FC236}">
                  <a16:creationId xmlns:a16="http://schemas.microsoft.com/office/drawing/2014/main" id="{C606495B-18CF-FFFC-0356-F2FC19DACBBE}"/>
                </a:ext>
              </a:extLst>
            </p:cNvPr>
            <p:cNvCxnSpPr>
              <a:cxnSpLocks/>
            </p:cNvCxnSpPr>
            <p:nvPr/>
          </p:nvCxnSpPr>
          <p:spPr>
            <a:xfrm>
              <a:off x="1209902" y="3429000"/>
              <a:ext cx="571070" cy="0"/>
            </a:xfrm>
            <a:prstGeom prst="straightConnector1">
              <a:avLst/>
            </a:prstGeom>
            <a:ln w="762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6FBF7F7-A804-5DBB-75BB-CD1F13611CD7}"/>
                </a:ext>
              </a:extLst>
            </p:cNvPr>
            <p:cNvSpPr txBox="1"/>
            <p:nvPr/>
          </p:nvSpPr>
          <p:spPr>
            <a:xfrm>
              <a:off x="656245" y="3262963"/>
              <a:ext cx="423528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400" b="1" i="1" dirty="0">
                  <a:solidFill>
                    <a:schemeClr val="accent4">
                      <a:lumMod val="75000"/>
                    </a:schemeClr>
                  </a:solidFill>
                </a:rPr>
                <a:t>P</a:t>
              </a:r>
              <a:endParaRPr lang="ru-RU" sz="3400" i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16C63D25-071F-042A-7BAC-AD8C8C7B8398}"/>
              </a:ext>
            </a:extLst>
          </p:cNvPr>
          <p:cNvGrpSpPr/>
          <p:nvPr/>
        </p:nvGrpSpPr>
        <p:grpSpPr>
          <a:xfrm rot="10800000">
            <a:off x="3477442" y="2300166"/>
            <a:ext cx="1486179" cy="3995054"/>
            <a:chOff x="654809" y="2253343"/>
            <a:chExt cx="1332969" cy="2351315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747A1474-7319-CA18-BD04-CA3F4EED9C7B}"/>
                </a:ext>
              </a:extLst>
            </p:cNvPr>
            <p:cNvCxnSpPr/>
            <p:nvPr/>
          </p:nvCxnSpPr>
          <p:spPr>
            <a:xfrm>
              <a:off x="1073378" y="2253343"/>
              <a:ext cx="914400" cy="914400"/>
            </a:xfrm>
            <a:prstGeom prst="line">
              <a:avLst/>
            </a:prstGeom>
            <a:ln w="76200">
              <a:solidFill>
                <a:srgbClr val="176D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319B8EE9-B1C8-12D5-FC65-AF8E8C77B3B9}"/>
                </a:ext>
              </a:extLst>
            </p:cNvPr>
            <p:cNvCxnSpPr>
              <a:cxnSpLocks/>
            </p:cNvCxnSpPr>
            <p:nvPr/>
          </p:nvCxnSpPr>
          <p:spPr>
            <a:xfrm>
              <a:off x="1987778" y="3167743"/>
              <a:ext cx="0" cy="522515"/>
            </a:xfrm>
            <a:prstGeom prst="line">
              <a:avLst/>
            </a:prstGeom>
            <a:ln w="76200">
              <a:solidFill>
                <a:srgbClr val="176D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F11764D1-8724-C61D-8204-301E389CE36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3378" y="3690258"/>
              <a:ext cx="914400" cy="914400"/>
            </a:xfrm>
            <a:prstGeom prst="line">
              <a:avLst/>
            </a:prstGeom>
            <a:ln w="76200">
              <a:solidFill>
                <a:srgbClr val="176D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 стрелкой 45">
              <a:extLst>
                <a:ext uri="{FF2B5EF4-FFF2-40B4-BE49-F238E27FC236}">
                  <a16:creationId xmlns:a16="http://schemas.microsoft.com/office/drawing/2014/main" id="{01C8A6FB-6E23-C149-C3A7-39D876DC2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775" y="2786969"/>
              <a:ext cx="432254" cy="380773"/>
            </a:xfrm>
            <a:prstGeom prst="straightConnector1">
              <a:avLst/>
            </a:prstGeom>
            <a:ln w="762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 стрелкой 46">
              <a:extLst>
                <a:ext uri="{FF2B5EF4-FFF2-40B4-BE49-F238E27FC236}">
                  <a16:creationId xmlns:a16="http://schemas.microsoft.com/office/drawing/2014/main" id="{3ED51156-121C-D836-E0AE-DF51A38673D8}"/>
                </a:ext>
              </a:extLst>
            </p:cNvPr>
            <p:cNvCxnSpPr>
              <a:cxnSpLocks/>
            </p:cNvCxnSpPr>
            <p:nvPr/>
          </p:nvCxnSpPr>
          <p:spPr>
            <a:xfrm>
              <a:off x="993775" y="3701368"/>
              <a:ext cx="432254" cy="396086"/>
            </a:xfrm>
            <a:prstGeom prst="straightConnector1">
              <a:avLst/>
            </a:prstGeom>
            <a:ln w="762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 стрелкой 47">
              <a:extLst>
                <a:ext uri="{FF2B5EF4-FFF2-40B4-BE49-F238E27FC236}">
                  <a16:creationId xmlns:a16="http://schemas.microsoft.com/office/drawing/2014/main" id="{1CF6CB7B-A8A9-D445-151C-B2D229931B5F}"/>
                </a:ext>
              </a:extLst>
            </p:cNvPr>
            <p:cNvCxnSpPr>
              <a:cxnSpLocks/>
            </p:cNvCxnSpPr>
            <p:nvPr/>
          </p:nvCxnSpPr>
          <p:spPr>
            <a:xfrm>
              <a:off x="1209902" y="3429000"/>
              <a:ext cx="571070" cy="0"/>
            </a:xfrm>
            <a:prstGeom prst="straightConnector1">
              <a:avLst/>
            </a:prstGeom>
            <a:ln w="762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A7685B8-BA9D-3DA0-2EB8-C55C29EA224A}"/>
                </a:ext>
              </a:extLst>
            </p:cNvPr>
            <p:cNvSpPr txBox="1"/>
            <p:nvPr/>
          </p:nvSpPr>
          <p:spPr>
            <a:xfrm rot="10800000">
              <a:off x="654809" y="2996444"/>
              <a:ext cx="423528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400" b="1" i="1" dirty="0">
                  <a:solidFill>
                    <a:schemeClr val="accent4">
                      <a:lumMod val="75000"/>
                    </a:schemeClr>
                  </a:solidFill>
                </a:rPr>
                <a:t>P</a:t>
              </a:r>
              <a:endParaRPr lang="ru-RU" sz="3400" i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92500C41-9408-7E9E-0067-66C5D7DFC7E9}"/>
              </a:ext>
            </a:extLst>
          </p:cNvPr>
          <p:cNvCxnSpPr>
            <a:cxnSpLocks/>
          </p:cNvCxnSpPr>
          <p:nvPr/>
        </p:nvCxnSpPr>
        <p:spPr>
          <a:xfrm>
            <a:off x="1899599" y="4297692"/>
            <a:ext cx="571070" cy="0"/>
          </a:xfrm>
          <a:prstGeom prst="straightConnector1">
            <a:avLst/>
          </a:prstGeom>
          <a:ln w="76200">
            <a:solidFill>
              <a:srgbClr val="176D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B872E7D-29B7-6470-C22C-3E28757735B6}"/>
              </a:ext>
            </a:extLst>
          </p:cNvPr>
          <p:cNvSpPr txBox="1"/>
          <p:nvPr/>
        </p:nvSpPr>
        <p:spPr>
          <a:xfrm>
            <a:off x="2427598" y="3986769"/>
            <a:ext cx="423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i="1" dirty="0">
                <a:solidFill>
                  <a:srgbClr val="176DEA"/>
                </a:solidFill>
              </a:rPr>
              <a:t>F</a:t>
            </a:r>
            <a:endParaRPr lang="ru-RU" sz="3400" i="1" dirty="0">
              <a:solidFill>
                <a:srgbClr val="176DEA"/>
              </a:solidFill>
            </a:endParaRPr>
          </a:p>
        </p:txBody>
      </p: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242135F8-0C03-EA84-AC95-224D40CA26E6}"/>
              </a:ext>
            </a:extLst>
          </p:cNvPr>
          <p:cNvCxnSpPr>
            <a:cxnSpLocks/>
          </p:cNvCxnSpPr>
          <p:nvPr/>
        </p:nvCxnSpPr>
        <p:spPr>
          <a:xfrm flipH="1">
            <a:off x="2783840" y="4297692"/>
            <a:ext cx="538480" cy="3"/>
          </a:xfrm>
          <a:prstGeom prst="straightConnector1">
            <a:avLst/>
          </a:prstGeom>
          <a:ln w="76200">
            <a:solidFill>
              <a:srgbClr val="176D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AB9E0604-33F7-B89A-E87A-F2EA82B16E02}"/>
              </a:ext>
            </a:extLst>
          </p:cNvPr>
          <p:cNvCxnSpPr>
            <a:cxnSpLocks/>
          </p:cNvCxnSpPr>
          <p:nvPr/>
        </p:nvCxnSpPr>
        <p:spPr>
          <a:xfrm rot="19518071">
            <a:off x="1367034" y="2957777"/>
            <a:ext cx="571070" cy="0"/>
          </a:xfrm>
          <a:prstGeom prst="straightConnector1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31FCB08-9350-A73D-52BD-8B787D88813C}"/>
              </a:ext>
            </a:extLst>
          </p:cNvPr>
          <p:cNvSpPr txBox="1"/>
          <p:nvPr/>
        </p:nvSpPr>
        <p:spPr>
          <a:xfrm rot="19518071">
            <a:off x="1877464" y="2383503"/>
            <a:ext cx="423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endParaRPr lang="ru-RU" sz="3400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0203CB15-353C-E3EE-B321-2E2A22E902BA}"/>
              </a:ext>
            </a:extLst>
          </p:cNvPr>
          <p:cNvCxnSpPr>
            <a:cxnSpLocks/>
          </p:cNvCxnSpPr>
          <p:nvPr/>
        </p:nvCxnSpPr>
        <p:spPr>
          <a:xfrm flipH="1" flipV="1">
            <a:off x="3322320" y="2786969"/>
            <a:ext cx="483898" cy="376637"/>
          </a:xfrm>
          <a:prstGeom prst="straightConnector1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AE5B340-13FD-B203-8370-2F169BC24528}"/>
              </a:ext>
            </a:extLst>
          </p:cNvPr>
          <p:cNvSpPr txBox="1"/>
          <p:nvPr/>
        </p:nvSpPr>
        <p:spPr>
          <a:xfrm rot="1986449">
            <a:off x="2871689" y="2343747"/>
            <a:ext cx="423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endParaRPr lang="ru-RU" sz="3400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3A09BFF4-9E0F-AEBA-D36F-6F4AD1BFEFCA}"/>
              </a:ext>
            </a:extLst>
          </p:cNvPr>
          <p:cNvSpPr/>
          <p:nvPr/>
        </p:nvSpPr>
        <p:spPr>
          <a:xfrm>
            <a:off x="2510116" y="2406514"/>
            <a:ext cx="167920" cy="167613"/>
          </a:xfrm>
          <a:prstGeom prst="ellipse">
            <a:avLst/>
          </a:prstGeom>
          <a:solidFill>
            <a:schemeClr val="tx2">
              <a:lumMod val="50000"/>
            </a:scheme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11AC3F-2463-6A73-A15A-3BE4F88DDFBA}"/>
              </a:ext>
            </a:extLst>
          </p:cNvPr>
          <p:cNvSpPr txBox="1"/>
          <p:nvPr/>
        </p:nvSpPr>
        <p:spPr>
          <a:xfrm>
            <a:off x="2411276" y="1713625"/>
            <a:ext cx="423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i="1" dirty="0">
                <a:solidFill>
                  <a:schemeClr val="bg2">
                    <a:lumMod val="25000"/>
                  </a:schemeClr>
                </a:solidFill>
              </a:rPr>
              <a:t>T</a:t>
            </a:r>
            <a:endParaRPr lang="ru-RU" sz="3400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8" name="Прямоугольник: скругленные углы 77">
            <a:extLst>
              <a:ext uri="{FF2B5EF4-FFF2-40B4-BE49-F238E27FC236}">
                <a16:creationId xmlns:a16="http://schemas.microsoft.com/office/drawing/2014/main" id="{33AD68EE-AB32-4E5F-C5EF-8581480F67BC}"/>
              </a:ext>
            </a:extLst>
          </p:cNvPr>
          <p:cNvSpPr/>
          <p:nvPr/>
        </p:nvSpPr>
        <p:spPr>
          <a:xfrm>
            <a:off x="6655618" y="3732907"/>
            <a:ext cx="1476007" cy="1027557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176DEA"/>
                </a:solidFill>
              </a:rPr>
              <a:t>T</a:t>
            </a:r>
            <a:r>
              <a:rPr lang="ru-RU" b="1" i="1" dirty="0">
                <a:solidFill>
                  <a:srgbClr val="176DEA"/>
                </a:solidFill>
              </a:rPr>
              <a:t>реал</a:t>
            </a:r>
            <a:r>
              <a:rPr lang="en-US" b="1" dirty="0">
                <a:solidFill>
                  <a:srgbClr val="176DEA"/>
                </a:solidFill>
              </a:rPr>
              <a:t> 7 </a:t>
            </a:r>
            <a:r>
              <a:rPr lang="ru-RU" b="1" dirty="0">
                <a:solidFill>
                  <a:srgbClr val="176DEA"/>
                </a:solidFill>
              </a:rPr>
              <a:t>кН</a:t>
            </a:r>
          </a:p>
        </p:txBody>
      </p:sp>
      <p:cxnSp>
        <p:nvCxnSpPr>
          <p:cNvPr id="79" name="Соединитель: уступ 78">
            <a:extLst>
              <a:ext uri="{FF2B5EF4-FFF2-40B4-BE49-F238E27FC236}">
                <a16:creationId xmlns:a16="http://schemas.microsoft.com/office/drawing/2014/main" id="{B506830C-F43D-9221-9CEF-0B6C9D04F671}"/>
              </a:ext>
            </a:extLst>
          </p:cNvPr>
          <p:cNvCxnSpPr>
            <a:cxnSpLocks/>
            <a:stCxn id="16" idx="1"/>
            <a:endCxn id="78" idx="3"/>
          </p:cNvCxnSpPr>
          <p:nvPr/>
        </p:nvCxnSpPr>
        <p:spPr>
          <a:xfrm rot="10800000">
            <a:off x="8131625" y="4246687"/>
            <a:ext cx="797618" cy="1"/>
          </a:xfrm>
          <a:prstGeom prst="bentConnector3">
            <a:avLst>
              <a:gd name="adj1" fmla="val 50000"/>
            </a:avLst>
          </a:prstGeom>
          <a:ln w="76200">
            <a:solidFill>
              <a:srgbClr val="176D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Прямоугольник: скругленные углы 90">
            <a:extLst>
              <a:ext uri="{FF2B5EF4-FFF2-40B4-BE49-F238E27FC236}">
                <a16:creationId xmlns:a16="http://schemas.microsoft.com/office/drawing/2014/main" id="{DDB0BF07-5A38-FF7E-9AAD-043F1D99E3FB}"/>
              </a:ext>
            </a:extLst>
          </p:cNvPr>
          <p:cNvSpPr/>
          <p:nvPr/>
        </p:nvSpPr>
        <p:spPr>
          <a:xfrm>
            <a:off x="6522533" y="5295090"/>
            <a:ext cx="1742172" cy="884329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176DEA"/>
                </a:solidFill>
              </a:rPr>
              <a:t>M</a:t>
            </a:r>
            <a:r>
              <a:rPr lang="ru-RU" b="1" i="1" dirty="0">
                <a:solidFill>
                  <a:srgbClr val="176DEA"/>
                </a:solidFill>
              </a:rPr>
              <a:t>реал</a:t>
            </a:r>
            <a:r>
              <a:rPr lang="en-US" b="1" dirty="0">
                <a:solidFill>
                  <a:srgbClr val="176DEA"/>
                </a:solidFill>
              </a:rPr>
              <a:t> 190 </a:t>
            </a:r>
            <a:r>
              <a:rPr lang="ru-RU" b="1" dirty="0">
                <a:solidFill>
                  <a:srgbClr val="176DEA"/>
                </a:solidFill>
              </a:rPr>
              <a:t>Нм</a:t>
            </a:r>
          </a:p>
        </p:txBody>
      </p:sp>
      <p:cxnSp>
        <p:nvCxnSpPr>
          <p:cNvPr id="92" name="Соединитель: уступ 91">
            <a:extLst>
              <a:ext uri="{FF2B5EF4-FFF2-40B4-BE49-F238E27FC236}">
                <a16:creationId xmlns:a16="http://schemas.microsoft.com/office/drawing/2014/main" id="{7B37861D-0227-B658-FC3A-F4A2DB186734}"/>
              </a:ext>
            </a:extLst>
          </p:cNvPr>
          <p:cNvCxnSpPr>
            <a:cxnSpLocks/>
            <a:stCxn id="78" idx="2"/>
            <a:endCxn id="91" idx="0"/>
          </p:cNvCxnSpPr>
          <p:nvPr/>
        </p:nvCxnSpPr>
        <p:spPr>
          <a:xfrm rot="5400000">
            <a:off x="7126308" y="5027776"/>
            <a:ext cx="534626" cy="3"/>
          </a:xfrm>
          <a:prstGeom prst="bentConnector3">
            <a:avLst>
              <a:gd name="adj1" fmla="val 50000"/>
            </a:avLst>
          </a:prstGeom>
          <a:ln w="76200">
            <a:solidFill>
              <a:srgbClr val="176D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Прямоугольник: скругленные углы 110">
            <a:extLst>
              <a:ext uri="{FF2B5EF4-FFF2-40B4-BE49-F238E27FC236}">
                <a16:creationId xmlns:a16="http://schemas.microsoft.com/office/drawing/2014/main" id="{F4E65175-8466-420E-8C22-A9C7799E5EAF}"/>
              </a:ext>
            </a:extLst>
          </p:cNvPr>
          <p:cNvSpPr/>
          <p:nvPr/>
        </p:nvSpPr>
        <p:spPr>
          <a:xfrm>
            <a:off x="8958904" y="5259828"/>
            <a:ext cx="1643640" cy="884329"/>
          </a:xfrm>
          <a:prstGeom prst="roundRect">
            <a:avLst/>
          </a:prstGeom>
          <a:ln w="76200">
            <a:solidFill>
              <a:srgbClr val="176DEA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176DEA"/>
                </a:solidFill>
              </a:rPr>
              <a:t>Mmax</a:t>
            </a:r>
            <a:r>
              <a:rPr lang="en-US" b="1" dirty="0">
                <a:solidFill>
                  <a:srgbClr val="176DEA"/>
                </a:solidFill>
              </a:rPr>
              <a:t> 141 </a:t>
            </a:r>
            <a:r>
              <a:rPr lang="ru-RU" b="1" dirty="0">
                <a:solidFill>
                  <a:srgbClr val="176DEA"/>
                </a:solidFill>
              </a:rPr>
              <a:t>Нм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3A3FF31-0B42-F888-5B56-798DAB0EDB34}"/>
              </a:ext>
            </a:extLst>
          </p:cNvPr>
          <p:cNvSpPr txBox="1"/>
          <p:nvPr/>
        </p:nvSpPr>
        <p:spPr>
          <a:xfrm>
            <a:off x="8334311" y="5163756"/>
            <a:ext cx="3922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rgbClr val="176DEA"/>
                </a:solidFill>
              </a:rPr>
              <a:t>&gt;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089430881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F2380-88F5-C4B0-6EBA-EDB76965A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4D1EB2-0988-A49E-C1EF-A798FAC752D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E7086E8-B5DD-11C2-091E-3F1B4DDF884B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A4AB5D1-426D-3E7D-4304-F0CDFE1358AA}"/>
              </a:ext>
            </a:extLst>
          </p:cNvPr>
          <p:cNvSpPr txBox="1"/>
          <p:nvPr/>
        </p:nvSpPr>
        <p:spPr bwMode="auto">
          <a:xfrm>
            <a:off x="1073378" y="377819"/>
            <a:ext cx="9332095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</a:rPr>
              <a:t>Расчет конструкции подвижного конуса с помощью МКЭ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34FC1C7-9AFA-8C51-2154-ED230EBEAB0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219113FE-1850-D2C4-600C-1802FCB1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18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2E24086-F3C5-D2D1-B727-2DB08C944199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 descr="Изображение выглядит как оруж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B35D757-9707-E49B-F60D-EAA9714E2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6388"/>
            <a:ext cx="7188760" cy="4313256"/>
          </a:xfrm>
          <a:prstGeom prst="rect">
            <a:avLst/>
          </a:prstGeom>
        </p:spPr>
      </p:pic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43E9506C-2210-6294-03B1-1FE87A2BFF85}"/>
              </a:ext>
            </a:extLst>
          </p:cNvPr>
          <p:cNvGrpSpPr/>
          <p:nvPr/>
        </p:nvGrpSpPr>
        <p:grpSpPr>
          <a:xfrm>
            <a:off x="1456826" y="2427022"/>
            <a:ext cx="914400" cy="3255723"/>
            <a:chOff x="3682330" y="2362126"/>
            <a:chExt cx="914400" cy="3820885"/>
          </a:xfrm>
        </p:grpSpPr>
        <p:sp>
          <p:nvSpPr>
            <p:cNvPr id="11" name="Дуга 10">
              <a:extLst>
                <a:ext uri="{FF2B5EF4-FFF2-40B4-BE49-F238E27FC236}">
                  <a16:creationId xmlns:a16="http://schemas.microsoft.com/office/drawing/2014/main" id="{B9BE7CE7-7E23-4862-E301-18BD7DCFE607}"/>
                </a:ext>
              </a:extLst>
            </p:cNvPr>
            <p:cNvSpPr/>
            <p:nvPr/>
          </p:nvSpPr>
          <p:spPr>
            <a:xfrm rot="10800000">
              <a:off x="3682330" y="2362126"/>
              <a:ext cx="914400" cy="3668485"/>
            </a:xfrm>
            <a:prstGeom prst="arc">
              <a:avLst>
                <a:gd name="adj1" fmla="val 16200000"/>
                <a:gd name="adj2" fmla="val 5786467"/>
              </a:avLst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87605DE2-F13B-AC6A-AAD5-D235F52C52A2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H="1" flipV="1">
              <a:off x="4089400" y="5778500"/>
              <a:ext cx="50130" cy="252111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AC3EFC0E-57BB-7171-F143-C29DE5DE05CE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 flipV="1">
              <a:off x="3970867" y="6030611"/>
              <a:ext cx="168663" cy="152400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67FF493-FB25-C8F1-B3FF-3A115BE3A9FA}"/>
              </a:ext>
            </a:extLst>
          </p:cNvPr>
          <p:cNvSpPr txBox="1"/>
          <p:nvPr/>
        </p:nvSpPr>
        <p:spPr>
          <a:xfrm>
            <a:off x="1469764" y="5617816"/>
            <a:ext cx="423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i="1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endParaRPr lang="ru-RU" sz="3400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52CFBA7E-93CB-0B38-5DF8-91FD4EB5171C}"/>
              </a:ext>
            </a:extLst>
          </p:cNvPr>
          <p:cNvGrpSpPr/>
          <p:nvPr/>
        </p:nvGrpSpPr>
        <p:grpSpPr>
          <a:xfrm>
            <a:off x="2765050" y="1993780"/>
            <a:ext cx="1343295" cy="4410081"/>
            <a:chOff x="3682330" y="2362126"/>
            <a:chExt cx="914400" cy="3751589"/>
          </a:xfrm>
        </p:grpSpPr>
        <p:sp>
          <p:nvSpPr>
            <p:cNvPr id="33" name="Дуга 32">
              <a:extLst>
                <a:ext uri="{FF2B5EF4-FFF2-40B4-BE49-F238E27FC236}">
                  <a16:creationId xmlns:a16="http://schemas.microsoft.com/office/drawing/2014/main" id="{C2B4ABF7-A7E1-7634-7BFA-FC57B463874F}"/>
                </a:ext>
              </a:extLst>
            </p:cNvPr>
            <p:cNvSpPr/>
            <p:nvPr/>
          </p:nvSpPr>
          <p:spPr>
            <a:xfrm rot="10800000">
              <a:off x="3682330" y="2362126"/>
              <a:ext cx="914400" cy="3668485"/>
            </a:xfrm>
            <a:prstGeom prst="arc">
              <a:avLst>
                <a:gd name="adj1" fmla="val 16200000"/>
                <a:gd name="adj2" fmla="val 5786467"/>
              </a:avLst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502A19FC-FB7F-BE6A-73C0-67C3B1CEB7FB}"/>
                </a:ext>
              </a:extLst>
            </p:cNvPr>
            <p:cNvCxnSpPr>
              <a:cxnSpLocks/>
              <a:stCxn id="33" idx="0"/>
            </p:cNvCxnSpPr>
            <p:nvPr/>
          </p:nvCxnSpPr>
          <p:spPr>
            <a:xfrm flipH="1" flipV="1">
              <a:off x="4089400" y="5866560"/>
              <a:ext cx="50131" cy="164051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75564A5C-EEF2-5475-15DC-8958419A0671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 flipV="1">
              <a:off x="4020998" y="6030611"/>
              <a:ext cx="118532" cy="83104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FA37A1A6-98CF-2135-7FAB-BE5C8DB79478}"/>
              </a:ext>
            </a:extLst>
          </p:cNvPr>
          <p:cNvSpPr txBox="1"/>
          <p:nvPr/>
        </p:nvSpPr>
        <p:spPr>
          <a:xfrm>
            <a:off x="3510690" y="5998394"/>
            <a:ext cx="423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i="1" dirty="0">
                <a:solidFill>
                  <a:srgbClr val="FF0000"/>
                </a:solidFill>
              </a:rPr>
              <a:t>n</a:t>
            </a:r>
            <a:endParaRPr lang="ru-RU" sz="3400" i="1" dirty="0">
              <a:solidFill>
                <a:srgbClr val="FF00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B68381-920D-9C8E-AC56-3AD008D9926C}"/>
              </a:ext>
            </a:extLst>
          </p:cNvPr>
          <p:cNvSpPr txBox="1"/>
          <p:nvPr/>
        </p:nvSpPr>
        <p:spPr>
          <a:xfrm>
            <a:off x="2496002" y="2504082"/>
            <a:ext cx="423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endParaRPr lang="ru-RU" sz="3400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E50A2D-EB3F-4BFF-71DA-FB6301AFEEE3}"/>
              </a:ext>
            </a:extLst>
          </p:cNvPr>
          <p:cNvSpPr txBox="1"/>
          <p:nvPr/>
        </p:nvSpPr>
        <p:spPr>
          <a:xfrm>
            <a:off x="2494397" y="5110924"/>
            <a:ext cx="423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endParaRPr lang="ru-RU" sz="3400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2F3806-E317-2AB2-066B-0DFDCF68C669}"/>
              </a:ext>
            </a:extLst>
          </p:cNvPr>
          <p:cNvSpPr txBox="1"/>
          <p:nvPr/>
        </p:nvSpPr>
        <p:spPr>
          <a:xfrm>
            <a:off x="7188760" y="1906581"/>
            <a:ext cx="5575371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Воздействующие факторы: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центробежная сила </a:t>
            </a:r>
            <a:r>
              <a:rPr lang="en-US" sz="2000" b="1" dirty="0">
                <a:solidFill>
                  <a:srgbClr val="176DEA"/>
                </a:solidFill>
                <a:cs typeface="ALS Sector Regular"/>
              </a:rPr>
              <a:t>a</a:t>
            </a:r>
            <a:r>
              <a:rPr lang="en-US" sz="1600" b="1" dirty="0">
                <a:solidFill>
                  <a:srgbClr val="176DEA"/>
                </a:solidFill>
                <a:cs typeface="ALS Sector Regular"/>
              </a:rPr>
              <a:t>n;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давление </a:t>
            </a:r>
            <a:r>
              <a:rPr lang="en-US" sz="2000" b="1" dirty="0">
                <a:solidFill>
                  <a:srgbClr val="176DEA"/>
                </a:solidFill>
                <a:cs typeface="ALS Sector Regular"/>
              </a:rPr>
              <a:t>P;</a:t>
            </a:r>
            <a:endParaRPr lang="ru-RU" sz="2000" b="1" dirty="0">
              <a:solidFill>
                <a:srgbClr val="176DEA"/>
              </a:solidFill>
              <a:cs typeface="ALS Sector Regula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крутящий момент </a:t>
            </a:r>
            <a:r>
              <a:rPr lang="en-US" sz="2000" b="1" dirty="0">
                <a:solidFill>
                  <a:srgbClr val="176DEA"/>
                </a:solidFill>
                <a:cs typeface="ALS Sector Regular"/>
              </a:rPr>
              <a:t>M;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ru-RU" sz="2000" b="1" dirty="0">
              <a:solidFill>
                <a:srgbClr val="176DEA"/>
              </a:solidFill>
              <a:cs typeface="ALS Sector Regular"/>
            </a:endParaRPr>
          </a:p>
        </p:txBody>
      </p:sp>
      <p:cxnSp>
        <p:nvCxnSpPr>
          <p:cNvPr id="69" name="Соединитель: уступ 68">
            <a:extLst>
              <a:ext uri="{FF2B5EF4-FFF2-40B4-BE49-F238E27FC236}">
                <a16:creationId xmlns:a16="http://schemas.microsoft.com/office/drawing/2014/main" id="{6B49E177-848D-268E-AAA7-6BF31D384742}"/>
              </a:ext>
            </a:extLst>
          </p:cNvPr>
          <p:cNvCxnSpPr>
            <a:cxnSpLocks/>
          </p:cNvCxnSpPr>
          <p:nvPr/>
        </p:nvCxnSpPr>
        <p:spPr>
          <a:xfrm rot="5400000">
            <a:off x="2333137" y="2095265"/>
            <a:ext cx="453879" cy="16122"/>
          </a:xfrm>
          <a:prstGeom prst="bentConnector3">
            <a:avLst>
              <a:gd name="adj1" fmla="val 50000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5EF048D-36E7-AF5A-821E-8237339A99DD}"/>
              </a:ext>
            </a:extLst>
          </p:cNvPr>
          <p:cNvSpPr txBox="1"/>
          <p:nvPr/>
        </p:nvSpPr>
        <p:spPr>
          <a:xfrm>
            <a:off x="1582128" y="1517908"/>
            <a:ext cx="2012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FF0000"/>
                </a:solidFill>
                <a:latin typeface="ALS Sector Regular"/>
                <a:cs typeface="ALS Sector Regular"/>
              </a:rPr>
              <a:t>Опасное сечение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385F43-FBA4-9065-6185-BBB487FD022B}"/>
              </a:ext>
            </a:extLst>
          </p:cNvPr>
          <p:cNvSpPr txBox="1"/>
          <p:nvPr/>
        </p:nvSpPr>
        <p:spPr>
          <a:xfrm>
            <a:off x="7188761" y="3894955"/>
            <a:ext cx="500324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Крутящий момент не оказывает воздействия на опасное сечение, по этой причине в расчете МКЭ будут </a:t>
            </a:r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моделироваться</a:t>
            </a:r>
            <a:r>
              <a:rPr lang="ru-RU" sz="2000" b="1" dirty="0">
                <a:solidFill>
                  <a:srgbClr val="176DEA"/>
                </a:solidFill>
                <a:latin typeface="ALS Sector Regular"/>
                <a:cs typeface="ALS Sector Regular"/>
              </a:rPr>
              <a:t> только центробежные силы и давления</a:t>
            </a:r>
            <a:endParaRPr lang="en-US" sz="2000" b="1" dirty="0">
              <a:solidFill>
                <a:srgbClr val="176DEA"/>
              </a:solidFill>
              <a:latin typeface="ALS Sector Regular"/>
              <a:cs typeface="ALS Sector Regula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ru-RU" sz="2000" b="1" dirty="0">
              <a:solidFill>
                <a:srgbClr val="176DEA"/>
              </a:solidFill>
              <a:latin typeface="ALS Sector Regular"/>
              <a:cs typeface="ALS Secto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83897200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ECBA1-A378-FCDB-34FA-179B924E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C791725-5BAC-EF14-6558-231A2964114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CEFC771-B3A3-A8EF-7378-35FBAD4934A7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A4F6E552-83EF-ECFE-9777-DF41244282A9}"/>
              </a:ext>
            </a:extLst>
          </p:cNvPr>
          <p:cNvSpPr txBox="1"/>
          <p:nvPr/>
        </p:nvSpPr>
        <p:spPr bwMode="auto">
          <a:xfrm>
            <a:off x="1073378" y="377819"/>
            <a:ext cx="9332095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</a:rPr>
              <a:t>Расчет конструкции подвижного конуса с помощью МКЭ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FE6124-1A87-5950-05F0-67E62AEB262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AAEE2910-88C0-43EB-B90D-866499947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19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FB4B1C9-13DF-34C1-FEB3-2E331C12C976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5BCEAD4-EF75-3BEB-AFE7-F3D76F194A6F}"/>
              </a:ext>
            </a:extLst>
          </p:cNvPr>
          <p:cNvSpPr txBox="1"/>
          <p:nvPr/>
        </p:nvSpPr>
        <p:spPr>
          <a:xfrm>
            <a:off x="590726" y="1906581"/>
            <a:ext cx="24123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Сборка симуляции</a:t>
            </a:r>
            <a:endParaRPr lang="ru-RU" sz="2000" dirty="0">
              <a:solidFill>
                <a:srgbClr val="176DEA"/>
              </a:solidFill>
            </a:endParaRPr>
          </a:p>
        </p:txBody>
      </p:sp>
      <p:pic>
        <p:nvPicPr>
          <p:cNvPr id="9" name="Рисунок 8" descr="Изображение выглядит как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0123248-7B00-8392-0C6E-7A167A54B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0" y="2499843"/>
            <a:ext cx="2971626" cy="38407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659F65-B250-FFCF-CEA4-C1BD21E2A846}"/>
              </a:ext>
            </a:extLst>
          </p:cNvPr>
          <p:cNvSpPr txBox="1"/>
          <p:nvPr/>
        </p:nvSpPr>
        <p:spPr>
          <a:xfrm>
            <a:off x="4604634" y="1925357"/>
            <a:ext cx="2269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Установка заделок</a:t>
            </a:r>
            <a:endParaRPr lang="ru-RU" sz="2000" dirty="0">
              <a:solidFill>
                <a:srgbClr val="176DEA"/>
              </a:solidFill>
            </a:endParaRPr>
          </a:p>
        </p:txBody>
      </p:sp>
      <p:pic>
        <p:nvPicPr>
          <p:cNvPr id="13" name="Рисунок 12" descr="Изображение выглядит как снимок экрана, текс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97159C-636A-822E-D33E-BEDB2E469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538" y="2576553"/>
            <a:ext cx="1790364" cy="1704894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36DD839-38FB-D459-4FE6-7B63468D4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225" y="2608850"/>
            <a:ext cx="1655116" cy="1704894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A062C0-AB0E-5069-2275-AD19536B3B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9746" y="4281447"/>
            <a:ext cx="1722743" cy="1861673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текст, Быстрое питание, Легкая закуска, е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54B52E3-2BBD-71B9-BA61-BC13ECB32F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4092" y="4494998"/>
            <a:ext cx="1406645" cy="1519459"/>
          </a:xfrm>
          <a:prstGeom prst="rect">
            <a:avLst/>
          </a:prstGeom>
        </p:spPr>
      </p:pic>
      <p:pic>
        <p:nvPicPr>
          <p:cNvPr id="23" name="Рисунок 22" descr="Изображение выглядит как снимок экрана,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2FF24D-A498-973C-5EBA-CB8BF0D69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2341" y="2585993"/>
            <a:ext cx="1516321" cy="1750860"/>
          </a:xfrm>
          <a:prstGeom prst="rect">
            <a:avLst/>
          </a:prstGeom>
        </p:spPr>
      </p:pic>
      <p:pic>
        <p:nvPicPr>
          <p:cNvPr id="26" name="Рисунок 25" descr="Изображение выглядит как снимок экрана, компакт-диск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8940435-C2C8-C26C-6ACE-425B862DF3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6720" y="4494998"/>
            <a:ext cx="1442712" cy="1584008"/>
          </a:xfrm>
          <a:prstGeom prst="rect">
            <a:avLst/>
          </a:prstGeom>
        </p:spPr>
      </p:pic>
      <p:pic>
        <p:nvPicPr>
          <p:cNvPr id="28" name="Рисунок 27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8CCFF4-DA6B-BE98-9E64-2204873E5D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2880" y="2499843"/>
            <a:ext cx="1668281" cy="209475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02015FF-996C-952F-B4A1-E5323CB382F3}"/>
              </a:ext>
            </a:extLst>
          </p:cNvPr>
          <p:cNvSpPr txBox="1"/>
          <p:nvPr/>
        </p:nvSpPr>
        <p:spPr>
          <a:xfrm>
            <a:off x="8413907" y="1955045"/>
            <a:ext cx="3312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Прикладывание вращения</a:t>
            </a:r>
            <a:endParaRPr lang="ru-RU" sz="2000" dirty="0">
              <a:solidFill>
                <a:srgbClr val="176DEA"/>
              </a:solidFill>
            </a:endParaRP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0FD3698D-3622-624E-141E-EDFC750E36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23326" y="3830326"/>
            <a:ext cx="1492084" cy="177588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C37BE97-2C3C-0FC0-5D5B-27F40CD985B0}"/>
              </a:ext>
            </a:extLst>
          </p:cNvPr>
          <p:cNvSpPr txBox="1"/>
          <p:nvPr/>
        </p:nvSpPr>
        <p:spPr>
          <a:xfrm>
            <a:off x="8567113" y="5614347"/>
            <a:ext cx="33124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Прикладывание давления</a:t>
            </a:r>
            <a:endParaRPr lang="ru-RU" sz="2000" dirty="0">
              <a:solidFill>
                <a:srgbClr val="176D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742203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CA34-3F5B-AA13-9DA2-92F812BE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4454B7B-6183-D21C-3F64-80099A019B9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0100" y="92627"/>
            <a:ext cx="1006193" cy="101218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025A0E-7157-1D0E-7A99-95E1ADF3D83A}"/>
              </a:ext>
            </a:extLst>
          </p:cNvPr>
          <p:cNvSpPr/>
          <p:nvPr/>
        </p:nvSpPr>
        <p:spPr bwMode="auto">
          <a:xfrm>
            <a:off x="0" y="0"/>
            <a:ext cx="12191999" cy="1528762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DC802A7-0193-52B2-FA3D-225DBFD9EEF4}"/>
              </a:ext>
            </a:extLst>
          </p:cNvPr>
          <p:cNvSpPr txBox="1"/>
          <p:nvPr/>
        </p:nvSpPr>
        <p:spPr bwMode="auto">
          <a:xfrm>
            <a:off x="1073378" y="377819"/>
            <a:ext cx="9332095" cy="8803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800" b="1" dirty="0">
                <a:solidFill>
                  <a:srgbClr val="176DEA"/>
                </a:solidFill>
              </a:rPr>
              <a:t>Расчет конструкции подвижного конуса с помощью МКЭ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CF9BD93-3B81-23F4-1091-5F960A776A3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14" name="Номер слайда 2">
            <a:extLst>
              <a:ext uri="{FF2B5EF4-FFF2-40B4-BE49-F238E27FC236}">
                <a16:creationId xmlns:a16="http://schemas.microsoft.com/office/drawing/2014/main" id="{B2E9C4E5-7123-8DD8-4FC5-318EFC76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20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E4EA5D14-5DB0-2216-5DA1-51C07E188C4B}"/>
              </a:ext>
            </a:extLst>
          </p:cNvPr>
          <p:cNvCxnSpPr/>
          <p:nvPr/>
        </p:nvCxnSpPr>
        <p:spPr>
          <a:xfrm>
            <a:off x="0" y="1528762"/>
            <a:ext cx="1219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CCD1D39-E252-B9E1-11B6-93073CE48644}"/>
              </a:ext>
            </a:extLst>
          </p:cNvPr>
          <p:cNvSpPr txBox="1"/>
          <p:nvPr/>
        </p:nvSpPr>
        <p:spPr>
          <a:xfrm>
            <a:off x="967500" y="2073636"/>
            <a:ext cx="24609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Эпюра деформаций</a:t>
            </a:r>
            <a:endParaRPr lang="ru-RU" sz="2000" dirty="0">
              <a:solidFill>
                <a:srgbClr val="176DEA"/>
              </a:solidFill>
            </a:endParaRPr>
          </a:p>
        </p:txBody>
      </p:sp>
      <p:pic>
        <p:nvPicPr>
          <p:cNvPr id="8" name="Рисунок 7" descr="Изображение выглядит как Красочность, круг, снимок экрана, радуг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D53063-7334-E27D-84E3-4A55051ED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4" y="2760360"/>
            <a:ext cx="3772426" cy="353426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круг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68504D-F2A7-93FF-8222-441C58313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365" y="2736544"/>
            <a:ext cx="3715268" cy="35819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73B510-81B9-4A82-29E3-2AC22A0894C8}"/>
              </a:ext>
            </a:extLst>
          </p:cNvPr>
          <p:cNvSpPr txBox="1"/>
          <p:nvPr/>
        </p:nvSpPr>
        <p:spPr>
          <a:xfrm>
            <a:off x="4754396" y="2115785"/>
            <a:ext cx="2368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176DEA"/>
                </a:solidFill>
                <a:cs typeface="ALS Sector Regular"/>
              </a:rPr>
              <a:t>Эпюра напряжений</a:t>
            </a:r>
            <a:endParaRPr lang="ru-RU" sz="2000" dirty="0">
              <a:solidFill>
                <a:srgbClr val="176DEA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58CFE9-DACA-4CA3-00DE-C672533CCE38}"/>
              </a:ext>
            </a:extLst>
          </p:cNvPr>
          <p:cNvSpPr txBox="1"/>
          <p:nvPr/>
        </p:nvSpPr>
        <p:spPr>
          <a:xfrm>
            <a:off x="8615477" y="2500590"/>
            <a:ext cx="297062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176DEA"/>
                </a:solidFill>
                <a:cs typeface="ALS Sector Regular"/>
              </a:rPr>
              <a:t>Сплав конуса 40ХН20МА. Напряжение текучести 1178 МПа.</a:t>
            </a:r>
          </a:p>
          <a:p>
            <a:r>
              <a:rPr lang="ru-RU" sz="1600" b="1" dirty="0">
                <a:solidFill>
                  <a:srgbClr val="176DEA"/>
                </a:solidFill>
              </a:rPr>
              <a:t>На текущих эпюрах видно, что максимальное напряжение составляет 528 МПа.</a:t>
            </a:r>
          </a:p>
          <a:p>
            <a:r>
              <a:rPr lang="ru-RU" sz="1600" b="1" dirty="0">
                <a:solidFill>
                  <a:srgbClr val="176DEA"/>
                </a:solidFill>
              </a:rPr>
              <a:t>Коэффициент запаса равен 2,24, а значит, данная модель подвижного конуса подходит для заданных условий работы.</a:t>
            </a:r>
            <a:endParaRPr lang="ru-RU" sz="1600" dirty="0">
              <a:solidFill>
                <a:srgbClr val="176D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129979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C78A-2302-C2CF-E4D5-9FF4D31B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AA40F56-BC36-CF86-6597-1A6B82CFA670}"/>
              </a:ext>
            </a:extLst>
          </p:cNvPr>
          <p:cNvSpPr/>
          <p:nvPr/>
        </p:nvSpPr>
        <p:spPr>
          <a:xfrm>
            <a:off x="2" y="1"/>
            <a:ext cx="2498582" cy="6858000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50A4614F-4C01-5355-2783-2266EEFD73CD}"/>
              </a:ext>
            </a:extLst>
          </p:cNvPr>
          <p:cNvSpPr txBox="1">
            <a:spLocks/>
          </p:cNvSpPr>
          <p:nvPr/>
        </p:nvSpPr>
        <p:spPr>
          <a:xfrm>
            <a:off x="2611686" y="92627"/>
            <a:ext cx="9516916" cy="66103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endParaRPr lang="ru-RU" sz="1600" dirty="0">
              <a:solidFill>
                <a:srgbClr val="434343"/>
              </a:solidFill>
              <a:latin typeface="ALS Sector Regular" pitchFamily="2" charset="0"/>
              <a:cs typeface="ALS Sector Regular" pitchFamily="2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76DEA"/>
                </a:solidFill>
                <a:cs typeface="ALS Sector Regular" panose="02000000000000000000" pitchFamily="2" charset="0"/>
              </a:rPr>
              <a:t>В результате выполнения курсового проекта был произведен объективный сравнительный анализ разных реализаций вариаторов между собой, были найдены их относительные преимущества и недостатки.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b="1" dirty="0">
              <a:solidFill>
                <a:srgbClr val="176DEA"/>
              </a:solidFill>
              <a:cs typeface="ALS Sector Regular" panose="02000000000000000000" pitchFamily="2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76DEA"/>
                </a:solidFill>
                <a:cs typeface="ALS Sector Regular" panose="02000000000000000000" pitchFamily="2" charset="0"/>
              </a:rPr>
              <a:t>Составлен динамический расчет и построены графики.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b="1" dirty="0">
              <a:solidFill>
                <a:srgbClr val="176DEA"/>
              </a:solidFill>
              <a:cs typeface="ALS Sector Regular" panose="02000000000000000000" pitchFamily="2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76DEA"/>
                </a:solidFill>
                <a:cs typeface="ALS Sector Regular" panose="02000000000000000000" pitchFamily="2" charset="0"/>
              </a:rPr>
              <a:t>Проведены соответствующие расчеты и симуляции деталей.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b="1" dirty="0">
              <a:solidFill>
                <a:srgbClr val="176DEA"/>
              </a:solidFill>
              <a:cs typeface="ALS Sector Regular" panose="02000000000000000000" pitchFamily="2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176DEA"/>
                </a:solidFill>
                <a:cs typeface="ALS Sector Regular" panose="02000000000000000000" pitchFamily="2" charset="0"/>
              </a:rPr>
              <a:t>И по итогу была спроектирована бесступенчатая коробка передач.</a:t>
            </a:r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D71EB9EA-F355-FFB9-3E83-5C09D1664D0C}"/>
              </a:ext>
            </a:extLst>
          </p:cNvPr>
          <p:cNvSpPr txBox="1"/>
          <p:nvPr/>
        </p:nvSpPr>
        <p:spPr>
          <a:xfrm>
            <a:off x="709610" y="424805"/>
            <a:ext cx="2178793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800" b="1" dirty="0">
                <a:solidFill>
                  <a:srgbClr val="176DEA"/>
                </a:solidFill>
                <a:latin typeface="ALS Sector Regular" pitchFamily="2" charset="0"/>
                <a:cs typeface="ALS Sector Regular" pitchFamily="2" charset="0"/>
              </a:rPr>
              <a:t>Итоги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DB901E-7732-1EBD-A92F-27CC8128DCD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3002" y="249602"/>
            <a:ext cx="1006193" cy="1012188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BF27AAE3-6E44-C915-12AB-F014BB4D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21</a:t>
            </a:fld>
            <a:endParaRPr lang="ru-RU" sz="2000" dirty="0">
              <a:solidFill>
                <a:schemeClr val="accent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274A48E-EB5E-D181-4143-D79BE3563BF3}"/>
              </a:ext>
            </a:extLst>
          </p:cNvPr>
          <p:cNvCxnSpPr>
            <a:cxnSpLocks/>
          </p:cNvCxnSpPr>
          <p:nvPr/>
        </p:nvCxnSpPr>
        <p:spPr>
          <a:xfrm>
            <a:off x="2498584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111537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4FB85EC-22E5-F140-9E45-1A18C489A553}"/>
              </a:ext>
            </a:extLst>
          </p:cNvPr>
          <p:cNvSpPr txBox="1">
            <a:spLocks/>
          </p:cNvSpPr>
          <p:nvPr/>
        </p:nvSpPr>
        <p:spPr>
          <a:xfrm>
            <a:off x="463436" y="2792052"/>
            <a:ext cx="11211339" cy="11304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S Sector Regular" pitchFamily="2" charset="0"/>
                <a:ea typeface="+mj-ea"/>
                <a:cs typeface="ALS Sector Regular" pitchFamily="2" charset="0"/>
              </a:rPr>
              <a:t>Спасибо!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EFC608A-8B46-915C-D81E-B27E545D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589" y="6397225"/>
            <a:ext cx="478536" cy="365125"/>
          </a:xfrm>
        </p:spPr>
        <p:txBody>
          <a:bodyPr/>
          <a:lstStyle/>
          <a:p>
            <a:fld id="{1363E1C1-A028-4D4E-A8C8-9214D2A1B6C2}" type="slidenum">
              <a:rPr lang="ru-RU" sz="2000" smtClean="0">
                <a:solidFill>
                  <a:schemeClr val="accent1"/>
                </a:solidFill>
              </a:rPr>
              <a:t>22</a:t>
            </a:fld>
            <a:endParaRPr lang="ru-RU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60216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26933</TotalTime>
  <Words>477</Words>
  <Application>Microsoft Office PowerPoint</Application>
  <PresentationFormat>Широкоэкранный</PresentationFormat>
  <Paragraphs>181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Wingdings</vt:lpstr>
      <vt:lpstr>Calibri Light</vt:lpstr>
      <vt:lpstr>ALS Sector Regular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МГТУ им. Н.Э. Баумана</dc:title>
  <dc:subject/>
  <dc:creator>Katya Selivanova</dc:creator>
  <cp:keywords/>
  <dc:description/>
  <cp:lastModifiedBy>Tamashny Sag</cp:lastModifiedBy>
  <cp:revision>711</cp:revision>
  <dcterms:created xsi:type="dcterms:W3CDTF">2022-04-18T20:35:07Z</dcterms:created>
  <dcterms:modified xsi:type="dcterms:W3CDTF">2026-01-22T09:36:53Z</dcterms:modified>
  <cp:category/>
</cp:coreProperties>
</file>