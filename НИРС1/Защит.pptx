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1"/>
  </p:notesMasterIdLst>
  <p:sldIdLst>
    <p:sldId id="328" r:id="rId2"/>
    <p:sldId id="398" r:id="rId3"/>
    <p:sldId id="444" r:id="rId4"/>
    <p:sldId id="412" r:id="rId5"/>
    <p:sldId id="442" r:id="rId6"/>
    <p:sldId id="403" r:id="rId7"/>
    <p:sldId id="436" r:id="rId8"/>
    <p:sldId id="419" r:id="rId9"/>
    <p:sldId id="404" r:id="rId10"/>
    <p:sldId id="437" r:id="rId11"/>
    <p:sldId id="430" r:id="rId12"/>
    <p:sldId id="438" r:id="rId13"/>
    <p:sldId id="439" r:id="rId14"/>
    <p:sldId id="441" r:id="rId15"/>
    <p:sldId id="445" r:id="rId16"/>
    <p:sldId id="435" r:id="rId17"/>
    <p:sldId id="440" r:id="rId18"/>
    <p:sldId id="429" r:id="rId19"/>
    <p:sldId id="396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ИРС" id="{FCEA663C-48B0-7640-ACFB-F74CC6B52896}">
          <p14:sldIdLst/>
        </p14:section>
        <p14:section name="Обложка" id="{797E500E-AFD6-45E9-BB33-92860B4283A0}">
          <p14:sldIdLst>
            <p14:sldId id="328"/>
          </p14:sldIdLst>
        </p14:section>
        <p14:section name="Тело" id="{1B65DF70-AC74-4D30-BDFA-C0CA3B0B6244}">
          <p14:sldIdLst>
            <p14:sldId id="398"/>
            <p14:sldId id="444"/>
            <p14:sldId id="412"/>
          </p14:sldIdLst>
        </p14:section>
        <p14:section name="Спасибо" id="{94404EB9-856D-4630-BA8E-018B153D4B4D}">
          <p14:sldIdLst>
            <p14:sldId id="442"/>
            <p14:sldId id="403"/>
            <p14:sldId id="436"/>
            <p14:sldId id="419"/>
            <p14:sldId id="404"/>
            <p14:sldId id="437"/>
            <p14:sldId id="430"/>
            <p14:sldId id="438"/>
            <p14:sldId id="439"/>
            <p14:sldId id="441"/>
            <p14:sldId id="445"/>
            <p14:sldId id="435"/>
            <p14:sldId id="440"/>
            <p14:sldId id="429"/>
            <p14:sldId id="3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k никита" initials="Nн" lastIdx="2" clrIdx="0">
    <p:extLst>
      <p:ext uri="{19B8F6BF-5375-455C-9EA6-DF929625EA0E}">
        <p15:presenceInfo xmlns:p15="http://schemas.microsoft.com/office/powerpoint/2012/main" userId="29b0311d5adc3b9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6DEA"/>
    <a:srgbClr val="BE5108"/>
    <a:srgbClr val="4A8522"/>
    <a:srgbClr val="D29500"/>
    <a:srgbClr val="FFC000"/>
    <a:srgbClr val="FFFFFF"/>
    <a:srgbClr val="E6E6E6"/>
    <a:srgbClr val="0099FF"/>
    <a:srgbClr val="639CF3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45" autoAdjust="0"/>
    <p:restoredTop sz="96308" autoAdjust="0"/>
  </p:normalViewPr>
  <p:slideViewPr>
    <p:cSldViewPr snapToGrid="0" snapToObjects="1">
      <p:cViewPr>
        <p:scale>
          <a:sx n="50" d="100"/>
          <a:sy n="50" d="100"/>
        </p:scale>
        <p:origin x="1408" y="236"/>
      </p:cViewPr>
      <p:guideLst/>
    </p:cSldViewPr>
  </p:slideViewPr>
  <p:notesTextViewPr>
    <p:cViewPr>
      <p:scale>
        <a:sx n="155" d="100"/>
        <a:sy n="15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B1DD2-73B1-F14C-85CF-6D78FFDE7F84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E6FB5-F890-304F-A36B-54AA81FB8B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928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996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645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79BA0-411E-A65B-876A-7611F71E3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E0D2E3-37C1-D763-45E1-5611DCB12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A40A64-28A0-00A1-D917-2A896022B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DA8E28-A781-8F75-66B2-59F3125B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558D9E-7590-D7A8-4C58-D3A2D81C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68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ED183-9AEB-04E1-1030-33EF54C1D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7279B3-8393-6458-8BB7-7ADA4E5B6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C40523-4510-EF74-45EE-D22BB79A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CB625F-5079-C90D-D8DF-CB7B60491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AA83B6-A404-5936-CC80-EC9668C5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76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1A509-87DC-767E-1832-C7CC363AA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1884C6-3013-2458-0D68-A79021658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003E16-5D83-7B39-5E7A-9F01AC18D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7CCE9B-95D8-9316-C686-67A20911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C337C9-1926-3AED-110C-23634C24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2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2984E-EC5B-9060-A2BD-594795B09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929E23-65B3-BB1A-8057-C43A937AF8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BCA964-7517-C44F-4089-D73C8C9A4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D9D7B3-96A9-1F31-FFD0-CED4EDBF8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48DED3-81A7-C95A-C099-288A4C2E9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EE3D20-8724-FA65-EF34-BC2B1AD6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78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5074E-293E-3A76-CAC2-6C589414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44E037-C4FA-D65F-DD15-3EB27E8E3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D5DBB3-1C4A-34AF-0037-C7D147D16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D213FB-DBAC-11C6-C232-49F21D795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A6A2461-D4A7-7991-4932-4BC08454C0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503503A-4F0A-0B84-8B95-C5532231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2E2AA5-B04B-511D-3F64-47B0E937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CC1A9-C078-D857-B6FC-D2BE7A49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16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4877D4-61ED-5225-4B61-2CBCB01D3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96CAC9-68A8-6AA1-1060-7FB102AFC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B4FA76-A58E-6266-E50F-6EE6783F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4F895F-D327-014B-C3DF-00E76939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420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5F5DA4-954D-7489-7260-247E22617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D1EA36-18D0-FCE9-0CEB-63DC27AE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138B87-3BE8-E11A-4CA5-32AB35B1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97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72561-52A2-5966-54B8-EEDDAEB3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0A797C-423C-AC6B-D4D5-A9A8E00A2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E570D-2BFC-B862-DCD3-1F1B707F3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8C0C96-5EA3-6E15-1B27-D07890188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8A6578-8C97-AD3E-6C9F-9C52222A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18E633-B5FC-2FB9-CCBB-E727CBD45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756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DECCB-440D-BA77-A255-47BA24D55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1D359C9-E73A-60DA-395D-0BA533E81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F5D950-A285-52A7-3A70-B9D48FD5F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E07823-E262-66FD-5E7C-73C230125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19CEFE-2C72-7E64-ED66-D17D5B33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100F73-52A0-70AA-D241-932B2663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846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2BACE5-BB05-C3A5-DD41-1733373E7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DC787-2CB8-7D05-7248-858F71956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BAE0B-13F0-64F1-931E-30D572758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82812-101B-7090-50AB-7588FBD0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966155-AA2C-8FF1-D604-9C0D5E23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18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FB54F11-0A84-1BDD-F8B1-4A6AB3407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E85FF9-1A4D-2103-8E70-27524A4F1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F23D07-ACD4-B405-AC0F-BCC39006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CD1D5B-DEBA-3AA4-215A-3DDE7419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AA6B24-E5D5-0134-836C-502AE8CBB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38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47216-A557-C48B-4C71-1A240DCE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322E18-8D58-0C66-D787-DB415C990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DDE747-9118-13EB-934F-B918F17AD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E4A8F-D894-394B-8106-7DD72FD6EB1F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205960-BE43-11EA-5C91-829BA1B3E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9CC4A4-F428-D59F-9C65-A877CAF52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fld id="{1363E1C1-A028-4D4E-A8C8-9214D2A1B6C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4314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21" Type="http://schemas.openxmlformats.org/officeDocument/2006/relationships/image" Target="../media/image28.sv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4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pn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4FB85EC-22E5-F140-9E45-1A18C489A553}"/>
              </a:ext>
            </a:extLst>
          </p:cNvPr>
          <p:cNvSpPr txBox="1">
            <a:spLocks/>
          </p:cNvSpPr>
          <p:nvPr/>
        </p:nvSpPr>
        <p:spPr>
          <a:xfrm>
            <a:off x="463436" y="1031991"/>
            <a:ext cx="11211339" cy="32546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НАУЧНО-ИССЛЕДОВАТЕЛЬСКАЯ РАБОТА </a:t>
            </a:r>
            <a:endParaRPr lang="en-US" sz="4000" b="1" dirty="0">
              <a:solidFill>
                <a:schemeClr val="bg1"/>
              </a:solidFill>
              <a:latin typeface="ALS Sector Regular" pitchFamily="2" charset="0"/>
              <a:cs typeface="ALS Sector Regular" pitchFamily="2" charset="0"/>
            </a:endParaRPr>
          </a:p>
          <a:p>
            <a:endParaRPr lang="en-US" sz="3600" b="1" dirty="0">
              <a:solidFill>
                <a:schemeClr val="bg1"/>
              </a:solidFill>
              <a:latin typeface="ALS Sector Regular" pitchFamily="2" charset="0"/>
              <a:cs typeface="ALS Sector Regular" pitchFamily="2" charset="0"/>
            </a:endParaRPr>
          </a:p>
          <a:p>
            <a:endParaRPr lang="ru-RU" sz="1800" b="1" dirty="0">
              <a:solidFill>
                <a:schemeClr val="bg1"/>
              </a:solidFill>
              <a:latin typeface="ALS Sector Regular" pitchFamily="2" charset="0"/>
              <a:cs typeface="ALS Sector Regular" pitchFamily="2" charset="0"/>
            </a:endParaRPr>
          </a:p>
          <a:p>
            <a:r>
              <a:rPr lang="ru-RU" sz="18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ОБЗОР И АНАЛИЗ СХЕМ ГИБРИДНОГО ПРИВОДА</a:t>
            </a:r>
          </a:p>
          <a:p>
            <a:r>
              <a:rPr lang="ru-RU" sz="18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ЛЕГКОВЫХ АВТОМОБИЛЕЙ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1ED838-C5F8-5BF8-527C-4FB20A960F4F}"/>
              </a:ext>
            </a:extLst>
          </p:cNvPr>
          <p:cNvSpPr/>
          <p:nvPr/>
        </p:nvSpPr>
        <p:spPr>
          <a:xfrm>
            <a:off x="463436" y="6079140"/>
            <a:ext cx="53163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176DEA"/>
              </a:buClr>
            </a:pPr>
            <a:r>
              <a:rPr lang="ru-RU" sz="2000" dirty="0">
                <a:solidFill>
                  <a:schemeClr val="bg1">
                    <a:alpha val="50000"/>
                  </a:schemeClr>
                </a:solidFill>
                <a:latin typeface="ALS Sector Regular" pitchFamily="2" charset="0"/>
                <a:cs typeface="ALS Sector Regular" pitchFamily="2" charset="0"/>
              </a:rPr>
              <a:t>Москва 2025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AC25DA0-FB7B-F5ED-1652-54BE4C90F804}"/>
              </a:ext>
            </a:extLst>
          </p:cNvPr>
          <p:cNvSpPr txBox="1">
            <a:spLocks/>
          </p:cNvSpPr>
          <p:nvPr/>
        </p:nvSpPr>
        <p:spPr>
          <a:xfrm>
            <a:off x="463433" y="378750"/>
            <a:ext cx="11211339" cy="65324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Московский государственный технический университет им. Н.Э. Баумана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3436" y="4400868"/>
            <a:ext cx="3894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LS Sector Regular" pitchFamily="50" charset="0"/>
                <a:cs typeface="ALS Sector Regular" pitchFamily="50" charset="0"/>
              </a:rPr>
              <a:t>Исполнитель, </a:t>
            </a:r>
            <a:endParaRPr lang="en-US" dirty="0">
              <a:solidFill>
                <a:schemeClr val="bg1"/>
              </a:solidFill>
              <a:latin typeface="ALS Sector Regular" pitchFamily="50" charset="0"/>
              <a:cs typeface="ALS Sector Regular" pitchFamily="50" charset="0"/>
            </a:endParaRPr>
          </a:p>
          <a:p>
            <a:r>
              <a:rPr lang="ru-RU" dirty="0">
                <a:solidFill>
                  <a:schemeClr val="bg1"/>
                </a:solidFill>
                <a:latin typeface="ALS Sector Regular" pitchFamily="50" charset="0"/>
                <a:cs typeface="ALS Sector Regular" pitchFamily="50" charset="0"/>
              </a:rPr>
              <a:t>студент группы СМ10-71Б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3436" y="5402140"/>
            <a:ext cx="3894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LS Sector Regular" pitchFamily="50" charset="0"/>
                <a:cs typeface="ALS Sector Regular" pitchFamily="50" charset="0"/>
              </a:rPr>
              <a:t>Руководитель НИР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433" y="4681592"/>
            <a:ext cx="4162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LS Sector Regular" pitchFamily="50" charset="0"/>
                <a:cs typeface="ALS Sector Regular" pitchFamily="50" charset="0"/>
              </a:rPr>
              <a:t>Джабаев Ибрагим Юнусович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1433" y="5399679"/>
            <a:ext cx="4162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>
                <a:solidFill>
                  <a:schemeClr val="bg1"/>
                </a:solidFill>
                <a:latin typeface="ALS Sector Regular" pitchFamily="50" charset="0"/>
                <a:cs typeface="ALS Sector Regular" pitchFamily="50" charset="0"/>
              </a:rPr>
              <a:t>Шаболин</a:t>
            </a:r>
            <a:r>
              <a:rPr lang="ru-RU" dirty="0">
                <a:solidFill>
                  <a:schemeClr val="bg1"/>
                </a:solidFill>
                <a:latin typeface="ALS Sector Regular" pitchFamily="50" charset="0"/>
                <a:cs typeface="ALS Sector Regular" pitchFamily="50" charset="0"/>
              </a:rPr>
              <a:t> Михаил Леонидович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/>
                </a14:imgProps>
              </a:ext>
            </a:extLst>
          </a:blip>
          <a:stretch>
            <a:fillRect/>
          </a:stretch>
        </p:blipFill>
        <p:spPr>
          <a:xfrm>
            <a:off x="10603392" y="203704"/>
            <a:ext cx="1228631" cy="123595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13460154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6C9820C-09B5-F4D3-957A-81C5359E0F84}"/>
              </a:ext>
            </a:extLst>
          </p:cNvPr>
          <p:cNvSpPr/>
          <p:nvPr/>
        </p:nvSpPr>
        <p:spPr>
          <a:xfrm>
            <a:off x="2" y="1"/>
            <a:ext cx="2498582" cy="6858000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Google Shape;69;p3">
            <a:extLst>
              <a:ext uri="{FF2B5EF4-FFF2-40B4-BE49-F238E27FC236}">
                <a16:creationId xmlns:a16="http://schemas.microsoft.com/office/drawing/2014/main" id="{AF46E1F8-7693-1B2B-37CB-7E63896822AA}"/>
              </a:ext>
            </a:extLst>
          </p:cNvPr>
          <p:cNvSpPr txBox="1"/>
          <p:nvPr/>
        </p:nvSpPr>
        <p:spPr>
          <a:xfrm>
            <a:off x="387299" y="331902"/>
            <a:ext cx="1797102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2400" b="1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Актуальность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714F13-3595-D78F-F56E-E1E6DB06E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2</a:t>
            </a:fld>
            <a:endParaRPr lang="ru-RU" sz="2000" dirty="0">
              <a:solidFill>
                <a:schemeClr val="accent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90ACDC-3CA9-2362-619D-96691E8A351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D033D59-C940-4EBD-348F-ED15026F6B91}"/>
              </a:ext>
            </a:extLst>
          </p:cNvPr>
          <p:cNvCxnSpPr>
            <a:cxnSpLocks/>
          </p:cNvCxnSpPr>
          <p:nvPr/>
        </p:nvCxnSpPr>
        <p:spPr>
          <a:xfrm>
            <a:off x="2498584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: багетная рамка 11">
            <a:extLst>
              <a:ext uri="{FF2B5EF4-FFF2-40B4-BE49-F238E27FC236}">
                <a16:creationId xmlns:a16="http://schemas.microsoft.com/office/drawing/2014/main" id="{7AD396D8-D3E9-583E-A43B-F46432B7B1A2}"/>
              </a:ext>
            </a:extLst>
          </p:cNvPr>
          <p:cNvSpPr/>
          <p:nvPr/>
        </p:nvSpPr>
        <p:spPr>
          <a:xfrm>
            <a:off x="150095" y="272462"/>
            <a:ext cx="2198396" cy="559870"/>
          </a:xfrm>
          <a:prstGeom prst="bevel">
            <a:avLst/>
          </a:prstGeom>
          <a:noFill/>
          <a:ln w="12700">
            <a:solidFill>
              <a:srgbClr val="176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Структурный маневр: Кувейт сокращает поставки сырья в пользу экспорта нефтепроду">
            <a:extLst>
              <a:ext uri="{FF2B5EF4-FFF2-40B4-BE49-F238E27FC236}">
                <a16:creationId xmlns:a16="http://schemas.microsoft.com/office/drawing/2014/main" id="{E69C8C61-4B2C-6AF6-89DD-74155FB89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970255"/>
            <a:ext cx="4267200" cy="242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518F42B-B443-5AF1-8B27-2C596BE4B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832332"/>
            <a:ext cx="4267200" cy="2292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69;p3">
            <a:extLst>
              <a:ext uri="{FF2B5EF4-FFF2-40B4-BE49-F238E27FC236}">
                <a16:creationId xmlns:a16="http://schemas.microsoft.com/office/drawing/2014/main" id="{F49CD87A-F897-672A-A93A-81C5F8EFF23B}"/>
              </a:ext>
            </a:extLst>
          </p:cNvPr>
          <p:cNvSpPr txBox="1"/>
          <p:nvPr/>
        </p:nvSpPr>
        <p:spPr>
          <a:xfrm>
            <a:off x="3962400" y="3429611"/>
            <a:ext cx="4405525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2400" b="1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Ограниченные нефтепродукты</a:t>
            </a:r>
          </a:p>
        </p:txBody>
      </p:sp>
      <p:sp>
        <p:nvSpPr>
          <p:cNvPr id="11" name="Google Shape;69;p3">
            <a:extLst>
              <a:ext uri="{FF2B5EF4-FFF2-40B4-BE49-F238E27FC236}">
                <a16:creationId xmlns:a16="http://schemas.microsoft.com/office/drawing/2014/main" id="{2DD128A4-1F27-0056-9877-4A945FBF7A7C}"/>
              </a:ext>
            </a:extLst>
          </p:cNvPr>
          <p:cNvSpPr txBox="1"/>
          <p:nvPr/>
        </p:nvSpPr>
        <p:spPr>
          <a:xfrm>
            <a:off x="5077655" y="249602"/>
            <a:ext cx="2175013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2400" b="1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Выбросы газов</a:t>
            </a:r>
          </a:p>
        </p:txBody>
      </p:sp>
      <p:sp>
        <p:nvSpPr>
          <p:cNvPr id="13" name="Google Shape;69;p3">
            <a:extLst>
              <a:ext uri="{FF2B5EF4-FFF2-40B4-BE49-F238E27FC236}">
                <a16:creationId xmlns:a16="http://schemas.microsoft.com/office/drawing/2014/main" id="{0428E404-0026-DF7B-6F85-D42102C401C3}"/>
              </a:ext>
            </a:extLst>
          </p:cNvPr>
          <p:cNvSpPr txBox="1"/>
          <p:nvPr/>
        </p:nvSpPr>
        <p:spPr>
          <a:xfrm>
            <a:off x="387299" y="996332"/>
            <a:ext cx="1814286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3000" b="1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Вызовы</a:t>
            </a:r>
          </a:p>
          <a:p>
            <a:pPr>
              <a:lnSpc>
                <a:spcPct val="115000"/>
              </a:lnSpc>
            </a:pPr>
            <a:r>
              <a:rPr lang="ru-RU" sz="3000" b="1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автопрому</a:t>
            </a:r>
          </a:p>
        </p:txBody>
      </p:sp>
    </p:spTree>
    <p:extLst>
      <p:ext uri="{BB962C8B-B14F-4D97-AF65-F5344CB8AC3E}">
        <p14:creationId xmlns:p14="http://schemas.microsoft.com/office/powerpoint/2010/main" val="330645703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D4950-2D84-0A0B-4334-92A95444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8BC2047-E5FD-9DD6-28C1-9B162A71D67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51565B6-09F8-8AEE-3763-1708BF7A109E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B7B61B31-7E49-0B51-2CA2-926FDF6B7891}"/>
              </a:ext>
            </a:extLst>
          </p:cNvPr>
          <p:cNvSpPr txBox="1"/>
          <p:nvPr/>
        </p:nvSpPr>
        <p:spPr bwMode="auto">
          <a:xfrm>
            <a:off x="2205494" y="337851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</a:rPr>
              <a:t>Решение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3FF979D-DF0D-F91F-A926-C72DF60E8CB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346C170B-BD1E-F06D-65EB-A4EC0F77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3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AE8AC469-F30A-C589-0673-D37C04507A9D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: багетная рамка 10">
            <a:extLst>
              <a:ext uri="{FF2B5EF4-FFF2-40B4-BE49-F238E27FC236}">
                <a16:creationId xmlns:a16="http://schemas.microsoft.com/office/drawing/2014/main" id="{CCFFFDEE-396E-DCE0-E047-E20850FDB83E}"/>
              </a:ext>
            </a:extLst>
          </p:cNvPr>
          <p:cNvSpPr/>
          <p:nvPr/>
        </p:nvSpPr>
        <p:spPr>
          <a:xfrm>
            <a:off x="4876800" y="482615"/>
            <a:ext cx="2340429" cy="559870"/>
          </a:xfrm>
          <a:prstGeom prst="bevel">
            <a:avLst/>
          </a:prstGeom>
          <a:noFill/>
          <a:ln w="12700">
            <a:solidFill>
              <a:srgbClr val="176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C068D222-E87A-9ED8-4F89-DA0D178C1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571" y="2710686"/>
            <a:ext cx="6386286" cy="359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6B2D1B-3B31-961D-2D5C-A010460D535E}"/>
              </a:ext>
            </a:extLst>
          </p:cNvPr>
          <p:cNvSpPr txBox="1"/>
          <p:nvPr/>
        </p:nvSpPr>
        <p:spPr>
          <a:xfrm>
            <a:off x="353113" y="2936426"/>
            <a:ext cx="5927944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Постоянство мощности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Высокий КПД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Бесшумность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Проста эксплуатации и ремонта</a:t>
            </a:r>
          </a:p>
          <a:p>
            <a:pPr>
              <a:lnSpc>
                <a:spcPct val="150000"/>
              </a:lnSpc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       </a:t>
            </a:r>
            <a:r>
              <a:rPr lang="ru-RU" sz="2400" b="1" dirty="0">
                <a:solidFill>
                  <a:srgbClr val="BE5108"/>
                </a:solidFill>
                <a:latin typeface="ALS Sector Regular"/>
                <a:cs typeface="ALS Sector Regular"/>
              </a:rPr>
              <a:t>Требуется источник энергии </a:t>
            </a:r>
          </a:p>
        </p:txBody>
      </p:sp>
      <p:pic>
        <p:nvPicPr>
          <p:cNvPr id="12" name="Рисунок 11" descr="Закрыть со сплошной заливкой">
            <a:extLst>
              <a:ext uri="{FF2B5EF4-FFF2-40B4-BE49-F238E27FC236}">
                <a16:creationId xmlns:a16="http://schemas.microsoft.com/office/drawing/2014/main" id="{8D91AEBB-F7DE-C051-4998-98E3715B3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8993" y="5329238"/>
            <a:ext cx="318771" cy="3187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414AE62-8F97-187E-5393-E335BB6AFECE}"/>
              </a:ext>
            </a:extLst>
          </p:cNvPr>
          <p:cNvSpPr txBox="1"/>
          <p:nvPr/>
        </p:nvSpPr>
        <p:spPr>
          <a:xfrm>
            <a:off x="408993" y="2030303"/>
            <a:ext cx="58414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Применение</a:t>
            </a:r>
          </a:p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Электродвигателей: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04A05B-7566-A970-55B5-5B6B624456C5}"/>
              </a:ext>
            </a:extLst>
          </p:cNvPr>
          <p:cNvSpPr txBox="1"/>
          <p:nvPr/>
        </p:nvSpPr>
        <p:spPr>
          <a:xfrm>
            <a:off x="5744668" y="1642671"/>
            <a:ext cx="58414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Тяговые характеристики</a:t>
            </a:r>
          </a:p>
          <a:p>
            <a:pPr algn="ctr"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силовых установок</a:t>
            </a:r>
          </a:p>
        </p:txBody>
      </p:sp>
    </p:spTree>
    <p:extLst>
      <p:ext uri="{BB962C8B-B14F-4D97-AF65-F5344CB8AC3E}">
        <p14:creationId xmlns:p14="http://schemas.microsoft.com/office/powerpoint/2010/main" val="404487813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71A62-AB0D-6AAF-3D34-B4B3FF00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6AD3EB-37AF-4AFF-492E-0863E8CA8F6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230AC0-6DA9-8613-C6E6-0CCE74AC8219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2CBC15B9-DAC7-8498-A99A-98F2E396413C}"/>
              </a:ext>
            </a:extLst>
          </p:cNvPr>
          <p:cNvSpPr txBox="1"/>
          <p:nvPr/>
        </p:nvSpPr>
        <p:spPr bwMode="auto">
          <a:xfrm>
            <a:off x="2205494" y="33222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Типы автомобилей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69A6042-2E27-8B01-DC61-C504491225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43CDA498-2965-C78D-CC88-5D5CFFED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4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0B81955-D72E-E132-9591-92C188C1FE09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: багетная рамка 10">
            <a:extLst>
              <a:ext uri="{FF2B5EF4-FFF2-40B4-BE49-F238E27FC236}">
                <a16:creationId xmlns:a16="http://schemas.microsoft.com/office/drawing/2014/main" id="{07D9DAD1-4B3F-0665-A2F7-45D016B51DEA}"/>
              </a:ext>
            </a:extLst>
          </p:cNvPr>
          <p:cNvSpPr/>
          <p:nvPr/>
        </p:nvSpPr>
        <p:spPr>
          <a:xfrm>
            <a:off x="4107958" y="476984"/>
            <a:ext cx="3927173" cy="559870"/>
          </a:xfrm>
          <a:prstGeom prst="bevel">
            <a:avLst/>
          </a:prstGeom>
          <a:noFill/>
          <a:ln w="12700">
            <a:solidFill>
              <a:srgbClr val="176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DDEAF0-D8D2-E770-951D-CF580B6B86BB}"/>
              </a:ext>
            </a:extLst>
          </p:cNvPr>
          <p:cNvSpPr txBox="1"/>
          <p:nvPr/>
        </p:nvSpPr>
        <p:spPr>
          <a:xfrm>
            <a:off x="3086752" y="2245616"/>
            <a:ext cx="37401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Классические на ДВС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F6C0FB-888D-7890-D8B2-EF4A03D5A1D6}"/>
              </a:ext>
            </a:extLst>
          </p:cNvPr>
          <p:cNvSpPr txBox="1"/>
          <p:nvPr/>
        </p:nvSpPr>
        <p:spPr>
          <a:xfrm>
            <a:off x="7115354" y="2250163"/>
            <a:ext cx="166846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000" b="1" dirty="0">
                <a:solidFill>
                  <a:srgbClr val="176DEA"/>
                </a:solidFill>
              </a:rPr>
              <a:t>Гибриды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A7F16F-4052-222D-5514-09C6F4C314FE}"/>
              </a:ext>
            </a:extLst>
          </p:cNvPr>
          <p:cNvSpPr txBox="1"/>
          <p:nvPr/>
        </p:nvSpPr>
        <p:spPr>
          <a:xfrm>
            <a:off x="9072268" y="2245616"/>
            <a:ext cx="293226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Электромобили</a:t>
            </a:r>
            <a:endParaRPr lang="ru-RU" sz="3000" b="1" dirty="0">
              <a:solidFill>
                <a:srgbClr val="176DEA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FEB645-97C9-40ED-5930-479071ABC7DF}"/>
              </a:ext>
            </a:extLst>
          </p:cNvPr>
          <p:cNvSpPr txBox="1"/>
          <p:nvPr/>
        </p:nvSpPr>
        <p:spPr>
          <a:xfrm>
            <a:off x="353113" y="2936425"/>
            <a:ext cx="2676307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Автономность</a:t>
            </a:r>
          </a:p>
          <a:p>
            <a:pPr algn="r">
              <a:lnSpc>
                <a:spcPct val="150000"/>
              </a:lnSpc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Эффективность</a:t>
            </a:r>
          </a:p>
          <a:p>
            <a:pPr algn="r">
              <a:lnSpc>
                <a:spcPct val="150000"/>
              </a:lnSpc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Цена</a:t>
            </a:r>
          </a:p>
          <a:p>
            <a:pPr algn="r">
              <a:lnSpc>
                <a:spcPct val="150000"/>
              </a:lnSpc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Конструкция </a:t>
            </a:r>
          </a:p>
        </p:txBody>
      </p:sp>
      <p:pic>
        <p:nvPicPr>
          <p:cNvPr id="20" name="Рисунок 19" descr="Шестеренки со сплошной заливкой">
            <a:extLst>
              <a:ext uri="{FF2B5EF4-FFF2-40B4-BE49-F238E27FC236}">
                <a16:creationId xmlns:a16="http://schemas.microsoft.com/office/drawing/2014/main" id="{7B62F11A-BBFA-53FF-5E96-0DDDD9C35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9927" y="4915705"/>
            <a:ext cx="669136" cy="669136"/>
          </a:xfrm>
          <a:prstGeom prst="rect">
            <a:avLst/>
          </a:prstGeom>
        </p:spPr>
      </p:pic>
      <p:pic>
        <p:nvPicPr>
          <p:cNvPr id="26" name="Рисунок 25" descr="Деньги со сплошной заливкой">
            <a:extLst>
              <a:ext uri="{FF2B5EF4-FFF2-40B4-BE49-F238E27FC236}">
                <a16:creationId xmlns:a16="http://schemas.microsoft.com/office/drawing/2014/main" id="{5B3835F7-C37A-F9D7-9376-EB568CBA73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8598610">
            <a:off x="4072645" y="4281067"/>
            <a:ext cx="520111" cy="520111"/>
          </a:xfrm>
          <a:prstGeom prst="rect">
            <a:avLst/>
          </a:prstGeom>
        </p:spPr>
      </p:pic>
      <p:pic>
        <p:nvPicPr>
          <p:cNvPr id="28" name="Рисунок 27" descr="Вода со сплошной заливкой">
            <a:extLst>
              <a:ext uri="{FF2B5EF4-FFF2-40B4-BE49-F238E27FC236}">
                <a16:creationId xmlns:a16="http://schemas.microsoft.com/office/drawing/2014/main" id="{0F61DD48-8945-9E88-3C93-98A2E9C2A5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57639" y="3598869"/>
            <a:ext cx="618068" cy="618068"/>
          </a:xfrm>
          <a:prstGeom prst="rect">
            <a:avLst/>
          </a:prstGeom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24BC7FD8-6B65-0D1D-0E4B-07F4A2082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827" y="3020394"/>
            <a:ext cx="525804" cy="50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Picture background">
            <a:extLst>
              <a:ext uri="{FF2B5EF4-FFF2-40B4-BE49-F238E27FC236}">
                <a16:creationId xmlns:a16="http://schemas.microsoft.com/office/drawing/2014/main" id="{1524F3AF-213D-0EEB-E6AC-E1169D277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930" y="3020394"/>
            <a:ext cx="525804" cy="50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Рисунок 32" descr="Вода со сплошной заливкой">
            <a:extLst>
              <a:ext uri="{FF2B5EF4-FFF2-40B4-BE49-F238E27FC236}">
                <a16:creationId xmlns:a16="http://schemas.microsoft.com/office/drawing/2014/main" id="{29C0F13F-9EFD-4C1B-AE43-570EF9909F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7491" y="3602979"/>
            <a:ext cx="618068" cy="618068"/>
          </a:xfrm>
          <a:prstGeom prst="rect">
            <a:avLst/>
          </a:prstGeom>
        </p:spPr>
      </p:pic>
      <p:pic>
        <p:nvPicPr>
          <p:cNvPr id="34" name="Рисунок 33" descr="Вода со сплошной заливкой">
            <a:extLst>
              <a:ext uri="{FF2B5EF4-FFF2-40B4-BE49-F238E27FC236}">
                <a16:creationId xmlns:a16="http://schemas.microsoft.com/office/drawing/2014/main" id="{01CEE450-DB68-8E51-A0BF-2BAF8B97AC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3986" y="3594264"/>
            <a:ext cx="618068" cy="618068"/>
          </a:xfrm>
          <a:prstGeom prst="rect">
            <a:avLst/>
          </a:prstGeom>
        </p:spPr>
      </p:pic>
      <p:pic>
        <p:nvPicPr>
          <p:cNvPr id="35" name="Рисунок 34" descr="Шестеренки со сплошной заливкой">
            <a:extLst>
              <a:ext uri="{FF2B5EF4-FFF2-40B4-BE49-F238E27FC236}">
                <a16:creationId xmlns:a16="http://schemas.microsoft.com/office/drawing/2014/main" id="{3C8DB90A-63D1-7E80-C9ED-06CB493A8D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4760" y="4932145"/>
            <a:ext cx="669136" cy="669136"/>
          </a:xfrm>
          <a:prstGeom prst="rect">
            <a:avLst/>
          </a:prstGeom>
        </p:spPr>
      </p:pic>
      <p:pic>
        <p:nvPicPr>
          <p:cNvPr id="37" name="Рисунок 36" descr="Шестеренки со сплошной заливкой">
            <a:extLst>
              <a:ext uri="{FF2B5EF4-FFF2-40B4-BE49-F238E27FC236}">
                <a16:creationId xmlns:a16="http://schemas.microsoft.com/office/drawing/2014/main" id="{ED379C3F-7333-5C2D-6B1E-57BAF5EEEC1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61727" y="4930071"/>
            <a:ext cx="669136" cy="669136"/>
          </a:xfrm>
          <a:prstGeom prst="rect">
            <a:avLst/>
          </a:prstGeom>
        </p:spPr>
      </p:pic>
      <p:pic>
        <p:nvPicPr>
          <p:cNvPr id="38" name="Рисунок 37" descr="Деньги со сплошной заливкой">
            <a:extLst>
              <a:ext uri="{FF2B5EF4-FFF2-40B4-BE49-F238E27FC236}">
                <a16:creationId xmlns:a16="http://schemas.microsoft.com/office/drawing/2014/main" id="{3F5B170B-0528-6711-C432-2DBCE117346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8598610">
            <a:off x="7004445" y="4295433"/>
            <a:ext cx="520111" cy="520111"/>
          </a:xfrm>
          <a:prstGeom prst="rect">
            <a:avLst/>
          </a:prstGeom>
        </p:spPr>
      </p:pic>
      <p:pic>
        <p:nvPicPr>
          <p:cNvPr id="39" name="Рисунок 38" descr="Вода со сплошной заливкой">
            <a:extLst>
              <a:ext uri="{FF2B5EF4-FFF2-40B4-BE49-F238E27FC236}">
                <a16:creationId xmlns:a16="http://schemas.microsoft.com/office/drawing/2014/main" id="{A9BED165-1BE7-876B-C35A-12C70090DE3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89439" y="3613235"/>
            <a:ext cx="618068" cy="618068"/>
          </a:xfrm>
          <a:prstGeom prst="rect">
            <a:avLst/>
          </a:prstGeom>
        </p:spPr>
      </p:pic>
      <p:pic>
        <p:nvPicPr>
          <p:cNvPr id="40" name="Picture 2" descr="Picture background">
            <a:extLst>
              <a:ext uri="{FF2B5EF4-FFF2-40B4-BE49-F238E27FC236}">
                <a16:creationId xmlns:a16="http://schemas.microsoft.com/office/drawing/2014/main" id="{FCEF2106-5293-F118-50CD-56DE04B3B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627" y="3034760"/>
            <a:ext cx="525804" cy="50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Picture background">
            <a:extLst>
              <a:ext uri="{FF2B5EF4-FFF2-40B4-BE49-F238E27FC236}">
                <a16:creationId xmlns:a16="http://schemas.microsoft.com/office/drawing/2014/main" id="{074654EA-FFA5-8411-89A1-F198A1F74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8730" y="3034760"/>
            <a:ext cx="525804" cy="50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Picture background">
            <a:extLst>
              <a:ext uri="{FF2B5EF4-FFF2-40B4-BE49-F238E27FC236}">
                <a16:creationId xmlns:a16="http://schemas.microsoft.com/office/drawing/2014/main" id="{B19DA830-13C4-B4AD-266F-0F88392EA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506" y="3034760"/>
            <a:ext cx="525804" cy="50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Рисунок 42" descr="Вода со сплошной заливкой">
            <a:extLst>
              <a:ext uri="{FF2B5EF4-FFF2-40B4-BE49-F238E27FC236}">
                <a16:creationId xmlns:a16="http://schemas.microsoft.com/office/drawing/2014/main" id="{D7DBD42C-22E9-2C3B-0D7B-F2340DFD419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89291" y="3617345"/>
            <a:ext cx="618068" cy="618068"/>
          </a:xfrm>
          <a:prstGeom prst="rect">
            <a:avLst/>
          </a:prstGeom>
        </p:spPr>
      </p:pic>
      <p:pic>
        <p:nvPicPr>
          <p:cNvPr id="45" name="Рисунок 44" descr="Шестеренки со сплошной заливкой">
            <a:extLst>
              <a:ext uri="{FF2B5EF4-FFF2-40B4-BE49-F238E27FC236}">
                <a16:creationId xmlns:a16="http://schemas.microsoft.com/office/drawing/2014/main" id="{B5DE5B21-7DFF-AFAA-1B11-5115A6B1B0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51600" y="4946511"/>
            <a:ext cx="669136" cy="669136"/>
          </a:xfrm>
          <a:prstGeom prst="rect">
            <a:avLst/>
          </a:prstGeom>
        </p:spPr>
      </p:pic>
      <p:pic>
        <p:nvPicPr>
          <p:cNvPr id="46" name="Рисунок 45" descr="Шестеренки со сплошной заливкой">
            <a:extLst>
              <a:ext uri="{FF2B5EF4-FFF2-40B4-BE49-F238E27FC236}">
                <a16:creationId xmlns:a16="http://schemas.microsoft.com/office/drawing/2014/main" id="{556805A3-EE1B-C74C-A7E0-940499AFCA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14612" y="4938291"/>
            <a:ext cx="669136" cy="669136"/>
          </a:xfrm>
          <a:prstGeom prst="rect">
            <a:avLst/>
          </a:prstGeom>
        </p:spPr>
      </p:pic>
      <p:pic>
        <p:nvPicPr>
          <p:cNvPr id="47" name="Рисунок 46" descr="Деньги со сплошной заливкой">
            <a:extLst>
              <a:ext uri="{FF2B5EF4-FFF2-40B4-BE49-F238E27FC236}">
                <a16:creationId xmlns:a16="http://schemas.microsoft.com/office/drawing/2014/main" id="{0E5037B4-5760-8237-5022-99C802BA32D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8598610">
            <a:off x="7583512" y="4315982"/>
            <a:ext cx="520111" cy="520111"/>
          </a:xfrm>
          <a:prstGeom prst="rect">
            <a:avLst/>
          </a:prstGeom>
        </p:spPr>
      </p:pic>
      <p:pic>
        <p:nvPicPr>
          <p:cNvPr id="49" name="Рисунок 48" descr="Шестеренки со сплошной заливкой">
            <a:extLst>
              <a:ext uri="{FF2B5EF4-FFF2-40B4-BE49-F238E27FC236}">
                <a16:creationId xmlns:a16="http://schemas.microsoft.com/office/drawing/2014/main" id="{B3C0BFE3-016D-2238-1FA7-A2ADF95F0C1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89997" y="4930071"/>
            <a:ext cx="669136" cy="669136"/>
          </a:xfrm>
          <a:prstGeom prst="rect">
            <a:avLst/>
          </a:prstGeom>
        </p:spPr>
      </p:pic>
      <p:pic>
        <p:nvPicPr>
          <p:cNvPr id="50" name="Рисунок 49" descr="Деньги со сплошной заливкой">
            <a:extLst>
              <a:ext uri="{FF2B5EF4-FFF2-40B4-BE49-F238E27FC236}">
                <a16:creationId xmlns:a16="http://schemas.microsoft.com/office/drawing/2014/main" id="{161946F1-57DC-5FE2-7C8B-82B0969B1A4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8598610">
            <a:off x="9632715" y="4295433"/>
            <a:ext cx="520111" cy="520111"/>
          </a:xfrm>
          <a:prstGeom prst="rect">
            <a:avLst/>
          </a:prstGeom>
        </p:spPr>
      </p:pic>
      <p:pic>
        <p:nvPicPr>
          <p:cNvPr id="51" name="Рисунок 50" descr="Вода со сплошной заливкой">
            <a:extLst>
              <a:ext uri="{FF2B5EF4-FFF2-40B4-BE49-F238E27FC236}">
                <a16:creationId xmlns:a16="http://schemas.microsoft.com/office/drawing/2014/main" id="{B31898B5-3D0F-CF96-D230-47C352D7A31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617709" y="3613235"/>
            <a:ext cx="618068" cy="618068"/>
          </a:xfrm>
          <a:prstGeom prst="rect">
            <a:avLst/>
          </a:prstGeom>
        </p:spPr>
      </p:pic>
      <p:pic>
        <p:nvPicPr>
          <p:cNvPr id="52" name="Picture 2" descr="Picture background">
            <a:extLst>
              <a:ext uri="{FF2B5EF4-FFF2-40B4-BE49-F238E27FC236}">
                <a16:creationId xmlns:a16="http://schemas.microsoft.com/office/drawing/2014/main" id="{A202C36C-BFA4-3203-27EA-9EE03E599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5897" y="3034760"/>
            <a:ext cx="525804" cy="50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Рисунок 57" descr="Деньги со сплошной заливкой">
            <a:extLst>
              <a:ext uri="{FF2B5EF4-FFF2-40B4-BE49-F238E27FC236}">
                <a16:creationId xmlns:a16="http://schemas.microsoft.com/office/drawing/2014/main" id="{27AF5A4E-692D-D38E-0D21-8AFF82BE8BA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8598610">
            <a:off x="10211782" y="4315982"/>
            <a:ext cx="520111" cy="520111"/>
          </a:xfrm>
          <a:prstGeom prst="rect">
            <a:avLst/>
          </a:prstGeom>
        </p:spPr>
      </p:pic>
      <p:pic>
        <p:nvPicPr>
          <p:cNvPr id="59" name="Рисунок 58" descr="Деньги со сплошной заливкой">
            <a:extLst>
              <a:ext uri="{FF2B5EF4-FFF2-40B4-BE49-F238E27FC236}">
                <a16:creationId xmlns:a16="http://schemas.microsoft.com/office/drawing/2014/main" id="{300D1533-588E-6449-58AC-BF6F13CC7DF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8598610">
            <a:off x="10794204" y="4315981"/>
            <a:ext cx="520111" cy="520111"/>
          </a:xfrm>
          <a:prstGeom prst="rect">
            <a:avLst/>
          </a:prstGeom>
        </p:spPr>
      </p:pic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FBC144D4-1A8E-57EE-A746-975DFFF6CEE2}"/>
              </a:ext>
            </a:extLst>
          </p:cNvPr>
          <p:cNvCxnSpPr/>
          <p:nvPr/>
        </p:nvCxnSpPr>
        <p:spPr>
          <a:xfrm>
            <a:off x="6448926" y="3034760"/>
            <a:ext cx="0" cy="24420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62201484-0C36-083A-4EEC-75F0673D8A03}"/>
              </a:ext>
            </a:extLst>
          </p:cNvPr>
          <p:cNvCxnSpPr/>
          <p:nvPr/>
        </p:nvCxnSpPr>
        <p:spPr>
          <a:xfrm>
            <a:off x="9142396" y="3105253"/>
            <a:ext cx="0" cy="24420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99992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CD6D7-6BAA-58A1-A7B3-CB06F99DC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2FC9CEF-1F41-B6D3-EED0-8589B2264DD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71D397E-8A9E-62E3-D5B4-3B1B7F285C46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0E52B675-3B81-6E75-83DA-6AB7FD956E18}"/>
              </a:ext>
            </a:extLst>
          </p:cNvPr>
          <p:cNvSpPr txBox="1"/>
          <p:nvPr/>
        </p:nvSpPr>
        <p:spPr bwMode="auto">
          <a:xfrm>
            <a:off x="2205494" y="33222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Классы гибридов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11709AD-10F1-1E4E-716B-EC4390AA758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1C4A550F-2CE0-BCCF-52DB-69D6B496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5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6158EF4-ECD7-4FFA-BF54-8CC55E376424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: багетная рамка 10">
            <a:extLst>
              <a:ext uri="{FF2B5EF4-FFF2-40B4-BE49-F238E27FC236}">
                <a16:creationId xmlns:a16="http://schemas.microsoft.com/office/drawing/2014/main" id="{5C86B11A-7E9B-E65A-8C62-66AC533FE32C}"/>
              </a:ext>
            </a:extLst>
          </p:cNvPr>
          <p:cNvSpPr/>
          <p:nvPr/>
        </p:nvSpPr>
        <p:spPr>
          <a:xfrm>
            <a:off x="4107958" y="476984"/>
            <a:ext cx="3927173" cy="559870"/>
          </a:xfrm>
          <a:prstGeom prst="bevel">
            <a:avLst/>
          </a:prstGeom>
          <a:noFill/>
          <a:ln w="12700">
            <a:solidFill>
              <a:srgbClr val="176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055137-1F1E-F7C8-0D48-54BD1FD17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05" y="1844916"/>
            <a:ext cx="10868506" cy="436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709119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3F94A-97DF-DA2D-113F-493707785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775E899-0224-9101-C146-3A35EADBB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90" y="2798813"/>
            <a:ext cx="11670207" cy="3275187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0D2025F-510E-A1CA-9557-BEBC828865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043"/>
          <a:stretch>
            <a:fillRect/>
          </a:stretch>
        </p:blipFill>
        <p:spPr>
          <a:xfrm>
            <a:off x="220791" y="2676751"/>
            <a:ext cx="11670206" cy="370426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2CAD243-4844-E48E-D201-5096F8E75E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D0BB60E-B46D-4F60-9CCB-9FB659E51AA1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9CA5A2C2-65D9-ED92-757A-5969EC9F7720}"/>
              </a:ext>
            </a:extLst>
          </p:cNvPr>
          <p:cNvSpPr txBox="1"/>
          <p:nvPr/>
        </p:nvSpPr>
        <p:spPr bwMode="auto">
          <a:xfrm>
            <a:off x="2210134" y="32515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</a:rPr>
              <a:t>Типовые схемы гибридов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63D71B0-C26D-BBD2-509E-7230580FBAD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3D1AF40D-6562-E427-8424-F3723475F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6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2EE94ABF-989F-6B9C-905F-9E3F9A9CD008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Прямоугольник: багетная рамка 107">
            <a:extLst>
              <a:ext uri="{FF2B5EF4-FFF2-40B4-BE49-F238E27FC236}">
                <a16:creationId xmlns:a16="http://schemas.microsoft.com/office/drawing/2014/main" id="{3D2EF75D-7AE6-7AA0-DFCA-9C4367476059}"/>
              </a:ext>
            </a:extLst>
          </p:cNvPr>
          <p:cNvSpPr/>
          <p:nvPr/>
        </p:nvSpPr>
        <p:spPr>
          <a:xfrm>
            <a:off x="3609474" y="476983"/>
            <a:ext cx="4892841" cy="627831"/>
          </a:xfrm>
          <a:prstGeom prst="bevel">
            <a:avLst/>
          </a:prstGeom>
          <a:noFill/>
          <a:ln w="12700">
            <a:solidFill>
              <a:srgbClr val="176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E404BBA-8353-67D1-71D2-C7122B95B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429" y="2178423"/>
            <a:ext cx="10385510" cy="38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97386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57C4A-A789-D3C7-4CBE-27E989D65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1C1693-0126-0047-1137-43ADD1DEEA3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7F9FBF4-9D00-174E-DE4D-B25F62C68324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06FE738-72E4-24CA-B259-FC3312CD8165}"/>
              </a:ext>
            </a:extLst>
          </p:cNvPr>
          <p:cNvSpPr txBox="1"/>
          <p:nvPr/>
        </p:nvSpPr>
        <p:spPr bwMode="auto">
          <a:xfrm>
            <a:off x="2210134" y="32515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</a:rPr>
              <a:t>Топология гибридных систем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4D67A80-2ED1-03D0-11D0-0EE57BF47C2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7" name="Номер слайда 2">
            <a:extLst>
              <a:ext uri="{FF2B5EF4-FFF2-40B4-BE49-F238E27FC236}">
                <a16:creationId xmlns:a16="http://schemas.microsoft.com/office/drawing/2014/main" id="{DDB0F23F-F951-84A0-8F2C-3205D478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7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02794AF6-CCDA-7DDD-6B86-0DD69ADFFAD5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Прямоугольник: багетная рамка 107">
            <a:extLst>
              <a:ext uri="{FF2B5EF4-FFF2-40B4-BE49-F238E27FC236}">
                <a16:creationId xmlns:a16="http://schemas.microsoft.com/office/drawing/2014/main" id="{84282F87-142D-C161-1D5E-698F8E77025E}"/>
              </a:ext>
            </a:extLst>
          </p:cNvPr>
          <p:cNvSpPr/>
          <p:nvPr/>
        </p:nvSpPr>
        <p:spPr>
          <a:xfrm>
            <a:off x="3609474" y="476983"/>
            <a:ext cx="4892841" cy="627831"/>
          </a:xfrm>
          <a:prstGeom prst="bevel">
            <a:avLst/>
          </a:prstGeom>
          <a:noFill/>
          <a:ln w="12700">
            <a:solidFill>
              <a:srgbClr val="176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 descr="Изображение выглядит как снимок экрана, текст, число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BA8A917-9C4D-F582-F849-E6C52EAFB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91" y="2633576"/>
            <a:ext cx="11534891" cy="28355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29CA54-E86C-DDE9-3BB8-D64BF517B067}"/>
              </a:ext>
            </a:extLst>
          </p:cNvPr>
          <p:cNvSpPr txBox="1"/>
          <p:nvPr/>
        </p:nvSpPr>
        <p:spPr>
          <a:xfrm>
            <a:off x="1865087" y="1952709"/>
            <a:ext cx="90079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b="1" dirty="0"/>
              <a:t>Комбинаторная схема возможных позиций мотор-генераторов</a:t>
            </a:r>
          </a:p>
        </p:txBody>
      </p:sp>
    </p:spTree>
    <p:extLst>
      <p:ext uri="{BB962C8B-B14F-4D97-AF65-F5344CB8AC3E}">
        <p14:creationId xmlns:p14="http://schemas.microsoft.com/office/powerpoint/2010/main" val="670312104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B31CA-6404-1167-4E8E-6B4B1E56D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A0D3134-AF2E-E71F-84A0-C4DCE52A2FA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14AC345-2C5A-F2D4-F00C-6B834688859A}"/>
              </a:ext>
            </a:extLst>
          </p:cNvPr>
          <p:cNvSpPr/>
          <p:nvPr/>
        </p:nvSpPr>
        <p:spPr bwMode="auto">
          <a:xfrm>
            <a:off x="1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EB13647-E2E4-9E28-23B5-CB9BC8D19002}"/>
              </a:ext>
            </a:extLst>
          </p:cNvPr>
          <p:cNvSpPr txBox="1"/>
          <p:nvPr/>
        </p:nvSpPr>
        <p:spPr bwMode="auto">
          <a:xfrm>
            <a:off x="2229950" y="323826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Параллельная архитектура мягких гибридов (Parallel MHEV)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1BCD2F2-A24F-00E7-C9D0-1D10CDC6815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1" name="Номер слайда 2">
            <a:extLst>
              <a:ext uri="{FF2B5EF4-FFF2-40B4-BE49-F238E27FC236}">
                <a16:creationId xmlns:a16="http://schemas.microsoft.com/office/drawing/2014/main" id="{68334885-666B-CD66-28A1-35D0EFE89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8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A2113137-1BEA-6D8F-77EF-3EB452274EF4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: багетная рамка 15">
            <a:extLst>
              <a:ext uri="{FF2B5EF4-FFF2-40B4-BE49-F238E27FC236}">
                <a16:creationId xmlns:a16="http://schemas.microsoft.com/office/drawing/2014/main" id="{645E30FC-09D8-9E2C-069F-5DEEBE55CE47}"/>
              </a:ext>
            </a:extLst>
          </p:cNvPr>
          <p:cNvSpPr/>
          <p:nvPr/>
        </p:nvSpPr>
        <p:spPr>
          <a:xfrm>
            <a:off x="2374232" y="192025"/>
            <a:ext cx="7443536" cy="1139469"/>
          </a:xfrm>
          <a:prstGeom prst="bevel">
            <a:avLst/>
          </a:prstGeom>
          <a:noFill/>
          <a:ln w="12700">
            <a:solidFill>
              <a:srgbClr val="176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55727C-22DC-6E1C-E27A-47317E511DB2}"/>
              </a:ext>
            </a:extLst>
          </p:cNvPr>
          <p:cNvSpPr txBox="1"/>
          <p:nvPr/>
        </p:nvSpPr>
        <p:spPr>
          <a:xfrm>
            <a:off x="317694" y="2919288"/>
            <a:ext cx="8434420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176DEA"/>
                </a:solidFill>
              </a:rPr>
              <a:t>1. </a:t>
            </a:r>
            <a:r>
              <a:rPr lang="ru-RU" sz="2400" b="1" dirty="0">
                <a:solidFill>
                  <a:srgbClr val="176DEA"/>
                </a:solidFill>
              </a:rPr>
              <a:t>Ременной стартер-генератор – </a:t>
            </a:r>
            <a:r>
              <a:rPr lang="en-US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P0-</a:t>
            </a:r>
            <a:r>
              <a:rPr lang="ru-RU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архитектура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Belt Starter-Generator (BSG)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2. </a:t>
            </a:r>
            <a:r>
              <a:rPr lang="ru-RU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Интегрированный стартер-генератор – </a:t>
            </a:r>
            <a:r>
              <a:rPr lang="en-US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P1-</a:t>
            </a:r>
            <a:r>
              <a:rPr lang="ru-RU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архитектура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Integrated Starter-Generator (ISG)</a:t>
            </a:r>
            <a:endParaRPr lang="ru-RU" sz="2400" b="1" dirty="0">
              <a:solidFill>
                <a:srgbClr val="176DEA"/>
              </a:solidFill>
              <a:latin typeface="ALS Sector Regular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3. Целевой стартер-генератор – </a:t>
            </a:r>
            <a:r>
              <a:rPr lang="en-US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P2-</a:t>
            </a:r>
            <a:r>
              <a:rPr lang="ru-RU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архитектура</a:t>
            </a:r>
            <a:endParaRPr lang="en-US" sz="2400" b="1" dirty="0">
              <a:solidFill>
                <a:srgbClr val="176DEA"/>
              </a:solidFill>
              <a:latin typeface="ALS Sector Regular" panose="02000000000000000000" pitchFamily="2" charset="0"/>
            </a:endParaRPr>
          </a:p>
        </p:txBody>
      </p:sp>
      <p:pic>
        <p:nvPicPr>
          <p:cNvPr id="26" name="Рисунок 25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83128A-3F3F-5259-4D64-9D25F9EE1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75" y="3127654"/>
            <a:ext cx="5985135" cy="2715062"/>
          </a:xfrm>
          <a:prstGeom prst="rect">
            <a:avLst/>
          </a:prstGeom>
        </p:spPr>
      </p:pic>
      <p:pic>
        <p:nvPicPr>
          <p:cNvPr id="30" name="Рисунок 29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4382F03-D672-C400-7A11-F3BD1D307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721" y="3100438"/>
            <a:ext cx="5839404" cy="270160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8047528-52EE-6B4E-D2CF-751DBC358417}"/>
              </a:ext>
            </a:extLst>
          </p:cNvPr>
          <p:cNvSpPr txBox="1"/>
          <p:nvPr/>
        </p:nvSpPr>
        <p:spPr>
          <a:xfrm>
            <a:off x="317694" y="2130881"/>
            <a:ext cx="68320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176DEA"/>
                </a:solidFill>
              </a:rPr>
              <a:t>Самыми распространенными являются </a:t>
            </a:r>
            <a:r>
              <a:rPr lang="en-US" sz="2400" b="1" dirty="0">
                <a:solidFill>
                  <a:srgbClr val="176DEA"/>
                </a:solidFill>
              </a:rPr>
              <a:t>ISG</a:t>
            </a:r>
            <a:r>
              <a:rPr lang="ru-RU" sz="2400" b="1" dirty="0">
                <a:solidFill>
                  <a:srgbClr val="176DEA"/>
                </a:solidFill>
              </a:rPr>
              <a:t>-виды</a:t>
            </a:r>
            <a:endParaRPr lang="en-US" sz="2400" b="1" dirty="0">
              <a:solidFill>
                <a:srgbClr val="176DEA"/>
              </a:solidFill>
              <a:latin typeface="ALS Sector Regular" panose="020000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9906DB-5F5B-7FFA-9C7D-908BAB3D5A0F}"/>
              </a:ext>
            </a:extLst>
          </p:cNvPr>
          <p:cNvSpPr txBox="1"/>
          <p:nvPr/>
        </p:nvSpPr>
        <p:spPr>
          <a:xfrm>
            <a:off x="1201848" y="5310514"/>
            <a:ext cx="403418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 err="1">
                <a:solidFill>
                  <a:srgbClr val="176DEA"/>
                </a:solidFill>
                <a:highlight>
                  <a:srgbClr val="FFFFFF"/>
                </a:highlight>
              </a:rPr>
              <a:t>VolksWagen</a:t>
            </a:r>
            <a:r>
              <a:rPr lang="en-US" sz="3000" b="1" dirty="0">
                <a:solidFill>
                  <a:srgbClr val="176DEA"/>
                </a:solidFill>
                <a:highlight>
                  <a:srgbClr val="FFFFFF"/>
                </a:highlight>
              </a:rPr>
              <a:t> </a:t>
            </a:r>
            <a:r>
              <a:rPr lang="en-US" sz="3000" b="1" dirty="0" err="1">
                <a:solidFill>
                  <a:srgbClr val="176DEA"/>
                </a:solidFill>
                <a:highlight>
                  <a:srgbClr val="FFFFFF"/>
                </a:highlight>
              </a:rPr>
              <a:t>eTSI</a:t>
            </a:r>
            <a:r>
              <a:rPr lang="en-US" sz="3000" b="1" dirty="0">
                <a:solidFill>
                  <a:srgbClr val="176DEA"/>
                </a:solidFill>
                <a:highlight>
                  <a:srgbClr val="FFFFFF"/>
                </a:highlight>
              </a:rPr>
              <a:t> 2020</a:t>
            </a:r>
            <a:endParaRPr lang="en-US" sz="3000" b="1" dirty="0">
              <a:solidFill>
                <a:srgbClr val="176DEA"/>
              </a:solidFill>
              <a:highlight>
                <a:srgbClr val="FFFFFF"/>
              </a:highlight>
              <a:latin typeface="ALS Sector Regular" panose="02000000000000000000" pitchFamily="2" charset="0"/>
            </a:endParaRP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08A46CD7-0303-A40C-048D-BAC20BF16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012" y="5349700"/>
            <a:ext cx="4755990" cy="37465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C31B7F8-538C-8ED9-6DE3-C6E10794F246}"/>
              </a:ext>
            </a:extLst>
          </p:cNvPr>
          <p:cNvSpPr txBox="1"/>
          <p:nvPr/>
        </p:nvSpPr>
        <p:spPr>
          <a:xfrm>
            <a:off x="7048821" y="5289431"/>
            <a:ext cx="403418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176DEA"/>
                </a:solidFill>
                <a:highlight>
                  <a:srgbClr val="FFFFFF"/>
                </a:highlight>
              </a:rPr>
              <a:t>Honda Insight II 2009</a:t>
            </a:r>
            <a:endParaRPr lang="en-US" sz="3000" b="1" dirty="0">
              <a:solidFill>
                <a:srgbClr val="176DEA"/>
              </a:solidFill>
              <a:highlight>
                <a:srgbClr val="FFFFFF"/>
              </a:highlight>
              <a:latin typeface="ALS Sector Regula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51131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1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7638A3-1287-099D-BDB9-82DA62224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F4D9CDB-2749-BEEB-E072-28544EF7EE42}"/>
              </a:ext>
            </a:extLst>
          </p:cNvPr>
          <p:cNvSpPr/>
          <p:nvPr/>
        </p:nvSpPr>
        <p:spPr bwMode="auto">
          <a:xfrm>
            <a:off x="1" y="-8685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880E1A-F21C-627D-5827-8189428DC4ED}"/>
              </a:ext>
            </a:extLst>
          </p:cNvPr>
          <p:cNvSpPr txBox="1"/>
          <p:nvPr/>
        </p:nvSpPr>
        <p:spPr>
          <a:xfrm>
            <a:off x="2668240" y="476465"/>
            <a:ext cx="6853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176DEA"/>
                </a:solidFill>
                <a:effectLst/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Параллельная архитектура </a:t>
            </a:r>
            <a:r>
              <a:rPr lang="en-US" sz="2800" b="1" dirty="0">
                <a:solidFill>
                  <a:srgbClr val="176DEA"/>
                </a:solidFill>
                <a:effectLst/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(Parallel-Inline)</a:t>
            </a:r>
            <a:endParaRPr lang="ru-RU" sz="2800" b="1" dirty="0">
              <a:solidFill>
                <a:srgbClr val="176DEA"/>
              </a:solidFill>
              <a:effectLst/>
              <a:latin typeface="ALS Sector Regular" panose="02000000000000000000" pitchFamily="2" charset="0"/>
              <a:ea typeface="Calibri" panose="020F0502020204030204" pitchFamily="34" charset="0"/>
              <a:cs typeface="ALS Sector Regular" panose="02000000000000000000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EDB01B-E838-BBAC-C9BF-C0AA6B4B8DD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CB1BBDF-2DD5-8F24-1CF8-AA2242B033F0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: багетная рамка 6">
            <a:extLst>
              <a:ext uri="{FF2B5EF4-FFF2-40B4-BE49-F238E27FC236}">
                <a16:creationId xmlns:a16="http://schemas.microsoft.com/office/drawing/2014/main" id="{C1F2F7F4-DDA5-E5DD-96C2-D6FA8F070A86}"/>
              </a:ext>
            </a:extLst>
          </p:cNvPr>
          <p:cNvSpPr/>
          <p:nvPr/>
        </p:nvSpPr>
        <p:spPr>
          <a:xfrm>
            <a:off x="2565435" y="476984"/>
            <a:ext cx="7035765" cy="559870"/>
          </a:xfrm>
          <a:prstGeom prst="bevel">
            <a:avLst/>
          </a:prstGeom>
          <a:noFill/>
          <a:ln w="12700">
            <a:solidFill>
              <a:srgbClr val="176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9EFD1C-22AF-EEB6-043A-D590CBA86A47}"/>
              </a:ext>
            </a:extLst>
          </p:cNvPr>
          <p:cNvSpPr txBox="1"/>
          <p:nvPr/>
        </p:nvSpPr>
        <p:spPr>
          <a:xfrm>
            <a:off x="110865" y="1703007"/>
            <a:ext cx="90739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Следующий шаг после </a:t>
            </a:r>
            <a:r>
              <a:rPr lang="en-US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Parallel MHEV P2-</a:t>
            </a:r>
            <a:r>
              <a:rPr lang="ru-RU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архитектур</a:t>
            </a:r>
            <a:endParaRPr lang="en-US" sz="2400" b="1" dirty="0">
              <a:solidFill>
                <a:srgbClr val="176DEA"/>
              </a:solidFill>
              <a:latin typeface="ALS Sector Regular" panose="02000000000000000000" pitchFamily="2" charset="0"/>
            </a:endParaRPr>
          </a:p>
          <a:p>
            <a:endParaRPr lang="ru-RU" sz="2400" b="1" dirty="0">
              <a:solidFill>
                <a:srgbClr val="176DEA"/>
              </a:solidFill>
              <a:latin typeface="ALS Sector Regular" panose="02000000000000000000" pitchFamily="2" charset="0"/>
            </a:endParaRPr>
          </a:p>
          <a:p>
            <a:r>
              <a:rPr lang="ru-RU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Представляет из себя </a:t>
            </a:r>
            <a:r>
              <a:rPr lang="en-US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P0+P2/P4 </a:t>
            </a:r>
            <a:r>
              <a:rPr lang="ru-RU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архитектуры</a:t>
            </a:r>
            <a:endParaRPr lang="en-US" sz="2400" b="1" dirty="0">
              <a:solidFill>
                <a:srgbClr val="176DEA"/>
              </a:solidFill>
              <a:latin typeface="ALS Sector Regular" panose="02000000000000000000" pitchFamily="2" charset="0"/>
            </a:endParaRPr>
          </a:p>
        </p:txBody>
      </p:sp>
      <p:pic>
        <p:nvPicPr>
          <p:cNvPr id="17" name="Рисунок 16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926B1EC-C78E-56B6-674F-D791D7985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69" y="3683017"/>
            <a:ext cx="7325747" cy="2629267"/>
          </a:xfrm>
          <a:prstGeom prst="rect">
            <a:avLst/>
          </a:prstGeom>
        </p:spPr>
      </p:pic>
      <p:pic>
        <p:nvPicPr>
          <p:cNvPr id="26" name="Рисунок 25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E7B47C1-D86D-55E4-D561-AF5239DCA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643" y="3595152"/>
            <a:ext cx="7045517" cy="281148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E37A8D5-292E-9D0A-2E53-923D84538C61}"/>
              </a:ext>
            </a:extLst>
          </p:cNvPr>
          <p:cNvSpPr txBox="1"/>
          <p:nvPr/>
        </p:nvSpPr>
        <p:spPr>
          <a:xfrm>
            <a:off x="1747478" y="5819695"/>
            <a:ext cx="495812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 err="1">
                <a:solidFill>
                  <a:srgbClr val="176DEA"/>
                </a:solidFill>
                <a:highlight>
                  <a:srgbClr val="FFFFFF"/>
                </a:highlight>
              </a:rPr>
              <a:t>Hyndai</a:t>
            </a:r>
            <a:r>
              <a:rPr lang="en-US" sz="3000" b="1" dirty="0">
                <a:solidFill>
                  <a:srgbClr val="176DEA"/>
                </a:solidFill>
                <a:highlight>
                  <a:srgbClr val="FFFFFF"/>
                </a:highlight>
              </a:rPr>
              <a:t> Sonata Hybrid 2009</a:t>
            </a:r>
            <a:endParaRPr lang="en-US" sz="3000" b="1" dirty="0">
              <a:solidFill>
                <a:srgbClr val="176DEA"/>
              </a:solidFill>
              <a:highlight>
                <a:srgbClr val="FFFFFF"/>
              </a:highlight>
              <a:latin typeface="ALS Sector Regular" panose="0200000000000000000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895539-AE70-724C-194A-BF2001D10305}"/>
              </a:ext>
            </a:extLst>
          </p:cNvPr>
          <p:cNvSpPr txBox="1"/>
          <p:nvPr/>
        </p:nvSpPr>
        <p:spPr>
          <a:xfrm>
            <a:off x="2084935" y="5852641"/>
            <a:ext cx="495812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176DEA"/>
                </a:solidFill>
                <a:highlight>
                  <a:srgbClr val="FFFFFF"/>
                </a:highlight>
                <a:latin typeface="ALS Sector Regular" panose="02000000000000000000" pitchFamily="2" charset="0"/>
              </a:rPr>
              <a:t>BMW </a:t>
            </a:r>
            <a:r>
              <a:rPr lang="en-US" sz="3000" b="1" dirty="0" err="1">
                <a:solidFill>
                  <a:srgbClr val="176DEA"/>
                </a:solidFill>
                <a:highlight>
                  <a:srgbClr val="FFFFFF"/>
                </a:highlight>
                <a:latin typeface="ALS Sector Regular" panose="02000000000000000000" pitchFamily="2" charset="0"/>
              </a:rPr>
              <a:t>ActiveHybrid</a:t>
            </a:r>
            <a:r>
              <a:rPr lang="en-US" sz="3000" b="1" dirty="0">
                <a:solidFill>
                  <a:srgbClr val="176DEA"/>
                </a:solidFill>
                <a:highlight>
                  <a:srgbClr val="FFFFFF"/>
                </a:highlight>
                <a:latin typeface="ALS Sector Regular" panose="02000000000000000000" pitchFamily="2" charset="0"/>
              </a:rPr>
              <a:t> 5 2011</a:t>
            </a:r>
          </a:p>
        </p:txBody>
      </p:sp>
    </p:spTree>
    <p:extLst>
      <p:ext uri="{BB962C8B-B14F-4D97-AF65-F5344CB8AC3E}">
        <p14:creationId xmlns:p14="http://schemas.microsoft.com/office/powerpoint/2010/main" val="196518288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19DCA-E7E5-187C-F911-05A1A1509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11039FC-7F3B-B58F-CD41-4540285CE1F6}"/>
              </a:ext>
            </a:extLst>
          </p:cNvPr>
          <p:cNvSpPr/>
          <p:nvPr/>
        </p:nvSpPr>
        <p:spPr bwMode="auto">
          <a:xfrm>
            <a:off x="1" y="-8685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6F7D7F-E32F-5FF3-64D4-BCD2A6F9F458}"/>
              </a:ext>
            </a:extLst>
          </p:cNvPr>
          <p:cNvSpPr txBox="1"/>
          <p:nvPr/>
        </p:nvSpPr>
        <p:spPr>
          <a:xfrm>
            <a:off x="1905000" y="494086"/>
            <a:ext cx="85343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176DEA"/>
                </a:solidFill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Комбинированная архитектура </a:t>
            </a:r>
            <a:r>
              <a:rPr lang="en-US" sz="2800" b="1" dirty="0">
                <a:solidFill>
                  <a:srgbClr val="176DEA"/>
                </a:solidFill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Hybrid Synergy Drive</a:t>
            </a:r>
            <a:endParaRPr lang="ru-RU" sz="2800" b="1" dirty="0">
              <a:solidFill>
                <a:srgbClr val="176DEA"/>
              </a:solidFill>
              <a:effectLst/>
              <a:latin typeface="ALS Sector Regular" panose="02000000000000000000" pitchFamily="2" charset="0"/>
              <a:ea typeface="Calibri" panose="020F0502020204030204" pitchFamily="34" charset="0"/>
              <a:cs typeface="ALS Sector Regular" panose="02000000000000000000" pitchFamily="2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3C32234-E7B8-C032-C55C-39C1884F76E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21" name="Номер слайда 2">
            <a:extLst>
              <a:ext uri="{FF2B5EF4-FFF2-40B4-BE49-F238E27FC236}">
                <a16:creationId xmlns:a16="http://schemas.microsoft.com/office/drawing/2014/main" id="{D6532DEE-3905-B728-E4D2-B786A6A6F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10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03BAD983-C7B4-3DE2-5166-847E87EC46C4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багетная рамка 12">
            <a:extLst>
              <a:ext uri="{FF2B5EF4-FFF2-40B4-BE49-F238E27FC236}">
                <a16:creationId xmlns:a16="http://schemas.microsoft.com/office/drawing/2014/main" id="{F8CBFC98-4205-3E55-F9D8-A8B66EAF0020}"/>
              </a:ext>
            </a:extLst>
          </p:cNvPr>
          <p:cNvSpPr/>
          <p:nvPr/>
        </p:nvSpPr>
        <p:spPr>
          <a:xfrm>
            <a:off x="1992086" y="476984"/>
            <a:ext cx="8294914" cy="559870"/>
          </a:xfrm>
          <a:prstGeom prst="bevel">
            <a:avLst/>
          </a:prstGeom>
          <a:noFill/>
          <a:ln w="12700">
            <a:solidFill>
              <a:srgbClr val="176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 descr="Изображение выглядит как круг, диаграмма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2FFCCAF-6A81-A9DE-D14D-CD302988A1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2710544"/>
            <a:ext cx="9017522" cy="27277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2EEEA91-D419-CFAD-C4A1-F96CB405D9EE}"/>
              </a:ext>
            </a:extLst>
          </p:cNvPr>
          <p:cNvSpPr txBox="1"/>
          <p:nvPr/>
        </p:nvSpPr>
        <p:spPr>
          <a:xfrm>
            <a:off x="274149" y="1852313"/>
            <a:ext cx="93270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Каноническая трансмиссия от </a:t>
            </a:r>
            <a:r>
              <a:rPr lang="en-US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Toyota – Power-Split </a:t>
            </a:r>
            <a:r>
              <a:rPr lang="ru-RU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на </a:t>
            </a:r>
            <a:r>
              <a:rPr lang="en-US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Prius</a:t>
            </a:r>
            <a:r>
              <a:rPr lang="ru-RU" sz="2400" b="1" dirty="0">
                <a:solidFill>
                  <a:srgbClr val="176DEA"/>
                </a:solidFill>
                <a:latin typeface="ALS Sector Regular" panose="02000000000000000000" pitchFamily="2" charset="0"/>
              </a:rPr>
              <a:t>-моделях</a:t>
            </a:r>
            <a:endParaRPr lang="en-US" sz="2400" b="1" dirty="0">
              <a:solidFill>
                <a:srgbClr val="176DEA"/>
              </a:solidFill>
              <a:latin typeface="ALS Sector Regular" panose="02000000000000000000" pitchFamily="2" charset="0"/>
            </a:endParaRPr>
          </a:p>
        </p:txBody>
      </p:sp>
      <p:pic>
        <p:nvPicPr>
          <p:cNvPr id="23" name="Рисунок 22" descr="Изображение выглядит как текст, снимок экрана, Шрифт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F59754D-2793-3C93-728B-1528494260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423" r="34049" b="88761"/>
          <a:stretch>
            <a:fillRect/>
          </a:stretch>
        </p:blipFill>
        <p:spPr>
          <a:xfrm>
            <a:off x="3265979" y="5670885"/>
            <a:ext cx="5475250" cy="726340"/>
          </a:xfrm>
          <a:prstGeom prst="rect">
            <a:avLst/>
          </a:prstGeom>
        </p:spPr>
      </p:pic>
      <p:pic>
        <p:nvPicPr>
          <p:cNvPr id="30" name="Рисунок 29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30F87D1-D37C-800C-33A2-43CDB4B0DC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3663" y="2492829"/>
            <a:ext cx="5602589" cy="3904396"/>
          </a:xfrm>
          <a:prstGeom prst="rect">
            <a:avLst/>
          </a:prstGeom>
        </p:spPr>
      </p:pic>
      <p:pic>
        <p:nvPicPr>
          <p:cNvPr id="32" name="Рисунок 31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E39017C-4AAC-6044-FBD3-4ECB4DA122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235" y="2546599"/>
            <a:ext cx="5651488" cy="385062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7AA922E-AFCC-1E03-1EBC-645B75117756}"/>
              </a:ext>
            </a:extLst>
          </p:cNvPr>
          <p:cNvSpPr txBox="1"/>
          <p:nvPr/>
        </p:nvSpPr>
        <p:spPr>
          <a:xfrm>
            <a:off x="2388712" y="5959538"/>
            <a:ext cx="22040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176DEA"/>
                </a:solidFill>
                <a:highlight>
                  <a:srgbClr val="FFFFFF"/>
                </a:highlight>
              </a:rPr>
              <a:t>Toyota Prius</a:t>
            </a:r>
            <a:endParaRPr lang="en-US" sz="3000" b="1" dirty="0">
              <a:solidFill>
                <a:srgbClr val="176DEA"/>
              </a:solidFill>
              <a:highlight>
                <a:srgbClr val="FFFFFF"/>
              </a:highlight>
              <a:latin typeface="ALS Sector Regular" panose="020000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B68D7E-2041-3C0B-59C7-D3004C11CEBB}"/>
              </a:ext>
            </a:extLst>
          </p:cNvPr>
          <p:cNvSpPr txBox="1"/>
          <p:nvPr/>
        </p:nvSpPr>
        <p:spPr>
          <a:xfrm>
            <a:off x="8082964" y="5953705"/>
            <a:ext cx="22040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176DEA"/>
                </a:solidFill>
                <a:highlight>
                  <a:srgbClr val="FFFFFF"/>
                </a:highlight>
              </a:rPr>
              <a:t>Ford Fusion</a:t>
            </a:r>
            <a:endParaRPr lang="en-US" sz="3000" b="1" dirty="0">
              <a:solidFill>
                <a:srgbClr val="176DEA"/>
              </a:solidFill>
              <a:highlight>
                <a:srgbClr val="FFFFFF"/>
              </a:highlight>
              <a:latin typeface="ALS Sector Regula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13724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3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CE51B-FC5D-1711-A853-FFA28D9CD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B989BA38-402F-2F0F-1DA7-2E0D881FE9C9}"/>
              </a:ext>
            </a:extLst>
          </p:cNvPr>
          <p:cNvSpPr/>
          <p:nvPr/>
        </p:nvSpPr>
        <p:spPr bwMode="auto">
          <a:xfrm>
            <a:off x="1" y="-8685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1E935DD2-46DC-DA41-E942-BB6C0F793BDE}"/>
              </a:ext>
            </a:extLst>
          </p:cNvPr>
          <p:cNvSpPr txBox="1"/>
          <p:nvPr/>
        </p:nvSpPr>
        <p:spPr bwMode="auto">
          <a:xfrm>
            <a:off x="1764244" y="280335"/>
            <a:ext cx="9150696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</a:rPr>
              <a:t>Двухступенчатая комбинированная архитектура от </a:t>
            </a:r>
            <a:r>
              <a:rPr lang="en-US" sz="2800" b="1" dirty="0">
                <a:solidFill>
                  <a:srgbClr val="176DEA"/>
                </a:solidFill>
              </a:rPr>
              <a:t>GM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EF772440-D77E-5203-C195-E67690EA152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72" name="Номер слайда 2">
            <a:extLst>
              <a:ext uri="{FF2B5EF4-FFF2-40B4-BE49-F238E27FC236}">
                <a16:creationId xmlns:a16="http://schemas.microsoft.com/office/drawing/2014/main" id="{F6CFCBCE-1C6E-8B15-12DF-E2871A43F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11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CA5716C-21CE-D0E0-010E-4F08288895E9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: багетная рамка 4">
            <a:extLst>
              <a:ext uri="{FF2B5EF4-FFF2-40B4-BE49-F238E27FC236}">
                <a16:creationId xmlns:a16="http://schemas.microsoft.com/office/drawing/2014/main" id="{CCF2F0E6-35E0-F681-B6A8-52ACC22E28F4}"/>
              </a:ext>
            </a:extLst>
          </p:cNvPr>
          <p:cNvSpPr/>
          <p:nvPr/>
        </p:nvSpPr>
        <p:spPr>
          <a:xfrm>
            <a:off x="1894114" y="426232"/>
            <a:ext cx="8882743" cy="610622"/>
          </a:xfrm>
          <a:prstGeom prst="bevel">
            <a:avLst/>
          </a:prstGeom>
          <a:noFill/>
          <a:ln w="12700">
            <a:solidFill>
              <a:srgbClr val="176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 descr="Изображение выглядит как снимок экрана, текст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C01284D-7CBB-00D0-702B-F5C678740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217" y="2235468"/>
            <a:ext cx="9719566" cy="32243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3C27A1-985C-8A48-2B45-7AF1DDBE275D}"/>
              </a:ext>
            </a:extLst>
          </p:cNvPr>
          <p:cNvSpPr txBox="1"/>
          <p:nvPr/>
        </p:nvSpPr>
        <p:spPr>
          <a:xfrm>
            <a:off x="3218074" y="5702341"/>
            <a:ext cx="60565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b="1" dirty="0">
                <a:solidFill>
                  <a:srgbClr val="176DEA"/>
                </a:solidFill>
              </a:rPr>
              <a:t>Схема двухступенчатой системы </a:t>
            </a:r>
            <a:r>
              <a:rPr lang="en-US" sz="2400" b="1" dirty="0">
                <a:solidFill>
                  <a:srgbClr val="176DEA"/>
                </a:solidFill>
              </a:rPr>
              <a:t>Power-Split</a:t>
            </a:r>
            <a:endParaRPr lang="ru-RU" sz="2400" b="1" dirty="0">
              <a:solidFill>
                <a:srgbClr val="176DEA"/>
              </a:solidFill>
            </a:endParaRPr>
          </a:p>
        </p:txBody>
      </p:sp>
      <p:pic>
        <p:nvPicPr>
          <p:cNvPr id="14" name="Рисунок 13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35351E7-741F-0705-70C9-D45066CF3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692" y="2139662"/>
            <a:ext cx="10376616" cy="40243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22E39C3-BC87-F1DC-5D91-01D47226915F}"/>
              </a:ext>
            </a:extLst>
          </p:cNvPr>
          <p:cNvSpPr txBox="1"/>
          <p:nvPr/>
        </p:nvSpPr>
        <p:spPr>
          <a:xfrm>
            <a:off x="4280455" y="5656174"/>
            <a:ext cx="41100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b="1" dirty="0">
                <a:solidFill>
                  <a:srgbClr val="176DEA"/>
                </a:solidFill>
                <a:highlight>
                  <a:srgbClr val="FFFFFF"/>
                </a:highlight>
              </a:rPr>
              <a:t>Схема </a:t>
            </a:r>
            <a:r>
              <a:rPr lang="en-US" sz="3000" b="1" dirty="0">
                <a:solidFill>
                  <a:srgbClr val="176DEA"/>
                </a:solidFill>
                <a:highlight>
                  <a:srgbClr val="FFFFFF"/>
                </a:highlight>
              </a:rPr>
              <a:t>Chevrolet Tahoe</a:t>
            </a:r>
            <a:endParaRPr lang="en-US" sz="3000" b="1" dirty="0">
              <a:solidFill>
                <a:srgbClr val="176DEA"/>
              </a:solidFill>
              <a:highlight>
                <a:srgbClr val="FFFFFF"/>
              </a:highlight>
              <a:latin typeface="ALS Sector Regula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65734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FACF5-65AE-55A7-C550-3B1EC0EE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29B379-AC57-06A6-CF87-DD46A2B15A7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A4F1AB5-E318-972D-6142-BCF080712CCB}"/>
              </a:ext>
            </a:extLst>
          </p:cNvPr>
          <p:cNvSpPr/>
          <p:nvPr/>
        </p:nvSpPr>
        <p:spPr bwMode="auto">
          <a:xfrm>
            <a:off x="1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1AD0DF1E-3576-84A5-BB26-765EEA2C8487}"/>
              </a:ext>
            </a:extLst>
          </p:cNvPr>
          <p:cNvSpPr txBox="1"/>
          <p:nvPr/>
        </p:nvSpPr>
        <p:spPr bwMode="auto">
          <a:xfrm>
            <a:off x="1256148" y="309120"/>
            <a:ext cx="958105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Многорежимная архитектура с последовательным приоритетом (</a:t>
            </a:r>
            <a:r>
              <a:rPr lang="en-US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MM-Series</a:t>
            </a: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)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8737493-C359-D25C-FFC1-252FA41BA35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1" name="Номер слайда 2">
            <a:extLst>
              <a:ext uri="{FF2B5EF4-FFF2-40B4-BE49-F238E27FC236}">
                <a16:creationId xmlns:a16="http://schemas.microsoft.com/office/drawing/2014/main" id="{CFA34628-D615-9423-5F02-8966C36D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12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E39FED3-9B3A-EA27-00DC-E67FB5357019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: багетная рамка 15">
            <a:extLst>
              <a:ext uri="{FF2B5EF4-FFF2-40B4-BE49-F238E27FC236}">
                <a16:creationId xmlns:a16="http://schemas.microsoft.com/office/drawing/2014/main" id="{10FA3B39-01AE-B396-85C6-58C0D1A8549A}"/>
              </a:ext>
            </a:extLst>
          </p:cNvPr>
          <p:cNvSpPr/>
          <p:nvPr/>
        </p:nvSpPr>
        <p:spPr>
          <a:xfrm>
            <a:off x="1756891" y="177319"/>
            <a:ext cx="8630287" cy="1139469"/>
          </a:xfrm>
          <a:prstGeom prst="bevel">
            <a:avLst/>
          </a:prstGeom>
          <a:noFill/>
          <a:ln w="12700">
            <a:solidFill>
              <a:srgbClr val="176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85B8EA-ABF4-B7C3-D665-F7D6304E66AE}"/>
              </a:ext>
            </a:extLst>
          </p:cNvPr>
          <p:cNvSpPr txBox="1"/>
          <p:nvPr/>
        </p:nvSpPr>
        <p:spPr>
          <a:xfrm>
            <a:off x="110865" y="1656762"/>
            <a:ext cx="90739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176DEA"/>
                </a:solidFill>
              </a:rPr>
              <a:t>Трансмиссия меняет режим своей работы:</a:t>
            </a:r>
          </a:p>
          <a:p>
            <a:r>
              <a:rPr lang="ru-RU" sz="2400" b="1" dirty="0">
                <a:solidFill>
                  <a:srgbClr val="176DEA"/>
                </a:solidFill>
              </a:rPr>
              <a:t>от последовательной (в городе) к параллельной (на шоссе)</a:t>
            </a:r>
          </a:p>
        </p:txBody>
      </p:sp>
      <p:pic>
        <p:nvPicPr>
          <p:cNvPr id="5" name="Рисунок 4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D21F52-56C5-3052-FFA5-5C38C4416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7502" y="3057524"/>
            <a:ext cx="6558342" cy="29188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8A6E4A-376F-30E1-9723-6FEAD0A9D902}"/>
              </a:ext>
            </a:extLst>
          </p:cNvPr>
          <p:cNvSpPr txBox="1"/>
          <p:nvPr/>
        </p:nvSpPr>
        <p:spPr>
          <a:xfrm>
            <a:off x="3520826" y="5578538"/>
            <a:ext cx="55252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b="1" dirty="0">
                <a:solidFill>
                  <a:srgbClr val="176DEA"/>
                </a:solidFill>
                <a:highlight>
                  <a:srgbClr val="FFFFFF"/>
                </a:highlight>
                <a:latin typeface="ALS Sector Regular" panose="02000000000000000000" pitchFamily="2" charset="0"/>
              </a:rPr>
              <a:t>Схема системы </a:t>
            </a:r>
            <a:r>
              <a:rPr lang="en-US" sz="3000" b="1" dirty="0">
                <a:solidFill>
                  <a:srgbClr val="176DEA"/>
                </a:solidFill>
                <a:highlight>
                  <a:srgbClr val="FFFFFF"/>
                </a:highlight>
                <a:latin typeface="ALS Sector Regular" panose="02000000000000000000" pitchFamily="2" charset="0"/>
              </a:rPr>
              <a:t>Honda </a:t>
            </a:r>
            <a:r>
              <a:rPr lang="en-US" sz="3000" b="1" dirty="0" err="1">
                <a:solidFill>
                  <a:srgbClr val="176DEA"/>
                </a:solidFill>
                <a:highlight>
                  <a:srgbClr val="FFFFFF"/>
                </a:highlight>
                <a:latin typeface="ALS Sector Regular" panose="02000000000000000000" pitchFamily="2" charset="0"/>
              </a:rPr>
              <a:t>i</a:t>
            </a:r>
            <a:r>
              <a:rPr lang="en-US" sz="3000" b="1" dirty="0">
                <a:solidFill>
                  <a:srgbClr val="176DEA"/>
                </a:solidFill>
                <a:highlight>
                  <a:srgbClr val="FFFFFF"/>
                </a:highlight>
                <a:latin typeface="ALS Sector Regular" panose="02000000000000000000" pitchFamily="2" charset="0"/>
              </a:rPr>
              <a:t>-MMD</a:t>
            </a:r>
          </a:p>
        </p:txBody>
      </p:sp>
    </p:spTree>
    <p:extLst>
      <p:ext uri="{BB962C8B-B14F-4D97-AF65-F5344CB8AC3E}">
        <p14:creationId xmlns:p14="http://schemas.microsoft.com/office/powerpoint/2010/main" val="861673123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CB245-E205-D534-7C34-FE2E49EB8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текст, диаграмма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AD84FD9-E088-3F40-D2E1-6B01580393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611"/>
          <a:stretch>
            <a:fillRect/>
          </a:stretch>
        </p:blipFill>
        <p:spPr>
          <a:xfrm>
            <a:off x="3583123" y="2439742"/>
            <a:ext cx="8383170" cy="432260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B25002-564E-C40A-756D-824261A1C8A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CF01A01-02F4-2AF6-ECE1-73B047585EEE}"/>
              </a:ext>
            </a:extLst>
          </p:cNvPr>
          <p:cNvSpPr/>
          <p:nvPr/>
        </p:nvSpPr>
        <p:spPr bwMode="auto">
          <a:xfrm>
            <a:off x="1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946CD4ED-1D7A-6113-0359-275105D3B960}"/>
              </a:ext>
            </a:extLst>
          </p:cNvPr>
          <p:cNvSpPr txBox="1"/>
          <p:nvPr/>
        </p:nvSpPr>
        <p:spPr bwMode="auto">
          <a:xfrm>
            <a:off x="1256148" y="309120"/>
            <a:ext cx="958105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Многорежимная архитектура с параллельным  приоритетом (</a:t>
            </a:r>
            <a:r>
              <a:rPr lang="en-US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MM-Parallel</a:t>
            </a: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)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ADAC8EA-3598-6031-2168-26EB3B49E2D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1" name="Номер слайда 2">
            <a:extLst>
              <a:ext uri="{FF2B5EF4-FFF2-40B4-BE49-F238E27FC236}">
                <a16:creationId xmlns:a16="http://schemas.microsoft.com/office/drawing/2014/main" id="{4259C647-1E8F-5FF9-2B3D-49394D43A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13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8B1AB1FE-E522-5B0E-D4BE-1D834210C20F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: багетная рамка 15">
            <a:extLst>
              <a:ext uri="{FF2B5EF4-FFF2-40B4-BE49-F238E27FC236}">
                <a16:creationId xmlns:a16="http://schemas.microsoft.com/office/drawing/2014/main" id="{FCC968F6-01D1-4BEF-1938-FE3B5755B20B}"/>
              </a:ext>
            </a:extLst>
          </p:cNvPr>
          <p:cNvSpPr/>
          <p:nvPr/>
        </p:nvSpPr>
        <p:spPr>
          <a:xfrm>
            <a:off x="1756891" y="177319"/>
            <a:ext cx="8630287" cy="1139469"/>
          </a:xfrm>
          <a:prstGeom prst="bevel">
            <a:avLst/>
          </a:prstGeom>
          <a:noFill/>
          <a:ln w="12700">
            <a:solidFill>
              <a:srgbClr val="176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C7BD22-F934-BB9C-AD52-125FE5F67035}"/>
              </a:ext>
            </a:extLst>
          </p:cNvPr>
          <p:cNvSpPr txBox="1"/>
          <p:nvPr/>
        </p:nvSpPr>
        <p:spPr>
          <a:xfrm>
            <a:off x="838288" y="2718270"/>
            <a:ext cx="31763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176DEA"/>
                </a:solidFill>
              </a:rPr>
              <a:t>1. Акцент возвращается на ДВС</a:t>
            </a:r>
          </a:p>
          <a:p>
            <a:endParaRPr lang="ru-RU" sz="2400" b="1" dirty="0">
              <a:solidFill>
                <a:srgbClr val="176DEA"/>
              </a:solidFill>
            </a:endParaRPr>
          </a:p>
          <a:p>
            <a:r>
              <a:rPr lang="ru-RU" sz="2400" b="1" dirty="0">
                <a:solidFill>
                  <a:srgbClr val="176DEA"/>
                </a:solidFill>
              </a:rPr>
              <a:t>2. Система сложнее параллельных</a:t>
            </a:r>
          </a:p>
          <a:p>
            <a:r>
              <a:rPr lang="ru-RU" sz="2400" b="1" dirty="0">
                <a:solidFill>
                  <a:srgbClr val="176DEA"/>
                </a:solidFill>
              </a:rPr>
              <a:t>схем, но проще комбинированных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359895-261E-1DD3-6FA9-F79F2C209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678" y="1871935"/>
            <a:ext cx="6945422" cy="4571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D3DEC9-1BD6-3B42-F018-919EACA44C0F}"/>
              </a:ext>
            </a:extLst>
          </p:cNvPr>
          <p:cNvSpPr txBox="1"/>
          <p:nvPr/>
        </p:nvSpPr>
        <p:spPr>
          <a:xfrm>
            <a:off x="3904659" y="1860026"/>
            <a:ext cx="74954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b="1" dirty="0">
                <a:solidFill>
                  <a:srgbClr val="176DEA"/>
                </a:solidFill>
                <a:highlight>
                  <a:srgbClr val="FFFFFF"/>
                </a:highlight>
              </a:rPr>
              <a:t>Архитектура </a:t>
            </a:r>
            <a:r>
              <a:rPr lang="en-US" sz="3000" b="1" dirty="0">
                <a:solidFill>
                  <a:srgbClr val="176DEA"/>
                </a:solidFill>
                <a:highlight>
                  <a:srgbClr val="FFFFFF"/>
                </a:highlight>
              </a:rPr>
              <a:t>Chery Super Hybrid DHT</a:t>
            </a:r>
            <a:r>
              <a:rPr lang="ru-RU" sz="3000" b="1" dirty="0">
                <a:solidFill>
                  <a:srgbClr val="176DEA"/>
                </a:solidFill>
                <a:highlight>
                  <a:srgbClr val="FFFFFF"/>
                </a:highlight>
              </a:rPr>
              <a:t> </a:t>
            </a:r>
            <a:r>
              <a:rPr lang="en-US" sz="3000" b="1" dirty="0">
                <a:solidFill>
                  <a:srgbClr val="176DEA"/>
                </a:solidFill>
                <a:highlight>
                  <a:srgbClr val="FFFFFF"/>
                </a:highlight>
              </a:rPr>
              <a:t>C-DM </a:t>
            </a:r>
            <a:endParaRPr lang="en-US" sz="3000" b="1" dirty="0">
              <a:solidFill>
                <a:srgbClr val="176DEA"/>
              </a:solidFill>
              <a:highlight>
                <a:srgbClr val="FFFFFF"/>
              </a:highlight>
              <a:latin typeface="ALS Sector Regula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822655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C01B1-42B8-22AF-9685-BA5ABBC16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B4E190D-2858-FAF9-6530-B5D1B306EA2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E262954-C048-A24D-2843-03C2B12EFC80}"/>
              </a:ext>
            </a:extLst>
          </p:cNvPr>
          <p:cNvSpPr/>
          <p:nvPr/>
        </p:nvSpPr>
        <p:spPr bwMode="auto">
          <a:xfrm>
            <a:off x="1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63C9E818-E24F-40DC-5A11-D3CF06383F5F}"/>
              </a:ext>
            </a:extLst>
          </p:cNvPr>
          <p:cNvSpPr txBox="1"/>
          <p:nvPr/>
        </p:nvSpPr>
        <p:spPr bwMode="auto">
          <a:xfrm>
            <a:off x="1256148" y="309120"/>
            <a:ext cx="958105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Дальнеходные электромобили </a:t>
            </a:r>
            <a:r>
              <a:rPr lang="en-US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(REEV)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9FBC8CA-5D3A-CD5E-89F0-E2C5CDFD59F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1" name="Номер слайда 2">
            <a:extLst>
              <a:ext uri="{FF2B5EF4-FFF2-40B4-BE49-F238E27FC236}">
                <a16:creationId xmlns:a16="http://schemas.microsoft.com/office/drawing/2014/main" id="{69E668D2-3DF5-69C0-D016-BA137E22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14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D46E80F-9919-3344-0786-601464566698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: багетная рамка 15">
            <a:extLst>
              <a:ext uri="{FF2B5EF4-FFF2-40B4-BE49-F238E27FC236}">
                <a16:creationId xmlns:a16="http://schemas.microsoft.com/office/drawing/2014/main" id="{C31B7079-D723-A2FD-B828-793AC42E1130}"/>
              </a:ext>
            </a:extLst>
          </p:cNvPr>
          <p:cNvSpPr/>
          <p:nvPr/>
        </p:nvSpPr>
        <p:spPr>
          <a:xfrm>
            <a:off x="1756891" y="177319"/>
            <a:ext cx="8630287" cy="1139469"/>
          </a:xfrm>
          <a:prstGeom prst="bevel">
            <a:avLst/>
          </a:prstGeom>
          <a:noFill/>
          <a:ln w="12700">
            <a:solidFill>
              <a:srgbClr val="176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C385A3-B95C-D41C-336B-1BAC6C4CAC1D}"/>
              </a:ext>
            </a:extLst>
          </p:cNvPr>
          <p:cNvSpPr txBox="1"/>
          <p:nvPr/>
        </p:nvSpPr>
        <p:spPr>
          <a:xfrm>
            <a:off x="272231" y="1823245"/>
            <a:ext cx="59979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176DEA"/>
                </a:solidFill>
              </a:rPr>
              <a:t>1. Электромобили с генератором</a:t>
            </a:r>
          </a:p>
          <a:p>
            <a:endParaRPr lang="ru-RU" sz="2400" b="1" dirty="0">
              <a:solidFill>
                <a:srgbClr val="176DEA"/>
              </a:solidFill>
            </a:endParaRPr>
          </a:p>
          <a:p>
            <a:r>
              <a:rPr lang="ru-RU" sz="2400" b="1" dirty="0">
                <a:solidFill>
                  <a:srgbClr val="176DEA"/>
                </a:solidFill>
              </a:rPr>
              <a:t>2. Подавляющее большинство - </a:t>
            </a:r>
            <a:r>
              <a:rPr lang="en-US" sz="2400" b="1" dirty="0">
                <a:solidFill>
                  <a:srgbClr val="176DEA"/>
                </a:solidFill>
              </a:rPr>
              <a:t>PHEV</a:t>
            </a:r>
            <a:endParaRPr lang="ru-RU" sz="2400" b="1" dirty="0">
              <a:solidFill>
                <a:srgbClr val="176DEA"/>
              </a:solidFill>
            </a:endParaRPr>
          </a:p>
        </p:txBody>
      </p:sp>
      <p:pic>
        <p:nvPicPr>
          <p:cNvPr id="5" name="Рисунок 4" descr="Изображение выглядит как снимок экрана, текст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0C5077-1AA1-E2B0-DC9C-BBB2C0E3D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33" y="3346009"/>
            <a:ext cx="10375323" cy="32028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09A859-E887-A735-DA29-0DF1380400CB}"/>
              </a:ext>
            </a:extLst>
          </p:cNvPr>
          <p:cNvSpPr txBox="1"/>
          <p:nvPr/>
        </p:nvSpPr>
        <p:spPr>
          <a:xfrm>
            <a:off x="1920625" y="6077070"/>
            <a:ext cx="322831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b="1" dirty="0">
                <a:solidFill>
                  <a:srgbClr val="176DEA"/>
                </a:solidFill>
                <a:highlight>
                  <a:srgbClr val="FFFFFF"/>
                </a:highlight>
              </a:rPr>
              <a:t>Архитектура </a:t>
            </a:r>
            <a:r>
              <a:rPr lang="en-US" sz="3000" b="1" dirty="0">
                <a:solidFill>
                  <a:srgbClr val="176DEA"/>
                </a:solidFill>
                <a:highlight>
                  <a:srgbClr val="FFFFFF"/>
                </a:highlight>
              </a:rPr>
              <a:t>Li-7</a:t>
            </a:r>
            <a:endParaRPr lang="en-US" sz="3000" b="1" dirty="0">
              <a:solidFill>
                <a:srgbClr val="176DEA"/>
              </a:solidFill>
              <a:highlight>
                <a:srgbClr val="FFFFFF"/>
              </a:highlight>
              <a:latin typeface="ALS Sector Regular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B6201-AF50-75AD-272B-88963CFD8FFF}"/>
              </a:ext>
            </a:extLst>
          </p:cNvPr>
          <p:cNvSpPr txBox="1"/>
          <p:nvPr/>
        </p:nvSpPr>
        <p:spPr>
          <a:xfrm>
            <a:off x="6415787" y="6077070"/>
            <a:ext cx="49700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b="1" dirty="0">
                <a:solidFill>
                  <a:srgbClr val="176DEA"/>
                </a:solidFill>
                <a:highlight>
                  <a:srgbClr val="FFFFFF"/>
                </a:highlight>
              </a:rPr>
              <a:t>Архитектура </a:t>
            </a:r>
            <a:r>
              <a:rPr lang="en-US" sz="3000" b="1" dirty="0">
                <a:solidFill>
                  <a:srgbClr val="176DEA"/>
                </a:solidFill>
                <a:highlight>
                  <a:srgbClr val="FFFFFF"/>
                </a:highlight>
              </a:rPr>
              <a:t>BMW i3 REX</a:t>
            </a:r>
            <a:endParaRPr lang="en-US" sz="3000" b="1" dirty="0">
              <a:solidFill>
                <a:srgbClr val="176DEA"/>
              </a:solidFill>
              <a:highlight>
                <a:srgbClr val="FFFFFF"/>
              </a:highlight>
              <a:latin typeface="ALS Sector Regula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292427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2047B-3181-66B4-6F42-896A2FCDF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3DBFB82-048F-7112-A4DF-5B1D5521234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11DBB42-C6D3-608F-5BE5-F01AD0BDFF44}"/>
              </a:ext>
            </a:extLst>
          </p:cNvPr>
          <p:cNvSpPr/>
          <p:nvPr/>
        </p:nvSpPr>
        <p:spPr bwMode="auto">
          <a:xfrm>
            <a:off x="1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A7448F5-B3F1-3701-7604-C6483D92F4EB}"/>
              </a:ext>
            </a:extLst>
          </p:cNvPr>
          <p:cNvSpPr txBox="1"/>
          <p:nvPr/>
        </p:nvSpPr>
        <p:spPr bwMode="auto">
          <a:xfrm>
            <a:off x="1256148" y="309120"/>
            <a:ext cx="958105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Анализ архитектур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CDA76D2-EBC5-4D3C-AE8B-D3541DE2BF0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1" name="Номер слайда 2">
            <a:extLst>
              <a:ext uri="{FF2B5EF4-FFF2-40B4-BE49-F238E27FC236}">
                <a16:creationId xmlns:a16="http://schemas.microsoft.com/office/drawing/2014/main" id="{A1C1F9A8-1575-42B5-6A63-8A7F48A54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15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71401AA-E246-D395-DE5D-FB0EE5B7446A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: багетная рамка 15">
            <a:extLst>
              <a:ext uri="{FF2B5EF4-FFF2-40B4-BE49-F238E27FC236}">
                <a16:creationId xmlns:a16="http://schemas.microsoft.com/office/drawing/2014/main" id="{BCC403F1-6EFD-BEAD-D970-7EA9603F82AF}"/>
              </a:ext>
            </a:extLst>
          </p:cNvPr>
          <p:cNvSpPr/>
          <p:nvPr/>
        </p:nvSpPr>
        <p:spPr>
          <a:xfrm>
            <a:off x="1756891" y="177319"/>
            <a:ext cx="8630287" cy="1139469"/>
          </a:xfrm>
          <a:prstGeom prst="bevel">
            <a:avLst/>
          </a:prstGeom>
          <a:noFill/>
          <a:ln w="12700">
            <a:solidFill>
              <a:srgbClr val="176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159C51D-7939-B71D-7E88-1F6E31E2A35C}"/>
              </a:ext>
            </a:extLst>
          </p:cNvPr>
          <p:cNvSpPr/>
          <p:nvPr/>
        </p:nvSpPr>
        <p:spPr>
          <a:xfrm>
            <a:off x="905657" y="2443917"/>
            <a:ext cx="2806700" cy="809024"/>
          </a:xfrm>
          <a:prstGeom prst="roundRect">
            <a:avLst/>
          </a:prstGeom>
          <a:ln w="76200">
            <a:solidFill>
              <a:srgbClr val="176DEA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176DEA"/>
                </a:solidFill>
              </a:rPr>
              <a:t>Модель гибрида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8347E0E-4C46-61C6-75D2-BC2FB20BEA8A}"/>
              </a:ext>
            </a:extLst>
          </p:cNvPr>
          <p:cNvCxnSpPr/>
          <p:nvPr/>
        </p:nvCxnSpPr>
        <p:spPr>
          <a:xfrm flipV="1">
            <a:off x="3953657" y="2392818"/>
            <a:ext cx="596900" cy="911222"/>
          </a:xfrm>
          <a:prstGeom prst="line">
            <a:avLst/>
          </a:prstGeom>
          <a:ln w="76200">
            <a:solidFill>
              <a:srgbClr val="176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577F2E0-D774-91DF-C4FC-EFE12E03EFEE}"/>
              </a:ext>
            </a:extLst>
          </p:cNvPr>
          <p:cNvSpPr/>
          <p:nvPr/>
        </p:nvSpPr>
        <p:spPr>
          <a:xfrm>
            <a:off x="4791857" y="2441038"/>
            <a:ext cx="2806700" cy="809024"/>
          </a:xfrm>
          <a:prstGeom prst="roundRect">
            <a:avLst/>
          </a:prstGeom>
          <a:ln w="76200">
            <a:solidFill>
              <a:srgbClr val="176DEA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176DEA"/>
                </a:solidFill>
              </a:rPr>
              <a:t>Аналог на ДВС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F05242-BAFA-F7A9-E155-8760D0E8562A}"/>
              </a:ext>
            </a:extLst>
          </p:cNvPr>
          <p:cNvSpPr txBox="1"/>
          <p:nvPr/>
        </p:nvSpPr>
        <p:spPr>
          <a:xfrm rot="10800000" flipV="1">
            <a:off x="7932714" y="2396245"/>
            <a:ext cx="375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b="1" dirty="0">
                <a:solidFill>
                  <a:srgbClr val="176DEA"/>
                </a:solidFill>
              </a:rPr>
              <a:t>Тот же производитель</a:t>
            </a:r>
          </a:p>
          <a:p>
            <a:pPr>
              <a:defRPr/>
            </a:pPr>
            <a:r>
              <a:rPr lang="ru-RU" sz="2400" b="1" dirty="0">
                <a:solidFill>
                  <a:srgbClr val="176DEA"/>
                </a:solidFill>
              </a:rPr>
              <a:t>и объем двигателя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BF704E78-AA1B-C35A-B519-A0D3688ED061}"/>
              </a:ext>
            </a:extLst>
          </p:cNvPr>
          <p:cNvCxnSpPr>
            <a:cxnSpLocks/>
          </p:cNvCxnSpPr>
          <p:nvPr/>
        </p:nvCxnSpPr>
        <p:spPr>
          <a:xfrm>
            <a:off x="4252107" y="3458013"/>
            <a:ext cx="0" cy="1003300"/>
          </a:xfrm>
          <a:prstGeom prst="straightConnector1">
            <a:avLst/>
          </a:prstGeom>
          <a:ln w="76200">
            <a:solidFill>
              <a:srgbClr val="176D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DAEC755A-3DDF-7F9A-B705-3F31D99141B2}"/>
              </a:ext>
            </a:extLst>
          </p:cNvPr>
          <p:cNvSpPr/>
          <p:nvPr/>
        </p:nvSpPr>
        <p:spPr>
          <a:xfrm>
            <a:off x="1229507" y="4728600"/>
            <a:ext cx="6045199" cy="809024"/>
          </a:xfrm>
          <a:prstGeom prst="roundRect">
            <a:avLst/>
          </a:prstGeom>
          <a:ln w="76200">
            <a:solidFill>
              <a:srgbClr val="176DEA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176DEA"/>
                </a:solidFill>
              </a:rPr>
              <a:t>Сравнение полученных коэффициентов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5B8A94-533C-EA93-A53B-F3F976C1242D}"/>
              </a:ext>
            </a:extLst>
          </p:cNvPr>
          <p:cNvSpPr txBox="1"/>
          <p:nvPr/>
        </p:nvSpPr>
        <p:spPr>
          <a:xfrm rot="10800000" flipV="1">
            <a:off x="7932714" y="3446567"/>
            <a:ext cx="375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b="1" dirty="0">
                <a:solidFill>
                  <a:srgbClr val="176DEA"/>
                </a:solidFill>
              </a:rPr>
              <a:t>Один и тот же источник данных, проводивший испытания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D43FDF-AA34-EE9B-C58D-C638B6261FB7}"/>
              </a:ext>
            </a:extLst>
          </p:cNvPr>
          <p:cNvSpPr txBox="1"/>
          <p:nvPr/>
        </p:nvSpPr>
        <p:spPr>
          <a:xfrm rot="10800000" flipV="1">
            <a:off x="7932714" y="4846624"/>
            <a:ext cx="1566886" cy="46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b="1" dirty="0">
                <a:solidFill>
                  <a:srgbClr val="176DEA"/>
                </a:solidFill>
              </a:rPr>
              <a:t>не </a:t>
            </a:r>
            <a:r>
              <a:rPr lang="en-US" sz="2400" b="1" dirty="0">
                <a:solidFill>
                  <a:srgbClr val="176DEA"/>
                </a:solidFill>
              </a:rPr>
              <a:t>PHEV</a:t>
            </a:r>
            <a:endParaRPr lang="ru-RU" sz="2400" b="1" dirty="0">
              <a:solidFill>
                <a:srgbClr val="176DE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227957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30EBFA-6DED-24E7-4F28-16AFAD62F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5398466-2488-34B6-9C22-FAFE462D428A}"/>
              </a:ext>
            </a:extLst>
          </p:cNvPr>
          <p:cNvSpPr/>
          <p:nvPr/>
        </p:nvSpPr>
        <p:spPr bwMode="auto">
          <a:xfrm>
            <a:off x="1" y="-8685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140C63-99DB-1772-D676-E3195839E247}"/>
              </a:ext>
            </a:extLst>
          </p:cNvPr>
          <p:cNvSpPr txBox="1"/>
          <p:nvPr/>
        </p:nvSpPr>
        <p:spPr>
          <a:xfrm>
            <a:off x="1518555" y="629935"/>
            <a:ext cx="9307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176DEA"/>
                </a:solidFill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Влияние архитектуры на топливную экономичность</a:t>
            </a:r>
            <a:endParaRPr lang="ru-RU" sz="2800" b="1" dirty="0">
              <a:solidFill>
                <a:srgbClr val="176DEA"/>
              </a:solidFill>
              <a:effectLst/>
              <a:latin typeface="ALS Sector Regular" panose="02000000000000000000" pitchFamily="2" charset="0"/>
              <a:ea typeface="Calibri" panose="020F0502020204030204" pitchFamily="34" charset="0"/>
              <a:cs typeface="ALS Sector Regular" panose="02000000000000000000" pitchFamily="2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46949F3-6F23-40C6-C853-A63AD43D6BB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21" name="Номер слайда 2">
            <a:extLst>
              <a:ext uri="{FF2B5EF4-FFF2-40B4-BE49-F238E27FC236}">
                <a16:creationId xmlns:a16="http://schemas.microsoft.com/office/drawing/2014/main" id="{931E26B7-BD86-FE7B-EF85-750195B94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16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3EDC899-0EE8-4CFE-0089-6389AB0DEB96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багетная рамка 12">
            <a:extLst>
              <a:ext uri="{FF2B5EF4-FFF2-40B4-BE49-F238E27FC236}">
                <a16:creationId xmlns:a16="http://schemas.microsoft.com/office/drawing/2014/main" id="{6B30B612-F7B1-85F3-1E4B-54F74210BF9D}"/>
              </a:ext>
            </a:extLst>
          </p:cNvPr>
          <p:cNvSpPr/>
          <p:nvPr/>
        </p:nvSpPr>
        <p:spPr>
          <a:xfrm>
            <a:off x="1518554" y="437669"/>
            <a:ext cx="9307285" cy="954107"/>
          </a:xfrm>
          <a:prstGeom prst="bevel">
            <a:avLst/>
          </a:prstGeom>
          <a:noFill/>
          <a:ln w="12700">
            <a:solidFill>
              <a:srgbClr val="176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C1F804-9C5C-EE4D-78DA-2332F1123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093" y="1615231"/>
            <a:ext cx="10188785" cy="235902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4F5B168-6612-F305-7175-5CD15DE50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662" y="4060722"/>
            <a:ext cx="10162826" cy="22848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167737-A909-BC45-A20F-F5B786E94D90}"/>
              </a:ext>
            </a:extLst>
          </p:cNvPr>
          <p:cNvSpPr txBox="1"/>
          <p:nvPr/>
        </p:nvSpPr>
        <p:spPr>
          <a:xfrm>
            <a:off x="-283244" y="2489961"/>
            <a:ext cx="1801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ALS Sector Regular" panose="02000000000000000000" pitchFamily="2" charset="0"/>
                <a:cs typeface="ALS Sector Regular" panose="02000000000000000000" pitchFamily="2" charset="0"/>
              </a:rPr>
              <a:t>Город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1E5159-58BE-40E5-4644-CBD15F0C79B4}"/>
              </a:ext>
            </a:extLst>
          </p:cNvPr>
          <p:cNvSpPr txBox="1"/>
          <p:nvPr/>
        </p:nvSpPr>
        <p:spPr>
          <a:xfrm>
            <a:off x="-283244" y="4811652"/>
            <a:ext cx="1801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ALS Sector Regular" panose="02000000000000000000" pitchFamily="2" charset="0"/>
                <a:cs typeface="ALS Sector Regular" panose="02000000000000000000" pitchFamily="2" charset="0"/>
              </a:rPr>
              <a:t>Шоссе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81DC14-8AD3-AE1C-D22C-5CB3606CD321}"/>
              </a:ext>
            </a:extLst>
          </p:cNvPr>
          <p:cNvSpPr txBox="1"/>
          <p:nvPr/>
        </p:nvSpPr>
        <p:spPr>
          <a:xfrm>
            <a:off x="2362199" y="6349007"/>
            <a:ext cx="82418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rgbClr val="176DEA"/>
                </a:solidFill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Сравнение гибрида с аналогом на ДВС</a:t>
            </a:r>
            <a:endParaRPr lang="ru-RU" sz="1800" b="1" dirty="0">
              <a:solidFill>
                <a:srgbClr val="176DEA"/>
              </a:solidFill>
              <a:effectLst/>
              <a:latin typeface="ALS Sector Regular" panose="02000000000000000000" pitchFamily="2" charset="0"/>
              <a:ea typeface="Calibri" panose="020F0502020204030204" pitchFamily="34" charset="0"/>
              <a:cs typeface="ALS Sector Regular" panose="02000000000000000000" pitchFamily="2" charset="0"/>
            </a:endParaRPr>
          </a:p>
        </p:txBody>
      </p:sp>
      <p:pic>
        <p:nvPicPr>
          <p:cNvPr id="26" name="Рисунок 25" descr="Изображение выглядит как снимок экрана, График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EE0113-4786-4A10-489B-1B1292E6C6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9280" y="1615231"/>
            <a:ext cx="9253440" cy="2458115"/>
          </a:xfrm>
          <a:prstGeom prst="rect">
            <a:avLst/>
          </a:prstGeom>
        </p:spPr>
      </p:pic>
      <p:pic>
        <p:nvPicPr>
          <p:cNvPr id="28" name="Рисунок 27" descr="Изображение выглядит как снимок экрана, текст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AF96AE-B731-DC65-4795-B4C8629049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280" y="3921510"/>
            <a:ext cx="9253440" cy="241203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AB884B6-88B8-F091-A16A-CC52BD7950EE}"/>
              </a:ext>
            </a:extLst>
          </p:cNvPr>
          <p:cNvSpPr txBox="1"/>
          <p:nvPr/>
        </p:nvSpPr>
        <p:spPr>
          <a:xfrm>
            <a:off x="2480889" y="6338718"/>
            <a:ext cx="82418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rgbClr val="176DEA"/>
                </a:solidFill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Сравнение коэффициента эффективности архитектур между собой</a:t>
            </a:r>
            <a:endParaRPr lang="ru-RU" sz="1800" b="1" dirty="0">
              <a:solidFill>
                <a:srgbClr val="176DEA"/>
              </a:solidFill>
              <a:effectLst/>
              <a:latin typeface="ALS Sector Regular" panose="02000000000000000000" pitchFamily="2" charset="0"/>
              <a:ea typeface="Calibri" panose="020F0502020204030204" pitchFamily="34" charset="0"/>
              <a:cs typeface="ALS Sector Regular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46839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502D0F-21BD-CDDD-2A89-395339AD3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6FA5E97-C687-BEF5-9DF8-D8E83C01C6A5}"/>
              </a:ext>
            </a:extLst>
          </p:cNvPr>
          <p:cNvSpPr/>
          <p:nvPr/>
        </p:nvSpPr>
        <p:spPr bwMode="auto">
          <a:xfrm>
            <a:off x="1" y="-8685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22104F-F1BB-2536-FE08-63EA53DA2B31}"/>
              </a:ext>
            </a:extLst>
          </p:cNvPr>
          <p:cNvSpPr txBox="1"/>
          <p:nvPr/>
        </p:nvSpPr>
        <p:spPr>
          <a:xfrm>
            <a:off x="1905000" y="494086"/>
            <a:ext cx="85343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rgbClr val="176DEA"/>
                </a:solidFill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Связь эффективности и динамики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A552F71-DD21-24F2-3D03-4FF09BE9922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21" name="Номер слайда 2">
            <a:extLst>
              <a:ext uri="{FF2B5EF4-FFF2-40B4-BE49-F238E27FC236}">
                <a16:creationId xmlns:a16="http://schemas.microsoft.com/office/drawing/2014/main" id="{76A8044C-3B52-AE12-CE78-C9FC66CA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17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1369128-4F05-54D9-2B8B-D5E0666CD4B5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багетная рамка 12">
            <a:extLst>
              <a:ext uri="{FF2B5EF4-FFF2-40B4-BE49-F238E27FC236}">
                <a16:creationId xmlns:a16="http://schemas.microsoft.com/office/drawing/2014/main" id="{B27C37D0-3C37-5988-3C50-07990058FBA8}"/>
              </a:ext>
            </a:extLst>
          </p:cNvPr>
          <p:cNvSpPr/>
          <p:nvPr/>
        </p:nvSpPr>
        <p:spPr>
          <a:xfrm>
            <a:off x="1992086" y="476984"/>
            <a:ext cx="8294914" cy="559870"/>
          </a:xfrm>
          <a:prstGeom prst="bevel">
            <a:avLst/>
          </a:prstGeom>
          <a:noFill/>
          <a:ln w="12700">
            <a:solidFill>
              <a:srgbClr val="176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 descr="Изображение выглядит как текст, снимок экрана, График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D4E69CD-EF07-7EF8-7974-5F865E998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458" y="1915979"/>
            <a:ext cx="8263484" cy="475928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BCB23CE-AB5D-C711-2579-2469DF7EBCD9}"/>
              </a:ext>
            </a:extLst>
          </p:cNvPr>
          <p:cNvSpPr txBox="1"/>
          <p:nvPr/>
        </p:nvSpPr>
        <p:spPr>
          <a:xfrm>
            <a:off x="8577942" y="1743249"/>
            <a:ext cx="37386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76DEA"/>
                </a:solidFill>
                <a:effectLst/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HSD – </a:t>
            </a:r>
            <a:r>
              <a:rPr lang="ru-RU" b="1" dirty="0">
                <a:solidFill>
                  <a:srgbClr val="176DEA"/>
                </a:solidFill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 высокая экономия со средней динамикой</a:t>
            </a:r>
          </a:p>
          <a:p>
            <a:r>
              <a:rPr lang="en-US" b="1" dirty="0">
                <a:solidFill>
                  <a:srgbClr val="176DEA"/>
                </a:solidFill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Inline – </a:t>
            </a:r>
            <a:r>
              <a:rPr lang="ru-RU" b="1" dirty="0">
                <a:solidFill>
                  <a:srgbClr val="176DEA"/>
                </a:solidFill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обходит </a:t>
            </a:r>
            <a:r>
              <a:rPr lang="en-US" b="1" dirty="0">
                <a:solidFill>
                  <a:srgbClr val="176DEA"/>
                </a:solidFill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HSD </a:t>
            </a:r>
            <a:r>
              <a:rPr lang="ru-RU" b="1" dirty="0">
                <a:solidFill>
                  <a:srgbClr val="176DEA"/>
                </a:solidFill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на шоссе</a:t>
            </a:r>
          </a:p>
          <a:p>
            <a:r>
              <a:rPr lang="en-US" b="1" dirty="0">
                <a:solidFill>
                  <a:srgbClr val="176DEA"/>
                </a:solidFill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MM-Series </a:t>
            </a:r>
            <a:r>
              <a:rPr lang="ru-RU" b="1" dirty="0">
                <a:solidFill>
                  <a:srgbClr val="176DEA"/>
                </a:solidFill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– все зависит от трансмиссии</a:t>
            </a:r>
          </a:p>
          <a:p>
            <a:r>
              <a:rPr lang="en-US" b="1" dirty="0">
                <a:solidFill>
                  <a:srgbClr val="176DEA"/>
                </a:solidFill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MHEV – </a:t>
            </a:r>
            <a:r>
              <a:rPr lang="ru-RU" b="1" dirty="0">
                <a:solidFill>
                  <a:srgbClr val="176DEA"/>
                </a:solidFill>
                <a:latin typeface="ALS Sector Regular" panose="02000000000000000000" pitchFamily="2" charset="0"/>
                <a:ea typeface="Calibri" panose="020F0502020204030204" pitchFamily="34" charset="0"/>
                <a:cs typeface="ALS Sector Regular" panose="02000000000000000000" pitchFamily="2" charset="0"/>
              </a:rPr>
              <a:t>эффективность наименьшая, динамика средняя</a:t>
            </a:r>
          </a:p>
        </p:txBody>
      </p:sp>
    </p:spTree>
    <p:extLst>
      <p:ext uri="{BB962C8B-B14F-4D97-AF65-F5344CB8AC3E}">
        <p14:creationId xmlns:p14="http://schemas.microsoft.com/office/powerpoint/2010/main" val="4148609050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3C78A-2302-C2CF-E4D5-9FF4D31BA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AA40F56-BC36-CF86-6597-1A6B82CFA670}"/>
              </a:ext>
            </a:extLst>
          </p:cNvPr>
          <p:cNvSpPr/>
          <p:nvPr/>
        </p:nvSpPr>
        <p:spPr>
          <a:xfrm>
            <a:off x="2" y="1"/>
            <a:ext cx="2498582" cy="6858000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50A4614F-4C01-5355-2783-2266EEFD73CD}"/>
              </a:ext>
            </a:extLst>
          </p:cNvPr>
          <p:cNvSpPr txBox="1">
            <a:spLocks/>
          </p:cNvSpPr>
          <p:nvPr/>
        </p:nvSpPr>
        <p:spPr>
          <a:xfrm>
            <a:off x="2611686" y="92627"/>
            <a:ext cx="9516916" cy="66103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endParaRPr lang="ru-RU" sz="1600" dirty="0">
              <a:solidFill>
                <a:srgbClr val="434343"/>
              </a:solidFill>
              <a:latin typeface="ALS Sector Regular" pitchFamily="2" charset="0"/>
              <a:cs typeface="ALS Sector Regular" pitchFamily="2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76DEA"/>
                </a:solidFill>
                <a:latin typeface="ALS Sector Regular" panose="02000000000000000000" pitchFamily="2" charset="0"/>
                <a:cs typeface="ALS Sector Regular" panose="02000000000000000000" pitchFamily="2" charset="0"/>
              </a:rPr>
              <a:t>В результате выполнения научно-исследовательской работы были проанализированы типы гибридов и их архитектуры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b="1" dirty="0">
              <a:solidFill>
                <a:srgbClr val="176DEA"/>
              </a:solidFill>
              <a:latin typeface="ALS Sector Regular" panose="02000000000000000000" pitchFamily="2" charset="0"/>
              <a:cs typeface="ALS Sector Regular" panose="02000000000000000000" pitchFamily="2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76DEA"/>
                </a:solidFill>
                <a:latin typeface="ALS Sector Regular" panose="02000000000000000000" pitchFamily="2" charset="0"/>
                <a:cs typeface="ALS Sector Regular" panose="02000000000000000000" pitchFamily="2" charset="0"/>
              </a:rPr>
              <a:t>Был произведен объективный сравнительный анализ архитектур между собой, были найдены их относительные преимущества и недостатки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b="1" dirty="0">
              <a:solidFill>
                <a:srgbClr val="176DEA"/>
              </a:solidFill>
              <a:latin typeface="ALS Sector Regular" panose="02000000000000000000" pitchFamily="2" charset="0"/>
              <a:cs typeface="ALS Sector Regular" panose="02000000000000000000" pitchFamily="2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76DEA"/>
                </a:solidFill>
                <a:latin typeface="ALS Sector Regular" panose="02000000000000000000" pitchFamily="2" charset="0"/>
                <a:cs typeface="ALS Sector Regular" panose="02000000000000000000" pitchFamily="2" charset="0"/>
              </a:rPr>
              <a:t>И по итогу, были определены оптимальные режимы работы для каждой архитектуры</a:t>
            </a:r>
          </a:p>
        </p:txBody>
      </p:sp>
      <p:sp>
        <p:nvSpPr>
          <p:cNvPr id="5" name="Google Shape;69;p3">
            <a:extLst>
              <a:ext uri="{FF2B5EF4-FFF2-40B4-BE49-F238E27FC236}">
                <a16:creationId xmlns:a16="http://schemas.microsoft.com/office/drawing/2014/main" id="{D71EB9EA-F355-FFB9-3E83-5C09D1664D0C}"/>
              </a:ext>
            </a:extLst>
          </p:cNvPr>
          <p:cNvSpPr txBox="1"/>
          <p:nvPr/>
        </p:nvSpPr>
        <p:spPr>
          <a:xfrm>
            <a:off x="709610" y="424805"/>
            <a:ext cx="2178793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2800" b="1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Итоги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DB901E-7732-1EBD-A92F-27CC8128DCD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BF27AAE3-6E44-C915-12AB-F014BB4D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18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274A48E-EB5E-D181-4143-D79BE3563BF3}"/>
              </a:ext>
            </a:extLst>
          </p:cNvPr>
          <p:cNvCxnSpPr>
            <a:cxnSpLocks/>
          </p:cNvCxnSpPr>
          <p:nvPr/>
        </p:nvCxnSpPr>
        <p:spPr>
          <a:xfrm>
            <a:off x="2498584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: багетная рамка 7">
            <a:extLst>
              <a:ext uri="{FF2B5EF4-FFF2-40B4-BE49-F238E27FC236}">
                <a16:creationId xmlns:a16="http://schemas.microsoft.com/office/drawing/2014/main" id="{BCBD17AC-A94B-97A2-7557-B2B827ED9CE5}"/>
              </a:ext>
            </a:extLst>
          </p:cNvPr>
          <p:cNvSpPr/>
          <p:nvPr/>
        </p:nvSpPr>
        <p:spPr>
          <a:xfrm>
            <a:off x="525780" y="392630"/>
            <a:ext cx="1310640" cy="559870"/>
          </a:xfrm>
          <a:prstGeom prst="bevel">
            <a:avLst/>
          </a:prstGeom>
          <a:noFill/>
          <a:ln w="12700">
            <a:solidFill>
              <a:srgbClr val="176D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111537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4FB85EC-22E5-F140-9E45-1A18C489A553}"/>
              </a:ext>
            </a:extLst>
          </p:cNvPr>
          <p:cNvSpPr txBox="1">
            <a:spLocks/>
          </p:cNvSpPr>
          <p:nvPr/>
        </p:nvSpPr>
        <p:spPr>
          <a:xfrm>
            <a:off x="463436" y="2792052"/>
            <a:ext cx="11211339" cy="11304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+mj-ea"/>
                <a:cs typeface="ALS Sector Regular" pitchFamily="2" charset="0"/>
              </a:rPr>
              <a:t>Спасибо!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EFC608A-8B46-915C-D81E-B27E545DC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19</a:t>
            </a:fld>
            <a:endParaRPr lang="ru-RU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602165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26743</TotalTime>
  <Words>418</Words>
  <Application>Microsoft Office PowerPoint</Application>
  <PresentationFormat>Широкоэкранный</PresentationFormat>
  <Paragraphs>122</Paragraphs>
  <Slides>19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Wingdings</vt:lpstr>
      <vt:lpstr>ALS Sector Regular</vt:lpstr>
      <vt:lpstr>Calibri Light</vt:lpstr>
      <vt:lpstr>Calibri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МГТУ им. Н.Э. Баумана</dc:title>
  <dc:subject/>
  <dc:creator>Katya Selivanova</dc:creator>
  <cp:keywords/>
  <dc:description/>
  <cp:lastModifiedBy>Tamashny Sag</cp:lastModifiedBy>
  <cp:revision>699</cp:revision>
  <dcterms:created xsi:type="dcterms:W3CDTF">2022-04-18T20:35:07Z</dcterms:created>
  <dcterms:modified xsi:type="dcterms:W3CDTF">2025-12-30T12:35:58Z</dcterms:modified>
  <cp:category/>
</cp:coreProperties>
</file>